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ariofrank.net/paper/touchalytics.pdf" TargetMode="External"/><Relationship Id="rId3" Type="http://schemas.openxmlformats.org/officeDocument/2006/relationships/hyperlink" Target="http://www.mariofrank.net/touchalytics/" TargetMode="External"/><Relationship Id="rId4" Type="http://schemas.openxmlformats.org/officeDocument/2006/relationships/hyperlink" Target="http://www.mariofrank.net/touchalytics/data.zip" TargetMode="External"/><Relationship Id="rId5" Type="http://schemas.openxmlformats.org/officeDocument/2006/relationships/hyperlink" Target="http://www.mariofrank.net/touchalytics/readme_data.txt" TargetMode="External"/><Relationship Id="rId6" Type="http://schemas.openxmlformats.org/officeDocument/2006/relationships/hyperlink" Target="http://www.mariofrank.net/touchalytics/features.zip" TargetMode="External"/><Relationship Id="rId7" Type="http://schemas.openxmlformats.org/officeDocument/2006/relationships/hyperlink" Target="http://www.mariofrank.net/touchalytics/readme_features.txt" TargetMode="External"/><Relationship Id="rId8" Type="http://schemas.openxmlformats.org/officeDocument/2006/relationships/hyperlink" Target="http://www.mariofrank.net/touchalytics/extractFeatures.m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edureka.co/blog/knn-algorithm-in-r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edureka.co/blog/support-vector-machine-in-python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ariofrank.net/touchalytics/features.zip" TargetMode="External"/><Relationship Id="rId3" Type="http://schemas.openxmlformats.org/officeDocument/2006/relationships/image" Target="../media/image1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494601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5">
                <a:solidFill>
                  <a:srgbClr val="FFFFFF"/>
                </a:solidFill>
              </a:rPr>
              <a:t>ISA </a:t>
            </a:r>
            <a:r>
              <a:rPr dirty="0" spc="-180">
                <a:solidFill>
                  <a:srgbClr val="FFFFFF"/>
                </a:solidFill>
              </a:rPr>
              <a:t>419: </a:t>
            </a:r>
            <a:r>
              <a:rPr dirty="0" spc="-220">
                <a:solidFill>
                  <a:srgbClr val="FFFFFF"/>
                </a:solidFill>
              </a:rPr>
              <a:t>Data-Driven</a:t>
            </a:r>
            <a:r>
              <a:rPr dirty="0" spc="-575">
                <a:solidFill>
                  <a:srgbClr val="FFFFFF"/>
                </a:solidFill>
              </a:rPr>
              <a:t> </a:t>
            </a:r>
            <a:r>
              <a:rPr dirty="0" spc="-180">
                <a:solidFill>
                  <a:srgbClr val="FFFFFF"/>
                </a:solidFill>
              </a:rPr>
              <a:t>Security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21: 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Touchalytics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Lab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286"/>
            <a:ext cx="228599" cy="223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Learning </a:t>
            </a:r>
            <a:r>
              <a:rPr dirty="0" spc="-204"/>
              <a:t>Objectives </a:t>
            </a:r>
            <a:r>
              <a:rPr dirty="0" spc="-185"/>
              <a:t>for </a:t>
            </a:r>
            <a:r>
              <a:rPr dirty="0" spc="-135"/>
              <a:t>Today's</a:t>
            </a:r>
            <a:r>
              <a:rPr dirty="0" spc="-49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19975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Examine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Android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Phone's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touch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feature</a:t>
            </a:r>
            <a:r>
              <a:rPr dirty="0" sz="1800" spc="-9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Replicate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analysis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performed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InfoSec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research</a:t>
            </a:r>
            <a:r>
              <a:rPr dirty="0" sz="1800" spc="-2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paper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Report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code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results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understandable manner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general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audience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2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384" y="2752344"/>
            <a:ext cx="8427720" cy="1049020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150"/>
              </a:spcBef>
            </a:pPr>
            <a:r>
              <a:rPr dirty="0" sz="4100" spc="-1240">
                <a:solidFill>
                  <a:srgbClr val="000000"/>
                </a:solidFill>
              </a:rPr>
              <a:t>A</a:t>
            </a:r>
            <a:r>
              <a:rPr dirty="0" sz="4100" spc="-1240">
                <a:solidFill>
                  <a:srgbClr val="FFFFFF"/>
                </a:solidFill>
              </a:rPr>
              <a:t>A</a:t>
            </a:r>
            <a:r>
              <a:rPr dirty="0" sz="4100" spc="-1240">
                <a:solidFill>
                  <a:srgbClr val="000000"/>
                </a:solidFill>
              </a:rPr>
              <a:t>n</a:t>
            </a:r>
            <a:r>
              <a:rPr dirty="0" sz="4100" spc="-1240">
                <a:solidFill>
                  <a:srgbClr val="FFFFFF"/>
                </a:solidFill>
              </a:rPr>
              <a:t>n</a:t>
            </a:r>
            <a:r>
              <a:rPr dirty="0" sz="4100" spc="-260">
                <a:solidFill>
                  <a:srgbClr val="FFFFFF"/>
                </a:solidFill>
              </a:rPr>
              <a:t> </a:t>
            </a:r>
            <a:r>
              <a:rPr dirty="0" sz="4100" spc="-1215">
                <a:solidFill>
                  <a:srgbClr val="000000"/>
                </a:solidFill>
              </a:rPr>
              <a:t>O</a:t>
            </a:r>
            <a:r>
              <a:rPr dirty="0" sz="4100" spc="-1215">
                <a:solidFill>
                  <a:srgbClr val="FFFFFF"/>
                </a:solidFill>
              </a:rPr>
              <a:t>O</a:t>
            </a:r>
            <a:r>
              <a:rPr dirty="0" sz="4100" spc="-1215">
                <a:solidFill>
                  <a:srgbClr val="000000"/>
                </a:solidFill>
              </a:rPr>
              <a:t>v</a:t>
            </a:r>
            <a:r>
              <a:rPr dirty="0" sz="4100" spc="-1215">
                <a:solidFill>
                  <a:srgbClr val="FFFFFF"/>
                </a:solidFill>
              </a:rPr>
              <a:t>v</a:t>
            </a:r>
            <a:r>
              <a:rPr dirty="0" sz="4100" spc="-1215">
                <a:solidFill>
                  <a:srgbClr val="000000"/>
                </a:solidFill>
              </a:rPr>
              <a:t>e</a:t>
            </a:r>
            <a:r>
              <a:rPr dirty="0" sz="4100" spc="-1215">
                <a:solidFill>
                  <a:srgbClr val="FFFFFF"/>
                </a:solidFill>
              </a:rPr>
              <a:t>e</a:t>
            </a:r>
            <a:r>
              <a:rPr dirty="0" sz="4100" spc="-1215">
                <a:solidFill>
                  <a:srgbClr val="000000"/>
                </a:solidFill>
              </a:rPr>
              <a:t>r</a:t>
            </a:r>
            <a:r>
              <a:rPr dirty="0" sz="4100" spc="-1215">
                <a:solidFill>
                  <a:srgbClr val="FFFFFF"/>
                </a:solidFill>
              </a:rPr>
              <a:t>r</a:t>
            </a:r>
            <a:r>
              <a:rPr dirty="0" sz="4100" spc="-1215">
                <a:solidFill>
                  <a:srgbClr val="000000"/>
                </a:solidFill>
              </a:rPr>
              <a:t>v</a:t>
            </a:r>
            <a:r>
              <a:rPr dirty="0" sz="4100" spc="-1215">
                <a:solidFill>
                  <a:srgbClr val="FFFFFF"/>
                </a:solidFill>
              </a:rPr>
              <a:t>v</a:t>
            </a:r>
            <a:r>
              <a:rPr dirty="0" sz="4100" spc="-1215">
                <a:solidFill>
                  <a:srgbClr val="000000"/>
                </a:solidFill>
              </a:rPr>
              <a:t>i</a:t>
            </a:r>
            <a:r>
              <a:rPr dirty="0" sz="4100" spc="-1215">
                <a:solidFill>
                  <a:srgbClr val="FFFFFF"/>
                </a:solidFill>
              </a:rPr>
              <a:t>i</a:t>
            </a:r>
            <a:r>
              <a:rPr dirty="0" sz="4100" spc="-1215">
                <a:solidFill>
                  <a:srgbClr val="000000"/>
                </a:solidFill>
              </a:rPr>
              <a:t>e</a:t>
            </a:r>
            <a:r>
              <a:rPr dirty="0" sz="4100" spc="-1215">
                <a:solidFill>
                  <a:srgbClr val="FFFFFF"/>
                </a:solidFill>
              </a:rPr>
              <a:t>e</a:t>
            </a:r>
            <a:r>
              <a:rPr dirty="0" sz="4100" spc="-1215">
                <a:solidFill>
                  <a:srgbClr val="000000"/>
                </a:solidFill>
              </a:rPr>
              <a:t>w</a:t>
            </a:r>
            <a:r>
              <a:rPr dirty="0" sz="4100" spc="-1215">
                <a:solidFill>
                  <a:srgbClr val="FFFFFF"/>
                </a:solidFill>
              </a:rPr>
              <a:t>w </a:t>
            </a:r>
            <a:r>
              <a:rPr dirty="0" sz="4100" spc="-1019">
                <a:solidFill>
                  <a:srgbClr val="000000"/>
                </a:solidFill>
              </a:rPr>
              <a:t>o</a:t>
            </a:r>
            <a:r>
              <a:rPr dirty="0" sz="4100" spc="-1019">
                <a:solidFill>
                  <a:srgbClr val="FFFFFF"/>
                </a:solidFill>
              </a:rPr>
              <a:t>o</a:t>
            </a:r>
            <a:r>
              <a:rPr dirty="0" sz="4100" spc="-1019">
                <a:solidFill>
                  <a:srgbClr val="000000"/>
                </a:solidFill>
              </a:rPr>
              <a:t>f</a:t>
            </a:r>
            <a:r>
              <a:rPr dirty="0" sz="4100" spc="-1019">
                <a:solidFill>
                  <a:srgbClr val="FFFFFF"/>
                </a:solidFill>
              </a:rPr>
              <a:t>f </a:t>
            </a:r>
            <a:r>
              <a:rPr dirty="0" sz="4100" spc="-1180">
                <a:solidFill>
                  <a:srgbClr val="000000"/>
                </a:solidFill>
              </a:rPr>
              <a:t>t</a:t>
            </a:r>
            <a:r>
              <a:rPr dirty="0" sz="4100" spc="-1180">
                <a:solidFill>
                  <a:srgbClr val="FFFFFF"/>
                </a:solidFill>
              </a:rPr>
              <a:t>t</a:t>
            </a:r>
            <a:r>
              <a:rPr dirty="0" sz="4100" spc="-1180">
                <a:solidFill>
                  <a:srgbClr val="000000"/>
                </a:solidFill>
              </a:rPr>
              <a:t>h</a:t>
            </a:r>
            <a:r>
              <a:rPr dirty="0" sz="4100" spc="-1180">
                <a:solidFill>
                  <a:srgbClr val="FFFFFF"/>
                </a:solidFill>
              </a:rPr>
              <a:t>h</a:t>
            </a:r>
            <a:r>
              <a:rPr dirty="0" sz="4100" spc="-1180">
                <a:solidFill>
                  <a:srgbClr val="000000"/>
                </a:solidFill>
              </a:rPr>
              <a:t>e</a:t>
            </a:r>
            <a:r>
              <a:rPr dirty="0" sz="4100" spc="-1180">
                <a:solidFill>
                  <a:srgbClr val="FFFFFF"/>
                </a:solidFill>
              </a:rPr>
              <a:t>e </a:t>
            </a:r>
            <a:r>
              <a:rPr dirty="0" sz="4100" spc="-1065">
                <a:solidFill>
                  <a:srgbClr val="000000"/>
                </a:solidFill>
              </a:rPr>
              <a:t>T</a:t>
            </a:r>
            <a:r>
              <a:rPr dirty="0" sz="4100" spc="-1065">
                <a:solidFill>
                  <a:srgbClr val="FFFFFF"/>
                </a:solidFill>
              </a:rPr>
              <a:t>T</a:t>
            </a:r>
            <a:r>
              <a:rPr dirty="0" sz="4100" spc="-1065">
                <a:solidFill>
                  <a:srgbClr val="000000"/>
                </a:solidFill>
              </a:rPr>
              <a:t>o</a:t>
            </a:r>
            <a:r>
              <a:rPr dirty="0" sz="4100" spc="-1065">
                <a:solidFill>
                  <a:srgbClr val="FFFFFF"/>
                </a:solidFill>
              </a:rPr>
              <a:t>o</a:t>
            </a:r>
            <a:r>
              <a:rPr dirty="0" sz="4100" spc="-1065">
                <a:solidFill>
                  <a:srgbClr val="000000"/>
                </a:solidFill>
              </a:rPr>
              <a:t>u</a:t>
            </a:r>
            <a:r>
              <a:rPr dirty="0" sz="4100" spc="-1065">
                <a:solidFill>
                  <a:srgbClr val="FFFFFF"/>
                </a:solidFill>
              </a:rPr>
              <a:t>u</a:t>
            </a:r>
            <a:r>
              <a:rPr dirty="0" sz="4100" spc="-1065">
                <a:solidFill>
                  <a:srgbClr val="000000"/>
                </a:solidFill>
              </a:rPr>
              <a:t>c</a:t>
            </a:r>
            <a:r>
              <a:rPr dirty="0" sz="4100" spc="-1065">
                <a:solidFill>
                  <a:srgbClr val="FFFFFF"/>
                </a:solidFill>
              </a:rPr>
              <a:t>c</a:t>
            </a:r>
            <a:r>
              <a:rPr dirty="0" sz="4100" spc="-1065">
                <a:solidFill>
                  <a:srgbClr val="000000"/>
                </a:solidFill>
              </a:rPr>
              <a:t>h</a:t>
            </a:r>
            <a:r>
              <a:rPr dirty="0" sz="4100" spc="-1065">
                <a:solidFill>
                  <a:srgbClr val="FFFFFF"/>
                </a:solidFill>
              </a:rPr>
              <a:t>h</a:t>
            </a:r>
            <a:r>
              <a:rPr dirty="0" sz="4100" spc="-1065">
                <a:solidFill>
                  <a:srgbClr val="000000"/>
                </a:solidFill>
              </a:rPr>
              <a:t>a</a:t>
            </a:r>
            <a:r>
              <a:rPr dirty="0" sz="4100" spc="-1065">
                <a:solidFill>
                  <a:srgbClr val="FFFFFF"/>
                </a:solidFill>
              </a:rPr>
              <a:t>a</a:t>
            </a:r>
            <a:r>
              <a:rPr dirty="0" sz="4100" spc="-1065">
                <a:solidFill>
                  <a:srgbClr val="000000"/>
                </a:solidFill>
              </a:rPr>
              <a:t>l</a:t>
            </a:r>
            <a:r>
              <a:rPr dirty="0" sz="4100" spc="-1065">
                <a:solidFill>
                  <a:srgbClr val="FFFFFF"/>
                </a:solidFill>
              </a:rPr>
              <a:t>l</a:t>
            </a:r>
            <a:r>
              <a:rPr dirty="0" sz="4100" spc="-1065">
                <a:solidFill>
                  <a:srgbClr val="000000"/>
                </a:solidFill>
              </a:rPr>
              <a:t>y</a:t>
            </a:r>
            <a:r>
              <a:rPr dirty="0" sz="4100" spc="-1065">
                <a:solidFill>
                  <a:srgbClr val="FFFFFF"/>
                </a:solidFill>
              </a:rPr>
              <a:t>y</a:t>
            </a:r>
            <a:r>
              <a:rPr dirty="0" sz="4100" spc="-1065">
                <a:solidFill>
                  <a:srgbClr val="000000"/>
                </a:solidFill>
              </a:rPr>
              <a:t>t</a:t>
            </a:r>
            <a:r>
              <a:rPr dirty="0" sz="4100" spc="-1065">
                <a:solidFill>
                  <a:srgbClr val="FFFFFF"/>
                </a:solidFill>
              </a:rPr>
              <a:t>t</a:t>
            </a:r>
            <a:r>
              <a:rPr dirty="0" sz="4100" spc="-1065">
                <a:solidFill>
                  <a:srgbClr val="000000"/>
                </a:solidFill>
              </a:rPr>
              <a:t>i</a:t>
            </a:r>
            <a:r>
              <a:rPr dirty="0" sz="4100" spc="-1065">
                <a:solidFill>
                  <a:srgbClr val="FFFFFF"/>
                </a:solidFill>
              </a:rPr>
              <a:t>i</a:t>
            </a:r>
            <a:r>
              <a:rPr dirty="0" sz="4100" spc="-1065">
                <a:solidFill>
                  <a:srgbClr val="000000"/>
                </a:solidFill>
              </a:rPr>
              <a:t>c</a:t>
            </a:r>
            <a:r>
              <a:rPr dirty="0" sz="4100" spc="-1065">
                <a:solidFill>
                  <a:srgbClr val="FFFFFF"/>
                </a:solidFill>
              </a:rPr>
              <a:t>c</a:t>
            </a:r>
            <a:r>
              <a:rPr dirty="0" sz="4100" spc="-1065">
                <a:solidFill>
                  <a:srgbClr val="000000"/>
                </a:solidFill>
              </a:rPr>
              <a:t>s</a:t>
            </a:r>
            <a:r>
              <a:rPr dirty="0" sz="4100" spc="-1065">
                <a:solidFill>
                  <a:srgbClr val="FFFFFF"/>
                </a:solidFill>
              </a:rPr>
              <a:t>s</a:t>
            </a:r>
            <a:r>
              <a:rPr dirty="0" sz="4100" spc="-1030">
                <a:solidFill>
                  <a:srgbClr val="FFFFFF"/>
                </a:solidFill>
              </a:rPr>
              <a:t> </a:t>
            </a:r>
            <a:r>
              <a:rPr dirty="0" sz="4100" spc="-1170">
                <a:solidFill>
                  <a:srgbClr val="000000"/>
                </a:solidFill>
              </a:rPr>
              <a:t>P</a:t>
            </a:r>
            <a:r>
              <a:rPr dirty="0" sz="4100" spc="-1170">
                <a:solidFill>
                  <a:srgbClr val="FFFFFF"/>
                </a:solidFill>
              </a:rPr>
              <a:t>P</a:t>
            </a:r>
            <a:r>
              <a:rPr dirty="0" sz="4100" spc="-1170">
                <a:solidFill>
                  <a:srgbClr val="000000"/>
                </a:solidFill>
              </a:rPr>
              <a:t>a</a:t>
            </a:r>
            <a:r>
              <a:rPr dirty="0" sz="4100" spc="-1170">
                <a:solidFill>
                  <a:srgbClr val="FFFFFF"/>
                </a:solidFill>
              </a:rPr>
              <a:t>a</a:t>
            </a:r>
            <a:r>
              <a:rPr dirty="0" sz="4100" spc="-1170">
                <a:solidFill>
                  <a:srgbClr val="000000"/>
                </a:solidFill>
              </a:rPr>
              <a:t>p</a:t>
            </a:r>
            <a:r>
              <a:rPr dirty="0" sz="4100" spc="-1170">
                <a:solidFill>
                  <a:srgbClr val="FFFFFF"/>
                </a:solidFill>
              </a:rPr>
              <a:t>p</a:t>
            </a:r>
            <a:r>
              <a:rPr dirty="0" sz="4100" spc="-1170">
                <a:solidFill>
                  <a:srgbClr val="000000"/>
                </a:solidFill>
              </a:rPr>
              <a:t>e</a:t>
            </a:r>
            <a:r>
              <a:rPr dirty="0" sz="4100" spc="-1170">
                <a:solidFill>
                  <a:srgbClr val="FFFFFF"/>
                </a:solidFill>
              </a:rPr>
              <a:t>e</a:t>
            </a:r>
            <a:r>
              <a:rPr dirty="0" sz="4100" spc="-1170">
                <a:solidFill>
                  <a:srgbClr val="000000"/>
                </a:solidFill>
              </a:rPr>
              <a:t>r</a:t>
            </a:r>
            <a:r>
              <a:rPr dirty="0" sz="4100" spc="-1170">
                <a:solidFill>
                  <a:srgbClr val="FFFFFF"/>
                </a:solidFill>
              </a:rPr>
              <a:t>r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3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dirty="0" sz="12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9592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5"/>
              <a:t>The </a:t>
            </a:r>
            <a:r>
              <a:rPr dirty="0" spc="-170"/>
              <a:t>Touchalytics</a:t>
            </a:r>
            <a:r>
              <a:rPr dirty="0" spc="-345"/>
              <a:t> </a:t>
            </a:r>
            <a:r>
              <a:rPr dirty="0" spc="-180"/>
              <a:t>Paper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06280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This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1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paper</a:t>
            </a:r>
            <a:r>
              <a:rPr dirty="0" sz="1800" spc="-9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seminal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papers,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smart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phone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touch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engineered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continuous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authentication.</a:t>
            </a:r>
            <a:r>
              <a:rPr dirty="0" sz="18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paper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has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over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1,000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citations,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provides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website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contains: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The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raw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-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data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(do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not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forget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examine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readme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file</a:t>
            </a:r>
            <a:r>
              <a:rPr dirty="0" sz="1800" spc="-45">
                <a:solidFill>
                  <a:srgbClr val="585D60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The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extracted </a:t>
            </a:r>
            <a:r>
              <a:rPr dirty="0" sz="1800" spc="-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features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(see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2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">
                <a:solidFill>
                  <a:srgbClr val="83D5D3"/>
                </a:solidFill>
                <a:latin typeface="Trebuchet MS"/>
                <a:cs typeface="Trebuchet MS"/>
                <a:hlinkClick r:id="rId7"/>
              </a:rPr>
              <a:t>readme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25">
                <a:solidFill>
                  <a:srgbClr val="83D5D3"/>
                </a:solidFill>
                <a:latin typeface="Trebuchet MS"/>
                <a:cs typeface="Trebuchet MS"/>
                <a:hlinkClick r:id="rId8"/>
              </a:rPr>
              <a:t>Matlab</a:t>
            </a:r>
            <a:r>
              <a:rPr dirty="0" sz="1800" spc="-390">
                <a:solidFill>
                  <a:srgbClr val="83D5D3"/>
                </a:solidFill>
                <a:latin typeface="Trebuchet MS"/>
                <a:cs typeface="Trebuchet MS"/>
                <a:hlinkClick r:id="rId8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8"/>
              </a:rPr>
              <a:t>Script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8"/>
              </a:rPr>
              <a:t>File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how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were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engineered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raw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65">
                <a:solidFill>
                  <a:srgbClr val="585D60"/>
                </a:solidFill>
                <a:latin typeface="Calibri"/>
                <a:cs typeface="Calibri"/>
              </a:rPr>
              <a:t>PDFs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published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work;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our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lab,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interested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Touchalytics</a:t>
            </a:r>
            <a:r>
              <a:rPr dirty="0" sz="1800" spc="-2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Paper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6868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0"/>
              <a:t>Paper's </a:t>
            </a:r>
            <a:r>
              <a:rPr dirty="0" spc="-165"/>
              <a:t>Motivation</a:t>
            </a:r>
            <a:r>
              <a:rPr dirty="0" spc="-400"/>
              <a:t> </a:t>
            </a:r>
            <a:r>
              <a:rPr dirty="0" spc="-290"/>
              <a:t>[1]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19895" cy="2128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There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limited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work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continuous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touchscreen</a:t>
            </a:r>
            <a:r>
              <a:rPr dirty="0" sz="1800" spc="-1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smart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phone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devices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typically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involves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"atomic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navigation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behavior",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which</a:t>
            </a:r>
            <a:r>
              <a:rPr dirty="0" sz="1800" spc="-1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consists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simple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short</a:t>
            </a:r>
            <a:r>
              <a:rPr dirty="0" sz="18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movements</a:t>
            </a:r>
            <a:endParaRPr sz="1800">
              <a:latin typeface="Calibri"/>
              <a:cs typeface="Calibri"/>
            </a:endParaRPr>
          </a:p>
          <a:p>
            <a:pPr marL="146050" marR="370205" indent="-133985">
              <a:lnSpc>
                <a:spcPct val="116300"/>
              </a:lnSpc>
              <a:spcBef>
                <a:spcPts val="86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possible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users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while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perform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basic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navigation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steps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touchscreen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device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without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any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dedicated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explicit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security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action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</a:t>
            </a:r>
            <a:r>
              <a:rPr dirty="0" sz="1800" spc="-1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requires 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attention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user?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6868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0"/>
              <a:t>Paper's </a:t>
            </a:r>
            <a:r>
              <a:rPr dirty="0" spc="-165"/>
              <a:t>Motivation</a:t>
            </a:r>
            <a:r>
              <a:rPr dirty="0" spc="-400"/>
              <a:t> </a:t>
            </a:r>
            <a:r>
              <a:rPr dirty="0" spc="-290"/>
              <a:t>[2]</a:t>
            </a:r>
          </a:p>
        </p:txBody>
      </p:sp>
      <p:sp>
        <p:nvSpPr>
          <p:cNvPr id="3" name="object 3"/>
          <p:cNvSpPr/>
          <p:nvPr/>
        </p:nvSpPr>
        <p:spPr>
          <a:xfrm>
            <a:off x="3095624" y="1428750"/>
            <a:ext cx="5333999" cy="4152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27931" y="5740399"/>
            <a:ext cx="9069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Strokes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eight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users,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each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reading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three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texts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Android</a:t>
            </a:r>
            <a:r>
              <a:rPr dirty="0" sz="1800" spc="-1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Phone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4772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0"/>
              <a:t>Paper's </a:t>
            </a:r>
            <a:r>
              <a:rPr dirty="0" spc="-240"/>
              <a:t>General</a:t>
            </a:r>
            <a:r>
              <a:rPr dirty="0" spc="-409"/>
              <a:t> </a:t>
            </a:r>
            <a:r>
              <a:rPr dirty="0" spc="-17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28505" cy="3871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There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two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phases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classifying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touch</a:t>
            </a:r>
            <a:r>
              <a:rPr dirty="0" sz="1800" spc="-2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behavior.</a:t>
            </a:r>
            <a:endParaRPr sz="1800">
              <a:latin typeface="Calibri"/>
              <a:cs typeface="Calibri"/>
            </a:endParaRPr>
          </a:p>
          <a:p>
            <a:pPr marL="393065" marR="83820" indent="-133985">
              <a:lnSpc>
                <a:spcPct val="118100"/>
              </a:lnSpc>
              <a:spcBef>
                <a:spcPts val="1800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65" b="1">
                <a:solidFill>
                  <a:srgbClr val="C2132D"/>
                </a:solidFill>
                <a:latin typeface="Cambria"/>
                <a:cs typeface="Cambria"/>
              </a:rPr>
              <a:t>Enrollment </a:t>
            </a:r>
            <a:r>
              <a:rPr dirty="0" sz="1800" spc="15" b="1">
                <a:solidFill>
                  <a:srgbClr val="C2132D"/>
                </a:solidFill>
                <a:latin typeface="Cambria"/>
                <a:cs typeface="Cambria"/>
              </a:rPr>
              <a:t>Phase: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Phase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system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relies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conventional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approach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(e.g.,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password).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authors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distinguish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two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</a:t>
            </a:r>
            <a:r>
              <a:rPr dirty="0" sz="1800" spc="-2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"trigger-actions":</a:t>
            </a:r>
            <a:endParaRPr sz="1800">
              <a:latin typeface="Calibri"/>
              <a:cs typeface="Calibri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Sliding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horizontally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over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screen;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example,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browse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through</a:t>
            </a:r>
            <a:r>
              <a:rPr dirty="0" sz="1800" spc="-1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images</a:t>
            </a:r>
            <a:endParaRPr sz="1800">
              <a:latin typeface="Calibri"/>
              <a:cs typeface="Calibri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Sliding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vertically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over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screen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move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conten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up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-15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down</a:t>
            </a:r>
            <a:endParaRPr sz="1800">
              <a:latin typeface="Calibri"/>
              <a:cs typeface="Calibri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Note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authors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decided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only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on </a:t>
            </a:r>
            <a:r>
              <a:rPr dirty="0" sz="1800" spc="-10" b="1">
                <a:solidFill>
                  <a:srgbClr val="C2132D"/>
                </a:solidFill>
                <a:latin typeface="Cambria"/>
                <a:cs typeface="Cambria"/>
              </a:rPr>
              <a:t>single </a:t>
            </a:r>
            <a:r>
              <a:rPr dirty="0" sz="1800" spc="-25" b="1">
                <a:solidFill>
                  <a:srgbClr val="C2132D"/>
                </a:solidFill>
                <a:latin typeface="Cambria"/>
                <a:cs typeface="Cambria"/>
              </a:rPr>
              <a:t>touch</a:t>
            </a:r>
            <a:r>
              <a:rPr dirty="0" sz="1800" spc="-95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gestures</a:t>
            </a:r>
            <a:endParaRPr sz="1800">
              <a:latin typeface="Cambria"/>
              <a:cs typeface="Cambria"/>
            </a:endParaRPr>
          </a:p>
          <a:p>
            <a:pPr marL="393065" marR="5080" indent="-133985">
              <a:lnSpc>
                <a:spcPct val="115799"/>
              </a:lnSpc>
              <a:spcBef>
                <a:spcPts val="944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20" b="1">
                <a:solidFill>
                  <a:srgbClr val="C2132D"/>
                </a:solidFill>
                <a:latin typeface="Cambria"/>
                <a:cs typeface="Cambria"/>
              </a:rPr>
              <a:t>Continuous </a:t>
            </a:r>
            <a:r>
              <a:rPr dirty="0" sz="1800" spc="-35" b="1">
                <a:solidFill>
                  <a:srgbClr val="C2132D"/>
                </a:solidFill>
                <a:latin typeface="Cambria"/>
                <a:cs typeface="Cambria"/>
              </a:rPr>
              <a:t>Authentication </a:t>
            </a:r>
            <a:r>
              <a:rPr dirty="0" sz="1800" spc="15" b="1">
                <a:solidFill>
                  <a:srgbClr val="C2132D"/>
                </a:solidFill>
                <a:latin typeface="Cambria"/>
                <a:cs typeface="Cambria"/>
              </a:rPr>
              <a:t>Phase: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During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this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phase,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system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continuously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tracks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strokes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classifier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estimates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if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were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made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legitimate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user.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50" spc="-190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consecutive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negative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classification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results,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system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resorts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back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initial</a:t>
            </a:r>
            <a:r>
              <a:rPr dirty="0" sz="1800" spc="-19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entry-point 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method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challenges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user.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3323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0"/>
              <a:t>Paper's</a:t>
            </a:r>
            <a:r>
              <a:rPr dirty="0" spc="-310"/>
              <a:t> </a:t>
            </a:r>
            <a:r>
              <a:rPr dirty="0" spc="-11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14535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90600">
              <a:lnSpc>
                <a:spcPct val="1181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The </a:t>
            </a:r>
            <a:r>
              <a:rPr dirty="0" sz="1800" spc="-55" b="1">
                <a:solidFill>
                  <a:srgbClr val="C2132D"/>
                </a:solidFill>
                <a:latin typeface="Cambria"/>
                <a:cs typeface="Cambria"/>
              </a:rPr>
              <a:t>main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goal </a:t>
            </a:r>
            <a:r>
              <a:rPr dirty="0" sz="1800" spc="20" b="1">
                <a:solidFill>
                  <a:srgbClr val="C2132D"/>
                </a:solidFill>
                <a:latin typeface="Cambria"/>
                <a:cs typeface="Cambria"/>
              </a:rPr>
              <a:t>of </a:t>
            </a:r>
            <a:r>
              <a:rPr dirty="0" sz="1800" spc="-75" b="1">
                <a:solidFill>
                  <a:srgbClr val="C2132D"/>
                </a:solidFill>
                <a:latin typeface="Cambria"/>
                <a:cs typeface="Cambria"/>
              </a:rPr>
              <a:t>their </a:t>
            </a: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study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is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to </a:t>
            </a:r>
            <a:r>
              <a:rPr dirty="0" sz="1800" spc="-25" b="1">
                <a:solidFill>
                  <a:srgbClr val="C2132D"/>
                </a:solidFill>
                <a:latin typeface="Cambria"/>
                <a:cs typeface="Cambria"/>
              </a:rPr>
              <a:t>analyze </a:t>
            </a:r>
            <a:r>
              <a:rPr dirty="0" sz="1800" spc="-65" b="1">
                <a:solidFill>
                  <a:srgbClr val="C2132D"/>
                </a:solidFill>
                <a:latin typeface="Cambria"/>
                <a:cs typeface="Cambria"/>
              </a:rPr>
              <a:t>how </a:t>
            </a:r>
            <a:r>
              <a:rPr dirty="0" sz="1800" spc="-55" b="1">
                <a:solidFill>
                  <a:srgbClr val="C2132D"/>
                </a:solidFill>
                <a:latin typeface="Cambria"/>
                <a:cs typeface="Cambria"/>
              </a:rPr>
              <a:t>robustly </a:t>
            </a:r>
            <a:r>
              <a:rPr dirty="0" sz="1800" spc="-85" b="1">
                <a:solidFill>
                  <a:srgbClr val="C2132D"/>
                </a:solidFill>
                <a:latin typeface="Cambria"/>
                <a:cs typeface="Cambria"/>
              </a:rPr>
              <a:t>our </a:t>
            </a:r>
            <a:r>
              <a:rPr dirty="0" sz="1800" spc="-40" b="1">
                <a:solidFill>
                  <a:srgbClr val="C2132D"/>
                </a:solidFill>
                <a:latin typeface="Cambria"/>
                <a:cs typeface="Cambria"/>
              </a:rPr>
              <a:t>proposed </a:t>
            </a:r>
            <a:r>
              <a:rPr dirty="0" sz="1800" spc="-65" b="1">
                <a:solidFill>
                  <a:srgbClr val="C2132D"/>
                </a:solidFill>
                <a:latin typeface="Cambria"/>
                <a:cs typeface="Cambria"/>
              </a:rPr>
              <a:t>framework </a:t>
            </a:r>
            <a:r>
              <a:rPr dirty="0" sz="1800" spc="5" b="1">
                <a:solidFill>
                  <a:srgbClr val="C2132D"/>
                </a:solidFill>
                <a:latin typeface="Cambria"/>
                <a:cs typeface="Cambria"/>
              </a:rPr>
              <a:t>can  </a:t>
            </a: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distinguish </a:t>
            </a:r>
            <a:r>
              <a:rPr dirty="0" sz="1800" spc="-5" b="1">
                <a:solidFill>
                  <a:srgbClr val="C2132D"/>
                </a:solidFill>
                <a:latin typeface="Cambria"/>
                <a:cs typeface="Cambria"/>
              </a:rPr>
              <a:t>users </a:t>
            </a:r>
            <a:r>
              <a:rPr dirty="0" sz="1800" spc="-50" b="1">
                <a:solidFill>
                  <a:srgbClr val="C2132D"/>
                </a:solidFill>
                <a:latin typeface="Cambria"/>
                <a:cs typeface="Cambria"/>
              </a:rPr>
              <a:t>from </a:t>
            </a:r>
            <a:r>
              <a:rPr dirty="0" sz="1800" spc="10" b="1">
                <a:solidFill>
                  <a:srgbClr val="C2132D"/>
                </a:solidFill>
                <a:latin typeface="Cambria"/>
                <a:cs typeface="Cambria"/>
              </a:rPr>
              <a:t>each</a:t>
            </a:r>
            <a:r>
              <a:rPr dirty="0" sz="1800" spc="28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Cambria"/>
                <a:cs typeface="Cambria"/>
              </a:rPr>
              <a:t>other.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Cambria"/>
              <a:cs typeface="Cambria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What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probability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rejecting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legitimate</a:t>
            </a:r>
            <a:r>
              <a:rPr dirty="0" sz="1800" spc="-1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user?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What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probability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accepting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</a:t>
            </a:r>
            <a:r>
              <a:rPr dirty="0" sz="1800" spc="-1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attacker?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How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long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does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classifier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need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make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</a:t>
            </a:r>
            <a:r>
              <a:rPr dirty="0" sz="1800" spc="-2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decision?</a:t>
            </a:r>
            <a:endParaRPr sz="1800">
              <a:latin typeface="Calibri"/>
              <a:cs typeface="Calibri"/>
            </a:endParaRPr>
          </a:p>
          <a:p>
            <a:pPr marL="393065" marR="508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How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robust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classification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within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session,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across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multiple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sessions,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after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 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week?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7566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0"/>
              <a:t>Experimental</a:t>
            </a:r>
            <a:r>
              <a:rPr dirty="0" spc="-250"/>
              <a:t> </a:t>
            </a:r>
            <a:r>
              <a:rPr dirty="0" spc="-165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27989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40">
                <a:solidFill>
                  <a:srgbClr val="585D60"/>
                </a:solidFill>
                <a:latin typeface="Calibri"/>
                <a:cs typeface="Calibri"/>
              </a:rPr>
              <a:t>Sessions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1-3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occurred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during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same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day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separated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questionnaire.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followed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second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phase,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users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were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asked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spot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differences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</a:t>
            </a:r>
            <a:r>
              <a:rPr dirty="0" sz="1800" spc="-2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images.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40">
                <a:solidFill>
                  <a:srgbClr val="585D60"/>
                </a:solidFill>
                <a:latin typeface="Calibri"/>
                <a:cs typeface="Calibri"/>
              </a:rPr>
              <a:t>Sessions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6-7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occurred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week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post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sessions</a:t>
            </a:r>
            <a:r>
              <a:rPr dirty="0" sz="1800" spc="-2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previous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bullet.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2340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Touch </a:t>
            </a:r>
            <a:r>
              <a:rPr dirty="0" spc="-140"/>
              <a:t>Analytics</a:t>
            </a:r>
            <a:r>
              <a:rPr dirty="0" spc="-340"/>
              <a:t> </a:t>
            </a:r>
            <a:r>
              <a:rPr dirty="0" spc="-290"/>
              <a:t>[1]</a:t>
            </a:r>
          </a:p>
        </p:txBody>
      </p:sp>
      <p:sp>
        <p:nvSpPr>
          <p:cNvPr id="3" name="object 3"/>
          <p:cNvSpPr/>
          <p:nvPr/>
        </p:nvSpPr>
        <p:spPr>
          <a:xfrm>
            <a:off x="955530" y="1521286"/>
            <a:ext cx="9501081" cy="3629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9919" y="5349875"/>
            <a:ext cx="8685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Stroke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projected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2D-subspace.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given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colored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2340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Touch </a:t>
            </a:r>
            <a:r>
              <a:rPr dirty="0" spc="-140"/>
              <a:t>Analytics</a:t>
            </a:r>
            <a:r>
              <a:rPr dirty="0" spc="-340"/>
              <a:t> </a:t>
            </a:r>
            <a:r>
              <a:rPr dirty="0" spc="-290"/>
              <a:t>[2]</a:t>
            </a:r>
          </a:p>
        </p:txBody>
      </p:sp>
      <p:sp>
        <p:nvSpPr>
          <p:cNvPr id="3" name="object 3"/>
          <p:cNvSpPr/>
          <p:nvPr/>
        </p:nvSpPr>
        <p:spPr>
          <a:xfrm>
            <a:off x="1464899" y="1519491"/>
            <a:ext cx="8543670" cy="42389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13249" y="5968999"/>
            <a:ext cx="349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Correlation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among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30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42848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The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Cambria"/>
                <a:cs typeface="Cambria"/>
              </a:rPr>
              <a:t>kNN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Cambria"/>
                <a:cs typeface="Cambria"/>
              </a:rPr>
              <a:t>(k-Nearest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Cambria"/>
                <a:cs typeface="Cambria"/>
              </a:rPr>
              <a:t>Neighbors)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Cambria"/>
                <a:cs typeface="Cambria"/>
              </a:rPr>
              <a:t>algorithm</a:t>
            </a:r>
            <a:r>
              <a:rPr dirty="0" sz="1800" spc="55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10" b="1">
                <a:solidFill>
                  <a:srgbClr val="C2132D"/>
                </a:solidFill>
                <a:latin typeface="Cambria"/>
                <a:cs typeface="Cambria"/>
              </a:rPr>
              <a:t>has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Cambria"/>
                <a:cs typeface="Cambria"/>
              </a:rPr>
              <a:t>the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Cambria"/>
                <a:cs typeface="Cambria"/>
              </a:rPr>
              <a:t>following</a:t>
            </a:r>
            <a:r>
              <a:rPr dirty="0" sz="1800" spc="5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Cambria"/>
                <a:cs typeface="Cambria"/>
              </a:rPr>
              <a:t>features: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Cambria"/>
              <a:cs typeface="Cambria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Supervised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Utilizes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feature</a:t>
            </a:r>
            <a:r>
              <a:rPr dirty="0" sz="18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similarity</a:t>
            </a:r>
            <a:endParaRPr sz="1800">
              <a:latin typeface="Calibri"/>
              <a:cs typeface="Calibri"/>
            </a:endParaRPr>
          </a:p>
          <a:p>
            <a:pPr marL="393065" marR="508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Lazy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algorithm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since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uses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entire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training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make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decision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instead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coming 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up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discrminative</a:t>
            </a:r>
            <a:r>
              <a:rPr dirty="0" sz="1800" spc="-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kNN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Slides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edureka.co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Blog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4591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50" cy="4571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4571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4619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2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8" cy="40576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14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-90"/>
              <a:t>kNN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6300" y="1425575"/>
            <a:ext cx="9605010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solidFill>
                  <a:srgbClr val="C2132D"/>
                </a:solidFill>
                <a:latin typeface="Cambria"/>
                <a:cs typeface="Cambria"/>
              </a:rPr>
              <a:t>Pseudo</a:t>
            </a:r>
            <a:r>
              <a:rPr dirty="0" sz="1800" spc="45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20" b="1">
                <a:solidFill>
                  <a:srgbClr val="C2132D"/>
                </a:solidFill>
                <a:latin typeface="Cambria"/>
                <a:cs typeface="Cambria"/>
              </a:rPr>
              <a:t>Code</a:t>
            </a:r>
            <a:endParaRPr sz="1800">
              <a:latin typeface="Cambria"/>
              <a:cs typeface="Cambria"/>
            </a:endParaRPr>
          </a:p>
          <a:p>
            <a:pPr marL="418465" marR="152400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Calculate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95" i="1">
                <a:solidFill>
                  <a:srgbClr val="585D60"/>
                </a:solidFill>
                <a:latin typeface="Verdana"/>
                <a:cs typeface="Verdana"/>
              </a:rPr>
              <a:t>D</a:t>
            </a:r>
            <a:r>
              <a:rPr dirty="0" sz="1800" spc="9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95" i="1">
                <a:solidFill>
                  <a:srgbClr val="585D60"/>
                </a:solidFill>
                <a:latin typeface="Verdana"/>
                <a:cs typeface="Verdana"/>
              </a:rPr>
              <a:t>x</a:t>
            </a:r>
            <a:r>
              <a:rPr dirty="0" sz="1800" spc="9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75" i="1">
                <a:solidFill>
                  <a:srgbClr val="585D60"/>
                </a:solidFill>
                <a:latin typeface="Verdana"/>
                <a:cs typeface="Verdana"/>
              </a:rPr>
              <a:t>x</a:t>
            </a:r>
            <a:r>
              <a:rPr dirty="0" baseline="-14492" sz="1725" spc="112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800" spc="7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,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where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18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600" spc="-6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1,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2,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65" i="1">
                <a:solidFill>
                  <a:srgbClr val="585D60"/>
                </a:solidFill>
                <a:latin typeface="Verdana"/>
                <a:cs typeface="Verdana"/>
              </a:rPr>
              <a:t>n</a:t>
            </a:r>
            <a:r>
              <a:rPr dirty="0" sz="1600" spc="-114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265" i="1">
                <a:solidFill>
                  <a:srgbClr val="585D60"/>
                </a:solidFill>
                <a:latin typeface="Verdana"/>
                <a:cs typeface="Verdana"/>
              </a:rPr>
              <a:t>D</a:t>
            </a:r>
            <a:r>
              <a:rPr dirty="0" sz="1600" spc="-114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Euclidean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points.</a:t>
            </a:r>
            <a:endParaRPr sz="1800">
              <a:latin typeface="Calibri"/>
              <a:cs typeface="Calibri"/>
            </a:endParaRPr>
          </a:p>
          <a:p>
            <a:pPr marL="4191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calculated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Euclidean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distances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must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arranged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in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ascending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order.</a:t>
            </a:r>
            <a:endParaRPr sz="1800">
              <a:latin typeface="Calibri"/>
              <a:cs typeface="Calibri"/>
            </a:endParaRPr>
          </a:p>
          <a:p>
            <a:pPr marL="4191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Initialize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take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first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sz="1600" spc="-43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distances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sorted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  <a:p>
            <a:pPr marL="4191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Figure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out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points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respective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sz="1600" spc="-34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distances.</a:t>
            </a:r>
            <a:endParaRPr sz="1800">
              <a:latin typeface="Calibri"/>
              <a:cs typeface="Calibri"/>
            </a:endParaRPr>
          </a:p>
          <a:p>
            <a:pPr marL="4191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Calculate </a:t>
            </a:r>
            <a:r>
              <a:rPr dirty="0" sz="1600" spc="35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baseline="-14492" sz="1725" spc="52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,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which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indicates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points belonging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600" spc="7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</a:t>
            </a:r>
            <a:r>
              <a:rPr dirty="0" sz="1800" spc="-2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among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endParaRPr sz="1600">
              <a:latin typeface="Verdana"/>
              <a:cs typeface="Verdana"/>
            </a:endParaRPr>
          </a:p>
          <a:p>
            <a:pPr marL="418465">
              <a:lnSpc>
                <a:spcPct val="100000"/>
              </a:lnSpc>
              <a:spcBef>
                <a:spcPts val="390"/>
              </a:spcBef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points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i.e.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≥</a:t>
            </a:r>
            <a:r>
              <a:rPr dirty="0" sz="180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10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4191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419100" algn="l"/>
              </a:tabLst>
            </a:pP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If </a:t>
            </a:r>
            <a:r>
              <a:rPr dirty="0" sz="1600" spc="60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baseline="-14492" sz="1725" spc="89" i="1">
                <a:solidFill>
                  <a:srgbClr val="585D60"/>
                </a:solidFill>
                <a:latin typeface="Verdana"/>
                <a:cs typeface="Verdana"/>
              </a:rPr>
              <a:t>i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&gt; </a:t>
            </a:r>
            <a:r>
              <a:rPr dirty="0" sz="1600" spc="-50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baseline="-14492" sz="1725" spc="-75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∀</a:t>
            </a:r>
            <a:r>
              <a:rPr dirty="0" sz="1600" spc="-50" i="1">
                <a:solidFill>
                  <a:srgbClr val="585D60"/>
                </a:solidFill>
                <a:latin typeface="Verdana"/>
                <a:cs typeface="Verdana"/>
              </a:rPr>
              <a:t>i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≠ </a:t>
            </a:r>
            <a:r>
              <a:rPr dirty="0" sz="1600" spc="4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;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put </a:t>
            </a:r>
            <a:r>
              <a:rPr dirty="0" sz="1600" spc="80" i="1">
                <a:solidFill>
                  <a:srgbClr val="585D60"/>
                </a:solidFill>
                <a:latin typeface="Verdana"/>
                <a:cs typeface="Verdana"/>
              </a:rPr>
              <a:t>x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</a:t>
            </a:r>
            <a:r>
              <a:rPr dirty="0" sz="1800" spc="-1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10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dirty="0" sz="1850" spc="-25" i="1">
                <a:solidFill>
                  <a:srgbClr val="585D60"/>
                </a:solidFill>
                <a:latin typeface="Trebuchet MS"/>
                <a:cs typeface="Trebuchet MS"/>
              </a:rPr>
              <a:t>Note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105" i="1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75" i="1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90" i="1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paper, </a:t>
            </a:r>
            <a:r>
              <a:rPr dirty="0" sz="1850" spc="-90" i="1">
                <a:solidFill>
                  <a:srgbClr val="585D60"/>
                </a:solidFill>
                <a:latin typeface="Trebuchet MS"/>
                <a:cs typeface="Trebuchet MS"/>
              </a:rPr>
              <a:t>they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Trebuchet MS"/>
                <a:cs typeface="Trebuchet MS"/>
              </a:rPr>
              <a:t>have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20" i="1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1850" spc="-11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5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sz="1600" spc="-65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-235">
                <a:solidFill>
                  <a:srgbClr val="585D60"/>
                </a:solidFill>
                <a:latin typeface="Lucida Sans Unicode"/>
                <a:cs typeface="Lucida Sans Unicode"/>
              </a:rPr>
              <a:t>∈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35">
                <a:solidFill>
                  <a:srgbClr val="585D60"/>
                </a:solidFill>
                <a:latin typeface="Lucida Sans Unicode"/>
                <a:cs typeface="Lucida Sans Unicode"/>
              </a:rPr>
              <a:t>[1,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3,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5,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7]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90" i="1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50" spc="-11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Trebuchet MS"/>
                <a:cs typeface="Trebuchet MS"/>
              </a:rPr>
              <a:t>avoid</a:t>
            </a:r>
            <a:r>
              <a:rPr dirty="0" sz="1850" spc="-11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50" spc="-80" i="1">
                <a:solidFill>
                  <a:srgbClr val="585D60"/>
                </a:solidFill>
                <a:latin typeface="Trebuchet MS"/>
                <a:cs typeface="Trebuchet MS"/>
              </a:rPr>
              <a:t>ties.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536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75"/>
              <a:t>SVM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8438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95" b="1">
                <a:solidFill>
                  <a:srgbClr val="C2132D"/>
                </a:solidFill>
                <a:latin typeface="Cambria"/>
                <a:cs typeface="Cambria"/>
              </a:rPr>
              <a:t>In </a:t>
            </a: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this </a:t>
            </a:r>
            <a:r>
              <a:rPr dirty="0" sz="1800" spc="-70" b="1">
                <a:solidFill>
                  <a:srgbClr val="C2132D"/>
                </a:solidFill>
                <a:latin typeface="Cambria"/>
                <a:cs typeface="Cambria"/>
              </a:rPr>
              <a:t>paper,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they </a:t>
            </a:r>
            <a:r>
              <a:rPr dirty="0" sz="1800" spc="-5" b="1">
                <a:solidFill>
                  <a:srgbClr val="C2132D"/>
                </a:solidFill>
                <a:latin typeface="Cambria"/>
                <a:cs typeface="Cambria"/>
              </a:rPr>
              <a:t>used </a:t>
            </a:r>
            <a:r>
              <a:rPr dirty="0" sz="1800" spc="-70" b="1">
                <a:solidFill>
                  <a:srgbClr val="C2132D"/>
                </a:solidFill>
                <a:latin typeface="Cambria"/>
                <a:cs typeface="Cambria"/>
              </a:rPr>
              <a:t>it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for </a:t>
            </a:r>
            <a:r>
              <a:rPr dirty="0" sz="1800" spc="-75" b="1">
                <a:solidFill>
                  <a:srgbClr val="C2132D"/>
                </a:solidFill>
                <a:latin typeface="Cambria"/>
                <a:cs typeface="Cambria"/>
              </a:rPr>
              <a:t>binary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classification. </a:t>
            </a: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Cambria"/>
                <a:cs typeface="Cambria"/>
              </a:rPr>
              <a:t>used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a </a:t>
            </a:r>
            <a:r>
              <a:rPr dirty="0" sz="1800" spc="-25" b="1">
                <a:solidFill>
                  <a:srgbClr val="C2132D"/>
                </a:solidFill>
                <a:latin typeface="Cambria"/>
                <a:cs typeface="Cambria"/>
              </a:rPr>
              <a:t>RBF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for </a:t>
            </a:r>
            <a:r>
              <a:rPr dirty="0" sz="1800" spc="-35" b="1">
                <a:solidFill>
                  <a:srgbClr val="C2132D"/>
                </a:solidFill>
                <a:latin typeface="Cambria"/>
                <a:cs typeface="Cambria"/>
              </a:rPr>
              <a:t>the </a:t>
            </a:r>
            <a:r>
              <a:rPr dirty="0" sz="1800" spc="-60" b="1">
                <a:solidFill>
                  <a:srgbClr val="C2132D"/>
                </a:solidFill>
                <a:latin typeface="Cambria"/>
                <a:cs typeface="Cambria"/>
              </a:rPr>
              <a:t>kernel, </a:t>
            </a:r>
            <a:r>
              <a:rPr dirty="0" sz="1800" spc="-50" b="1">
                <a:solidFill>
                  <a:srgbClr val="C2132D"/>
                </a:solidFill>
                <a:latin typeface="Cambria"/>
                <a:cs typeface="Cambria"/>
              </a:rPr>
              <a:t>which </a:t>
            </a:r>
            <a:r>
              <a:rPr dirty="0" sz="1800" spc="-5" b="1">
                <a:solidFill>
                  <a:srgbClr val="C2132D"/>
                </a:solidFill>
                <a:latin typeface="Cambria"/>
                <a:cs typeface="Cambria"/>
              </a:rPr>
              <a:t>means 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that they </a:t>
            </a:r>
            <a:r>
              <a:rPr dirty="0" sz="1800" spc="5" b="1">
                <a:solidFill>
                  <a:srgbClr val="C2132D"/>
                </a:solidFill>
                <a:latin typeface="Cambria"/>
                <a:cs typeface="Cambria"/>
              </a:rPr>
              <a:t>assumed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that </a:t>
            </a:r>
            <a:r>
              <a:rPr dirty="0" sz="1800" spc="-35" b="1">
                <a:solidFill>
                  <a:srgbClr val="C2132D"/>
                </a:solidFill>
                <a:latin typeface="Cambria"/>
                <a:cs typeface="Cambria"/>
              </a:rPr>
              <a:t>the </a:t>
            </a:r>
            <a:r>
              <a:rPr dirty="0" sz="1800" spc="-30" b="1">
                <a:solidFill>
                  <a:srgbClr val="C2132D"/>
                </a:solidFill>
                <a:latin typeface="Cambria"/>
                <a:cs typeface="Cambria"/>
              </a:rPr>
              <a:t>data </a:t>
            </a:r>
            <a:r>
              <a:rPr dirty="0" sz="1800" b="1">
                <a:solidFill>
                  <a:srgbClr val="C2132D"/>
                </a:solidFill>
                <a:latin typeface="Cambria"/>
                <a:cs typeface="Cambria"/>
              </a:rPr>
              <a:t>is </a:t>
            </a:r>
            <a:r>
              <a:rPr dirty="0" sz="1800" spc="-45" b="1">
                <a:solidFill>
                  <a:srgbClr val="C2132D"/>
                </a:solidFill>
                <a:latin typeface="Cambria"/>
                <a:cs typeface="Cambria"/>
              </a:rPr>
              <a:t>not</a:t>
            </a:r>
            <a:r>
              <a:rPr dirty="0" sz="1800" spc="40" b="1">
                <a:solidFill>
                  <a:srgbClr val="C2132D"/>
                </a:solidFill>
                <a:latin typeface="Cambria"/>
                <a:cs typeface="Cambria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Cambria"/>
                <a:cs typeface="Cambria"/>
              </a:rPr>
              <a:t>linearly </a:t>
            </a:r>
            <a:r>
              <a:rPr dirty="0" sz="1800" spc="-15" b="1">
                <a:solidFill>
                  <a:srgbClr val="C2132D"/>
                </a:solidFill>
                <a:latin typeface="Cambria"/>
                <a:cs typeface="Cambria"/>
              </a:rPr>
              <a:t>seperable.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SVM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Slides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edureka.co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Blog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536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75"/>
              <a:t>SVM</a:t>
            </a:r>
          </a:p>
        </p:txBody>
      </p:sp>
      <p:sp>
        <p:nvSpPr>
          <p:cNvPr id="3" name="object 3"/>
          <p:cNvSpPr/>
          <p:nvPr/>
        </p:nvSpPr>
        <p:spPr>
          <a:xfrm>
            <a:off x="2589822" y="1563995"/>
            <a:ext cx="6439074" cy="3922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536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Classification </a:t>
            </a:r>
            <a:r>
              <a:rPr dirty="0" spc="-145"/>
              <a:t>Schemes:</a:t>
            </a:r>
            <a:r>
              <a:rPr dirty="0" spc="-380"/>
              <a:t> </a:t>
            </a:r>
            <a:r>
              <a:rPr dirty="0" spc="75"/>
              <a:t>SVM</a:t>
            </a:r>
          </a:p>
        </p:txBody>
      </p:sp>
      <p:sp>
        <p:nvSpPr>
          <p:cNvPr id="3" name="object 3"/>
          <p:cNvSpPr/>
          <p:nvPr/>
        </p:nvSpPr>
        <p:spPr>
          <a:xfrm>
            <a:off x="2573864" y="1570357"/>
            <a:ext cx="6519018" cy="4056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1816" y="2758440"/>
            <a:ext cx="381635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dirty="0" sz="4100" spc="-1180">
                <a:solidFill>
                  <a:srgbClr val="000000"/>
                </a:solidFill>
              </a:rPr>
              <a:t>L</a:t>
            </a:r>
            <a:r>
              <a:rPr dirty="0" sz="4100" spc="-1180">
                <a:solidFill>
                  <a:srgbClr val="FFFFFF"/>
                </a:solidFill>
              </a:rPr>
              <a:t>L</a:t>
            </a:r>
            <a:r>
              <a:rPr dirty="0" sz="4100" spc="-1180">
                <a:solidFill>
                  <a:srgbClr val="000000"/>
                </a:solidFill>
              </a:rPr>
              <a:t>a</a:t>
            </a:r>
            <a:r>
              <a:rPr dirty="0" sz="4100" spc="-1180">
                <a:solidFill>
                  <a:srgbClr val="FFFFFF"/>
                </a:solidFill>
              </a:rPr>
              <a:t>a</a:t>
            </a:r>
            <a:r>
              <a:rPr dirty="0" sz="4100" spc="-1180">
                <a:solidFill>
                  <a:srgbClr val="000000"/>
                </a:solidFill>
              </a:rPr>
              <a:t>b</a:t>
            </a:r>
            <a:r>
              <a:rPr dirty="0" sz="4100" spc="-1180">
                <a:solidFill>
                  <a:srgbClr val="FFFFFF"/>
                </a:solidFill>
              </a:rPr>
              <a:t>b</a:t>
            </a:r>
            <a:r>
              <a:rPr dirty="0" sz="4100" spc="-1175">
                <a:solidFill>
                  <a:srgbClr val="FFFFFF"/>
                </a:solidFill>
              </a:rPr>
              <a:t> </a:t>
            </a:r>
            <a:r>
              <a:rPr dirty="0" sz="4100" spc="-980">
                <a:solidFill>
                  <a:srgbClr val="000000"/>
                </a:solidFill>
              </a:rPr>
              <a:t>I</a:t>
            </a:r>
            <a:r>
              <a:rPr dirty="0" sz="4100" spc="-980">
                <a:solidFill>
                  <a:srgbClr val="FFFFFF"/>
                </a:solidFill>
              </a:rPr>
              <a:t>I</a:t>
            </a:r>
            <a:r>
              <a:rPr dirty="0" sz="4100" spc="-980">
                <a:solidFill>
                  <a:srgbClr val="000000"/>
                </a:solidFill>
              </a:rPr>
              <a:t>n</a:t>
            </a:r>
            <a:r>
              <a:rPr dirty="0" sz="4100" spc="-980">
                <a:solidFill>
                  <a:srgbClr val="FFFFFF"/>
                </a:solidFill>
              </a:rPr>
              <a:t>n</a:t>
            </a:r>
            <a:r>
              <a:rPr dirty="0" sz="4100" spc="-980">
                <a:solidFill>
                  <a:srgbClr val="000000"/>
                </a:solidFill>
              </a:rPr>
              <a:t>s</a:t>
            </a:r>
            <a:r>
              <a:rPr dirty="0" sz="4100" spc="-980">
                <a:solidFill>
                  <a:srgbClr val="FFFFFF"/>
                </a:solidFill>
              </a:rPr>
              <a:t>s</a:t>
            </a:r>
            <a:r>
              <a:rPr dirty="0" sz="4100" spc="-980">
                <a:solidFill>
                  <a:srgbClr val="000000"/>
                </a:solidFill>
              </a:rPr>
              <a:t>t</a:t>
            </a:r>
            <a:r>
              <a:rPr dirty="0" sz="4100" spc="-980">
                <a:solidFill>
                  <a:srgbClr val="FFFFFF"/>
                </a:solidFill>
              </a:rPr>
              <a:t>t</a:t>
            </a:r>
            <a:r>
              <a:rPr dirty="0" sz="4100" spc="-980">
                <a:solidFill>
                  <a:srgbClr val="000000"/>
                </a:solidFill>
              </a:rPr>
              <a:t>r</a:t>
            </a:r>
            <a:r>
              <a:rPr dirty="0" sz="4100" spc="-980">
                <a:solidFill>
                  <a:srgbClr val="FFFFFF"/>
                </a:solidFill>
              </a:rPr>
              <a:t>r</a:t>
            </a:r>
            <a:r>
              <a:rPr dirty="0" sz="4100" spc="-980">
                <a:solidFill>
                  <a:srgbClr val="000000"/>
                </a:solidFill>
              </a:rPr>
              <a:t>u</a:t>
            </a:r>
            <a:r>
              <a:rPr dirty="0" sz="4100" spc="-980">
                <a:solidFill>
                  <a:srgbClr val="FFFFFF"/>
                </a:solidFill>
              </a:rPr>
              <a:t>u</a:t>
            </a:r>
            <a:r>
              <a:rPr dirty="0" sz="4100" spc="-980">
                <a:solidFill>
                  <a:srgbClr val="000000"/>
                </a:solidFill>
              </a:rPr>
              <a:t>c</a:t>
            </a:r>
            <a:r>
              <a:rPr dirty="0" sz="4100" spc="-980">
                <a:solidFill>
                  <a:srgbClr val="FFFFFF"/>
                </a:solidFill>
              </a:rPr>
              <a:t>c</a:t>
            </a:r>
            <a:r>
              <a:rPr dirty="0" sz="4100" spc="-980">
                <a:solidFill>
                  <a:srgbClr val="000000"/>
                </a:solidFill>
              </a:rPr>
              <a:t>t</a:t>
            </a:r>
            <a:r>
              <a:rPr dirty="0" sz="4100" spc="-980">
                <a:solidFill>
                  <a:srgbClr val="FFFFFF"/>
                </a:solidFill>
              </a:rPr>
              <a:t>t</a:t>
            </a:r>
            <a:r>
              <a:rPr dirty="0" sz="4100" spc="-980">
                <a:solidFill>
                  <a:srgbClr val="000000"/>
                </a:solidFill>
              </a:rPr>
              <a:t>i</a:t>
            </a:r>
            <a:r>
              <a:rPr dirty="0" sz="4100" spc="-980">
                <a:solidFill>
                  <a:srgbClr val="FFFFFF"/>
                </a:solidFill>
              </a:rPr>
              <a:t>i</a:t>
            </a:r>
            <a:r>
              <a:rPr dirty="0" sz="4100" spc="-980">
                <a:solidFill>
                  <a:srgbClr val="000000"/>
                </a:solidFill>
              </a:rPr>
              <a:t>o</a:t>
            </a:r>
            <a:r>
              <a:rPr dirty="0" sz="4100" spc="-980">
                <a:solidFill>
                  <a:srgbClr val="FFFFFF"/>
                </a:solidFill>
              </a:rPr>
              <a:t>o</a:t>
            </a:r>
            <a:r>
              <a:rPr dirty="0" sz="4100" spc="-980">
                <a:solidFill>
                  <a:srgbClr val="000000"/>
                </a:solidFill>
              </a:rPr>
              <a:t>n</a:t>
            </a:r>
            <a:r>
              <a:rPr dirty="0" sz="4100" spc="-980">
                <a:solidFill>
                  <a:srgbClr val="FFFFFF"/>
                </a:solidFill>
              </a:rPr>
              <a:t>n</a:t>
            </a:r>
            <a:r>
              <a:rPr dirty="0" sz="4100" spc="-980">
                <a:solidFill>
                  <a:srgbClr val="000000"/>
                </a:solidFill>
              </a:rPr>
              <a:t>s</a:t>
            </a:r>
            <a:r>
              <a:rPr dirty="0" sz="4100" spc="-980">
                <a:solidFill>
                  <a:srgbClr val="FFFFFF"/>
                </a:solidFill>
              </a:rPr>
              <a:t>s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3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7609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Lab</a:t>
            </a:r>
            <a:r>
              <a:rPr dirty="0" spc="-270"/>
              <a:t> </a:t>
            </a:r>
            <a:r>
              <a:rPr dirty="0" spc="-14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575800" cy="1311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25"/>
              </a:spcBef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purposes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Lab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04,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would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like you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replicate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analysis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performed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@frank2012touchalytics.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You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start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the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The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extracted </a:t>
            </a:r>
            <a:r>
              <a:rPr dirty="0" sz="1800" spc="-1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features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simplify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problem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into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binary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classification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problem, where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you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will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need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recode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at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least</a:t>
            </a:r>
            <a:r>
              <a:rPr dirty="0" sz="1800" spc="-1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40 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times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such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given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compare</a:t>
            </a:r>
            <a:r>
              <a:rPr dirty="0" sz="1800" spc="-2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him/her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everyone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else.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4957" y="2936765"/>
            <a:ext cx="8455334" cy="34598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7609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Lab</a:t>
            </a:r>
            <a:r>
              <a:rPr dirty="0" spc="-270"/>
              <a:t> </a:t>
            </a:r>
            <a:r>
              <a:rPr dirty="0" spc="-14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58350" cy="483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2132D"/>
                </a:solidFill>
                <a:latin typeface="Cambria"/>
                <a:cs typeface="Cambria"/>
              </a:rPr>
              <a:t>Rubric:</a:t>
            </a:r>
            <a:endParaRPr sz="1800">
              <a:latin typeface="Cambria"/>
              <a:cs typeface="Cambria"/>
            </a:endParaRPr>
          </a:p>
          <a:p>
            <a:pPr marL="393065" marR="5080" indent="-133985">
              <a:lnSpc>
                <a:spcPct val="116300"/>
              </a:lnSpc>
              <a:spcBef>
                <a:spcPts val="183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student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will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score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80%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assignment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successfully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both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kNN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SVM 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distinguish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 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choice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rest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group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-50" b="1">
                <a:solidFill>
                  <a:srgbClr val="C2132D"/>
                </a:solidFill>
                <a:latin typeface="Cambria"/>
                <a:cs typeface="Cambria"/>
              </a:rPr>
              <a:t>inter-week </a:t>
            </a:r>
            <a:r>
              <a:rPr dirty="0" sz="1800" spc="-50" b="1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sessions.</a:t>
            </a:r>
            <a:endParaRPr sz="1800">
              <a:latin typeface="Calibri"/>
              <a:cs typeface="Calibri"/>
            </a:endParaRPr>
          </a:p>
          <a:p>
            <a:pPr marL="393065" marR="414020" indent="-133985">
              <a:lnSpc>
                <a:spcPct val="116900"/>
              </a:lnSpc>
              <a:spcBef>
                <a:spcPts val="92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student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will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score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100%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assignment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successfully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both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kNN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SVM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distinguish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 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choice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rest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group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two 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training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approaches: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(a)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intra-session,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(b)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inter-session, and/or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(c)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inter-week 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sessions.</a:t>
            </a:r>
            <a:endParaRPr sz="1800">
              <a:latin typeface="Calibri"/>
              <a:cs typeface="Calibri"/>
            </a:endParaRPr>
          </a:p>
          <a:p>
            <a:pPr marL="393065" marR="184150" indent="-133985">
              <a:lnSpc>
                <a:spcPct val="116300"/>
              </a:lnSpc>
              <a:spcBef>
                <a:spcPts val="86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student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will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score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120%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assignment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if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successfully use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both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kNN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SVM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distinguish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users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rest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group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based</a:t>
            </a:r>
            <a:r>
              <a:rPr dirty="0" sz="1800" spc="-2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three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training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approaches: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(a)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intra-session,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(b)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inter-session,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(c)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inter-week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sessions.</a:t>
            </a:r>
            <a:endParaRPr sz="1800">
              <a:latin typeface="Calibri"/>
              <a:cs typeface="Calibri"/>
            </a:endParaRPr>
          </a:p>
          <a:p>
            <a:pPr marL="12700" marR="817880">
              <a:lnSpc>
                <a:spcPct val="118100"/>
              </a:lnSpc>
              <a:spcBef>
                <a:spcPts val="1800"/>
              </a:spcBef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You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work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individually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group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two.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Your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submission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include: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(a)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your 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Notebook,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(b)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190">
                <a:solidFill>
                  <a:srgbClr val="585D60"/>
                </a:solidFill>
                <a:latin typeface="Calibri"/>
                <a:cs typeface="Calibri"/>
              </a:rPr>
              <a:t>CSV</a:t>
            </a:r>
            <a:r>
              <a:rPr dirty="0" sz="1800" spc="-1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file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results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your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code.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</a:rPr>
              <a:t>R</a:t>
            </a:r>
            <a:r>
              <a:rPr dirty="0" sz="4100" spc="-1220">
                <a:solidFill>
                  <a:srgbClr val="FFFFFF"/>
                </a:solidFill>
              </a:rPr>
              <a:t>R</a:t>
            </a:r>
            <a:r>
              <a:rPr dirty="0" sz="4100" spc="-1220">
                <a:solidFill>
                  <a:srgbClr val="000000"/>
                </a:solidFill>
              </a:rPr>
              <a:t>e</a:t>
            </a:r>
            <a:r>
              <a:rPr dirty="0" sz="4100" spc="-1220">
                <a:solidFill>
                  <a:srgbClr val="FFFFFF"/>
                </a:solidFill>
              </a:rPr>
              <a:t>e</a:t>
            </a:r>
            <a:r>
              <a:rPr dirty="0" sz="4100" spc="-1220">
                <a:solidFill>
                  <a:srgbClr val="000000"/>
                </a:solidFill>
              </a:rPr>
              <a:t>c</a:t>
            </a:r>
            <a:r>
              <a:rPr dirty="0" sz="4100" spc="-1220">
                <a:solidFill>
                  <a:srgbClr val="FFFFFF"/>
                </a:solidFill>
              </a:rPr>
              <a:t>c</a:t>
            </a:r>
            <a:r>
              <a:rPr dirty="0" sz="4100" spc="-1220">
                <a:solidFill>
                  <a:srgbClr val="000000"/>
                </a:solidFill>
              </a:rPr>
              <a:t>a</a:t>
            </a:r>
            <a:r>
              <a:rPr dirty="0" sz="4100" spc="-1220">
                <a:solidFill>
                  <a:srgbClr val="FFFFFF"/>
                </a:solidFill>
              </a:rPr>
              <a:t>a</a:t>
            </a:r>
            <a:r>
              <a:rPr dirty="0" sz="4100" spc="-1220">
                <a:solidFill>
                  <a:srgbClr val="000000"/>
                </a:solidFill>
              </a:rPr>
              <a:t>p</a:t>
            </a:r>
            <a:r>
              <a:rPr dirty="0" sz="4100" spc="-1220">
                <a:solidFill>
                  <a:srgbClr val="FFFFFF"/>
                </a:solidFill>
              </a:rPr>
              <a:t>p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6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27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Summary </a:t>
            </a:r>
            <a:r>
              <a:rPr dirty="0" spc="-140"/>
              <a:t>of </a:t>
            </a:r>
            <a:r>
              <a:rPr dirty="0" spc="-90"/>
              <a:t>Main</a:t>
            </a:r>
            <a:r>
              <a:rPr dirty="0" spc="-455"/>
              <a:t> </a:t>
            </a:r>
            <a:r>
              <a:rPr dirty="0" spc="-1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446770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now,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you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able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following: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Examine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Android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Phone's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touch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feature</a:t>
            </a:r>
            <a:r>
              <a:rPr dirty="0" sz="1800" spc="-9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Replicate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analysis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performed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InfoSec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research</a:t>
            </a:r>
            <a:r>
              <a:rPr dirty="0" sz="1800" spc="-2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paper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Report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code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results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understandable manner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general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audience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27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260">
                <a:latin typeface="Arial"/>
                <a:cs typeface="Arial"/>
              </a:rPr>
              <a:t> </a:t>
            </a:r>
            <a:r>
              <a:rPr dirty="0" spc="-229"/>
              <a:t>Review </a:t>
            </a:r>
            <a:r>
              <a:rPr dirty="0" spc="-180"/>
              <a:t>and </a:t>
            </a:r>
            <a:r>
              <a:rPr dirty="0" spc="-195"/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50" b="1">
                <a:solidFill>
                  <a:srgbClr val="C2132D"/>
                </a:solidFill>
                <a:latin typeface="Cambria"/>
                <a:cs typeface="Cambria"/>
              </a:rPr>
              <a:t>Class </a:t>
            </a:r>
            <a:r>
              <a:rPr dirty="0" spc="10" b="1">
                <a:solidFill>
                  <a:srgbClr val="C2132D"/>
                </a:solidFill>
                <a:latin typeface="Cambria"/>
                <a:cs typeface="Cambria"/>
              </a:rPr>
              <a:t>Notes</a:t>
            </a:r>
            <a:r>
              <a:rPr dirty="0" spc="10"/>
              <a:t>: </a:t>
            </a:r>
            <a:r>
              <a:rPr dirty="0" spc="85"/>
              <a:t>Take </a:t>
            </a:r>
            <a:r>
              <a:rPr dirty="0" spc="125"/>
              <a:t>some </a:t>
            </a:r>
            <a:r>
              <a:rPr dirty="0" spc="50"/>
              <a:t>time </a:t>
            </a:r>
            <a:r>
              <a:rPr dirty="0" spc="20"/>
              <a:t>to </a:t>
            </a:r>
            <a:r>
              <a:rPr dirty="0" spc="45"/>
              <a:t>revisit </a:t>
            </a:r>
            <a:r>
              <a:rPr dirty="0" spc="30"/>
              <a:t>your </a:t>
            </a:r>
            <a:r>
              <a:rPr dirty="0" spc="150"/>
              <a:t>class</a:t>
            </a:r>
            <a:r>
              <a:rPr dirty="0" spc="-245"/>
              <a:t> </a:t>
            </a:r>
            <a:r>
              <a:rPr dirty="0" spc="75"/>
              <a:t>notes </a:t>
            </a:r>
            <a:r>
              <a:rPr dirty="0" spc="45"/>
              <a:t>for </a:t>
            </a:r>
            <a:r>
              <a:rPr dirty="0" spc="50"/>
              <a:t>key </a:t>
            </a:r>
            <a:r>
              <a:rPr dirty="0" spc="90"/>
              <a:t>insights </a:t>
            </a:r>
            <a:r>
              <a:rPr dirty="0" spc="75"/>
              <a:t>and </a:t>
            </a:r>
            <a:r>
              <a:rPr dirty="0" spc="90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5" b="1">
                <a:solidFill>
                  <a:srgbClr val="C2132D"/>
                </a:solidFill>
                <a:latin typeface="Cambria"/>
                <a:cs typeface="Cambria"/>
              </a:rPr>
              <a:t>Zoom </a:t>
            </a:r>
            <a:r>
              <a:rPr dirty="0" spc="-35" b="1">
                <a:solidFill>
                  <a:srgbClr val="C2132D"/>
                </a:solidFill>
                <a:latin typeface="Cambria"/>
                <a:cs typeface="Cambria"/>
              </a:rPr>
              <a:t>Recording</a:t>
            </a:r>
            <a:r>
              <a:rPr dirty="0" spc="-35"/>
              <a:t>: </a:t>
            </a:r>
            <a:r>
              <a:rPr dirty="0" spc="100"/>
              <a:t>The </a:t>
            </a:r>
            <a:r>
              <a:rPr dirty="0" spc="60"/>
              <a:t>recording </a:t>
            </a:r>
            <a:r>
              <a:rPr dirty="0" spc="75"/>
              <a:t>of </a:t>
            </a:r>
            <a:r>
              <a:rPr dirty="0" spc="45"/>
              <a:t>today's </a:t>
            </a:r>
            <a:r>
              <a:rPr dirty="0" spc="150"/>
              <a:t>class </a:t>
            </a:r>
            <a:r>
              <a:rPr dirty="0" spc="30"/>
              <a:t>will </a:t>
            </a:r>
            <a:r>
              <a:rPr dirty="0" spc="60"/>
              <a:t>be </a:t>
            </a:r>
            <a:r>
              <a:rPr dirty="0" spc="95"/>
              <a:t>made </a:t>
            </a:r>
            <a:r>
              <a:rPr dirty="0" spc="60"/>
              <a:t>available on</a:t>
            </a:r>
            <a:r>
              <a:rPr dirty="0" spc="-150"/>
              <a:t> </a:t>
            </a:r>
            <a:r>
              <a:rPr dirty="0" spc="125"/>
              <a:t>Canvas  </a:t>
            </a:r>
            <a:r>
              <a:rPr dirty="0" spc="55"/>
              <a:t>approximately </a:t>
            </a:r>
            <a:r>
              <a:rPr dirty="0" spc="45"/>
              <a:t>3-4 </a:t>
            </a:r>
            <a:r>
              <a:rPr dirty="0" spc="75"/>
              <a:t>hours </a:t>
            </a:r>
            <a:r>
              <a:rPr dirty="0" spc="40"/>
              <a:t>after </a:t>
            </a:r>
            <a:r>
              <a:rPr dirty="0" spc="30"/>
              <a:t>the </a:t>
            </a:r>
            <a:r>
              <a:rPr dirty="0" spc="55"/>
              <a:t>end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130"/>
              <a:t>class.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15" b="1">
                <a:solidFill>
                  <a:srgbClr val="C2132D"/>
                </a:solidFill>
                <a:latin typeface="Cambria"/>
                <a:cs typeface="Cambria"/>
              </a:rPr>
              <a:t>Questions</a:t>
            </a:r>
            <a:r>
              <a:rPr dirty="0" spc="-15"/>
              <a:t>: </a:t>
            </a:r>
            <a:r>
              <a:rPr dirty="0" spc="114"/>
              <a:t>Please </a:t>
            </a:r>
            <a:r>
              <a:rPr dirty="0"/>
              <a:t>don't </a:t>
            </a:r>
            <a:r>
              <a:rPr dirty="0" spc="60"/>
              <a:t>hesitate </a:t>
            </a:r>
            <a:r>
              <a:rPr dirty="0" spc="20"/>
              <a:t>to </a:t>
            </a:r>
            <a:r>
              <a:rPr dirty="0" spc="145"/>
              <a:t>ask</a:t>
            </a:r>
            <a:r>
              <a:rPr dirty="0" spc="-265"/>
              <a:t> </a:t>
            </a:r>
            <a:r>
              <a:rPr dirty="0" spc="45"/>
              <a:t>for </a:t>
            </a:r>
            <a:r>
              <a:rPr dirty="0" spc="60"/>
              <a:t>clarification on </a:t>
            </a:r>
            <a:r>
              <a:rPr dirty="0" spc="65"/>
              <a:t>any </a:t>
            </a:r>
            <a:r>
              <a:rPr dirty="0" spc="85"/>
              <a:t>topics </a:t>
            </a:r>
            <a:r>
              <a:rPr dirty="0" spc="125"/>
              <a:t>discussed </a:t>
            </a:r>
            <a:r>
              <a:rPr dirty="0" spc="35"/>
              <a:t>in </a:t>
            </a:r>
            <a:r>
              <a:rPr dirty="0" spc="130"/>
              <a:t>class. </a:t>
            </a:r>
            <a:r>
              <a:rPr dirty="0" spc="20"/>
              <a:t>It's  </a:t>
            </a:r>
            <a:r>
              <a:rPr dirty="0" spc="75"/>
              <a:t>crucial </a:t>
            </a:r>
            <a:r>
              <a:rPr dirty="0" spc="35"/>
              <a:t>not </a:t>
            </a:r>
            <a:r>
              <a:rPr dirty="0" spc="20"/>
              <a:t>to let </a:t>
            </a:r>
            <a:r>
              <a:rPr dirty="0" spc="85"/>
              <a:t>questions</a:t>
            </a:r>
            <a:r>
              <a:rPr dirty="0" spc="20"/>
              <a:t> </a:t>
            </a:r>
            <a:r>
              <a:rPr dirty="0" spc="8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419: Data-Driven Security</dc:title>
  <dcterms:created xsi:type="dcterms:W3CDTF">2025-04-15T15:15:00Z</dcterms:created>
  <dcterms:modified xsi:type="dcterms:W3CDTF">2025-04-15T15:15:00Z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2025-04-15T00:00:00Z</vt:filetime>
  </property>
  <property fmtid="{D5CDD505-2E9C-101B-9397-08002B2CF9AE}" pid="3" name="Creator">
    <vt:lpwstr>Mozilla/5.0 (Windows NT 10.0; Win64; x64) AppleWebKit/537.36 (KHTML, like Gecko) Chrome/135.0.0.0 Safari/537.36</vt:lpwstr>
  </property>
  <property fmtid="{D5CDD505-2E9C-101B-9397-08002B2CF9AE}" pid="4" name="LastSaved">
    <vt:filetime>2025-04-15T00:00:00Z</vt:filetime>
  </property>
</Properties>
</file>