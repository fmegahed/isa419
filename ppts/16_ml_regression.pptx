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84504" y="2206752"/>
            <a:ext cx="9561830" cy="524510"/>
          </a:xfrm>
          <a:custGeom>
            <a:avLst/>
            <a:gdLst/>
            <a:ahLst/>
            <a:cxnLst/>
            <a:rect l="l" t="t" r="r" b="b"/>
            <a:pathLst>
              <a:path w="9561830" h="524510">
                <a:moveTo>
                  <a:pt x="0" y="524256"/>
                </a:moveTo>
                <a:lnTo>
                  <a:pt x="9561576" y="524256"/>
                </a:lnTo>
                <a:lnTo>
                  <a:pt x="9561576" y="0"/>
                </a:lnTo>
                <a:lnTo>
                  <a:pt x="0" y="0"/>
                </a:lnTo>
                <a:lnTo>
                  <a:pt x="0" y="524256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807720" y="2731008"/>
            <a:ext cx="9906000" cy="1076325"/>
          </a:xfrm>
          <a:custGeom>
            <a:avLst/>
            <a:gdLst/>
            <a:ahLst/>
            <a:cxnLst/>
            <a:rect l="l" t="t" r="r" b="b"/>
            <a:pathLst>
              <a:path w="9906000" h="1076325">
                <a:moveTo>
                  <a:pt x="0" y="0"/>
                </a:moveTo>
                <a:lnTo>
                  <a:pt x="9906000" y="0"/>
                </a:lnTo>
                <a:lnTo>
                  <a:pt x="9906000" y="1075944"/>
                </a:lnTo>
                <a:lnTo>
                  <a:pt x="0" y="107594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4666488" y="3282696"/>
            <a:ext cx="2197735" cy="932815"/>
          </a:xfrm>
          <a:custGeom>
            <a:avLst/>
            <a:gdLst/>
            <a:ahLst/>
            <a:cxnLst/>
            <a:rect l="l" t="t" r="r" b="b"/>
            <a:pathLst>
              <a:path w="2197734" h="932814">
                <a:moveTo>
                  <a:pt x="0" y="0"/>
                </a:moveTo>
                <a:lnTo>
                  <a:pt x="2197608" y="0"/>
                </a:lnTo>
                <a:lnTo>
                  <a:pt x="2197608" y="932688"/>
                </a:lnTo>
                <a:lnTo>
                  <a:pt x="0" y="93268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C2132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www.slideshare.net/christophmolnar/presentation-on-statistical-modeling-the-two-cultures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www.slideshare.net/christophmolnar/presentation-on-statistical-modeling-the-two-cultures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www.jstor.org/stable/2676681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hyperlink" Target="https://machinelearningflashcards.com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hyperlink" Target="https://machinelearningflashcards.com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machinelearningflashcards.com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hyperlink" Target="https://machinelearningflashcards.com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levelup.gitconnected.com/random-forest-regression-209c0f354c84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hyperlink" Target="https://machinelearningflashcards.com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chive.ics.uci.edu/dataset/942/rt-iot2022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6437630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pc="5">
                <a:solidFill>
                  <a:srgbClr val="FFFFFF"/>
                </a:solidFill>
              </a:rPr>
              <a:t>ISA </a:t>
            </a:r>
            <a:r>
              <a:rPr dirty="0" spc="-180">
                <a:solidFill>
                  <a:srgbClr val="FFFFFF"/>
                </a:solidFill>
              </a:rPr>
              <a:t>419: </a:t>
            </a:r>
            <a:r>
              <a:rPr dirty="0" spc="-220">
                <a:solidFill>
                  <a:srgbClr val="FFFFFF"/>
                </a:solidFill>
              </a:rPr>
              <a:t>Data-Driven</a:t>
            </a:r>
            <a:r>
              <a:rPr dirty="0" spc="-540">
                <a:solidFill>
                  <a:srgbClr val="FFFFFF"/>
                </a:solidFill>
              </a:rPr>
              <a:t> </a:t>
            </a:r>
            <a:r>
              <a:rPr dirty="0" spc="-180">
                <a:solidFill>
                  <a:srgbClr val="FFFFFF"/>
                </a:solidFill>
              </a:rPr>
              <a:t>Security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16: Machine Learning Regression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0"/>
              <a:t>Quick </a:t>
            </a:r>
            <a:r>
              <a:rPr dirty="0" spc="-185"/>
              <a:t>Refresher </a:t>
            </a:r>
            <a:r>
              <a:rPr dirty="0" spc="-140"/>
              <a:t>of </a:t>
            </a:r>
            <a:r>
              <a:rPr dirty="0" spc="-100"/>
              <a:t>Last</a:t>
            </a:r>
            <a:r>
              <a:rPr dirty="0" spc="-475"/>
              <a:t> </a:t>
            </a:r>
            <a:r>
              <a:rPr dirty="0" spc="-2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521825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basic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concepts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analysis,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including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roles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independent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 dependent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variables.</a:t>
            </a:r>
            <a:endParaRPr sz="1800">
              <a:latin typeface="Arial"/>
              <a:cs typeface="Arial"/>
            </a:endParaRPr>
          </a:p>
          <a:p>
            <a:pPr marL="12700" marR="582930">
              <a:lnSpc>
                <a:spcPct val="114599"/>
              </a:lnSpc>
              <a:spcBef>
                <a:spcPts val="969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Assess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metrics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like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R-squared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Mean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Squared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Error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interpret the</a:t>
            </a:r>
            <a:r>
              <a:rPr dirty="0" sz="1800" spc="-1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results.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modeling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mindsets: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explanatory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predictive.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Learning </a:t>
            </a:r>
            <a:r>
              <a:rPr dirty="0" spc="-204"/>
              <a:t>Objectives </a:t>
            </a:r>
            <a:r>
              <a:rPr dirty="0" spc="-185"/>
              <a:t>for </a:t>
            </a:r>
            <a:r>
              <a:rPr dirty="0" spc="-135"/>
              <a:t>Today's</a:t>
            </a:r>
            <a:r>
              <a:rPr dirty="0" spc="-495"/>
              <a:t> </a:t>
            </a:r>
            <a:r>
              <a:rPr dirty="0" spc="-2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754" y="1376044"/>
            <a:ext cx="8980805" cy="1978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9207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Recognize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similarities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traditional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machine 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learning regression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advanced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techniques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like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Ridge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2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Lasso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Explore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non-linear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like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Decision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Trees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Random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Forests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tasks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Apply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machine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learning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cyber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security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sets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2668" y="2359025"/>
            <a:ext cx="9460230" cy="170180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ctr" marL="12700" marR="5080" indent="-635">
              <a:lnSpc>
                <a:spcPts val="4120"/>
              </a:lnSpc>
              <a:spcBef>
                <a:spcPts val="925"/>
              </a:spcBef>
            </a:pPr>
            <a:r>
              <a:rPr dirty="0" sz="4100" spc="-1060">
                <a:latin typeface="Trebuchet MS"/>
                <a:cs typeface="Trebuchet MS"/>
              </a:rPr>
              <a:t>D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060">
                <a:latin typeface="Trebuchet MS"/>
                <a:cs typeface="Trebuchet MS"/>
              </a:rPr>
              <a:t>i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60">
                <a:latin typeface="Trebuchet MS"/>
                <a:cs typeface="Trebuchet MS"/>
              </a:rPr>
              <a:t>f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4100" spc="-1060">
                <a:latin typeface="Trebuchet MS"/>
                <a:cs typeface="Trebuchet MS"/>
              </a:rPr>
              <a:t>f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dirty="0" sz="4100" spc="-1060">
                <a:latin typeface="Trebuchet MS"/>
                <a:cs typeface="Trebuchet MS"/>
              </a:rPr>
              <a:t>e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60">
                <a:latin typeface="Trebuchet MS"/>
                <a:cs typeface="Trebuchet MS"/>
              </a:rPr>
              <a:t>r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60">
                <a:latin typeface="Trebuchet MS"/>
                <a:cs typeface="Trebuchet MS"/>
              </a:rPr>
              <a:t>e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60">
                <a:latin typeface="Trebuchet MS"/>
                <a:cs typeface="Trebuchet MS"/>
              </a:rPr>
              <a:t>n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60">
                <a:latin typeface="Trebuchet MS"/>
                <a:cs typeface="Trebuchet MS"/>
              </a:rPr>
              <a:t>c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060">
                <a:latin typeface="Trebuchet MS"/>
                <a:cs typeface="Trebuchet MS"/>
              </a:rPr>
              <a:t>e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60">
                <a:latin typeface="Trebuchet MS"/>
                <a:cs typeface="Trebuchet MS"/>
              </a:rPr>
              <a:t>s</a:t>
            </a:r>
            <a:r>
              <a:rPr dirty="0" sz="4100" spc="-1060">
                <a:solidFill>
                  <a:srgbClr val="FFFFFF"/>
                </a:solidFill>
                <a:latin typeface="Trebuchet MS"/>
                <a:cs typeface="Trebuchet MS"/>
              </a:rPr>
              <a:t>s </a:t>
            </a:r>
            <a:r>
              <a:rPr dirty="0" sz="4100" spc="-1285">
                <a:latin typeface="Trebuchet MS"/>
                <a:cs typeface="Trebuchet MS"/>
              </a:rPr>
              <a:t>B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4100" spc="-1285">
                <a:latin typeface="Trebuchet MS"/>
                <a:cs typeface="Trebuchet MS"/>
              </a:rPr>
              <a:t>e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85">
                <a:latin typeface="Trebuchet MS"/>
                <a:cs typeface="Trebuchet MS"/>
              </a:rPr>
              <a:t>t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285">
                <a:latin typeface="Trebuchet MS"/>
                <a:cs typeface="Trebuchet MS"/>
              </a:rPr>
              <a:t>w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4100" spc="-1285">
                <a:latin typeface="Trebuchet MS"/>
                <a:cs typeface="Trebuchet MS"/>
              </a:rPr>
              <a:t>e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85">
                <a:latin typeface="Trebuchet MS"/>
                <a:cs typeface="Trebuchet MS"/>
              </a:rPr>
              <a:t>e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85">
                <a:latin typeface="Trebuchet MS"/>
                <a:cs typeface="Trebuchet MS"/>
              </a:rPr>
              <a:t>n</a:t>
            </a:r>
            <a:r>
              <a:rPr dirty="0" sz="4100" spc="-128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3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055">
                <a:latin typeface="Trebuchet MS"/>
                <a:cs typeface="Trebuchet MS"/>
              </a:rPr>
              <a:t>T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55">
                <a:latin typeface="Trebuchet MS"/>
                <a:cs typeface="Trebuchet MS"/>
              </a:rPr>
              <a:t>r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55">
                <a:latin typeface="Trebuchet MS"/>
                <a:cs typeface="Trebuchet MS"/>
              </a:rPr>
              <a:t>a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55">
                <a:latin typeface="Trebuchet MS"/>
                <a:cs typeface="Trebuchet MS"/>
              </a:rPr>
              <a:t>d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055">
                <a:latin typeface="Trebuchet MS"/>
                <a:cs typeface="Trebuchet MS"/>
              </a:rPr>
              <a:t>i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5">
                <a:latin typeface="Trebuchet MS"/>
                <a:cs typeface="Trebuchet MS"/>
              </a:rPr>
              <a:t>t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55">
                <a:latin typeface="Trebuchet MS"/>
                <a:cs typeface="Trebuchet MS"/>
              </a:rPr>
              <a:t>i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55">
                <a:latin typeface="Trebuchet MS"/>
                <a:cs typeface="Trebuchet MS"/>
              </a:rPr>
              <a:t>o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55">
                <a:latin typeface="Trebuchet MS"/>
                <a:cs typeface="Trebuchet MS"/>
              </a:rPr>
              <a:t>n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55">
                <a:latin typeface="Trebuchet MS"/>
                <a:cs typeface="Trebuchet MS"/>
              </a:rPr>
              <a:t>a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55">
                <a:latin typeface="Trebuchet MS"/>
                <a:cs typeface="Trebuchet MS"/>
              </a:rPr>
              <a:t>l</a:t>
            </a:r>
            <a:r>
              <a:rPr dirty="0" sz="4100" spc="-1055">
                <a:solidFill>
                  <a:srgbClr val="FFFFFF"/>
                </a:solidFill>
                <a:latin typeface="Trebuchet MS"/>
                <a:cs typeface="Trebuchet MS"/>
              </a:rPr>
              <a:t>l </a:t>
            </a:r>
            <a:r>
              <a:rPr dirty="0" sz="4100" spc="-919">
                <a:latin typeface="Trebuchet MS"/>
                <a:cs typeface="Trebuchet MS"/>
              </a:rPr>
              <a:t>(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dirty="0" sz="4100" spc="-919">
                <a:latin typeface="Trebuchet MS"/>
                <a:cs typeface="Trebuchet MS"/>
              </a:rPr>
              <a:t>S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919">
                <a:latin typeface="Trebuchet MS"/>
                <a:cs typeface="Trebuchet MS"/>
              </a:rPr>
              <a:t>t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919">
                <a:latin typeface="Trebuchet MS"/>
                <a:cs typeface="Trebuchet MS"/>
              </a:rPr>
              <a:t>a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919">
                <a:latin typeface="Trebuchet MS"/>
                <a:cs typeface="Trebuchet MS"/>
              </a:rPr>
              <a:t>t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919">
                <a:latin typeface="Trebuchet MS"/>
                <a:cs typeface="Trebuchet MS"/>
              </a:rPr>
              <a:t>i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919">
                <a:latin typeface="Trebuchet MS"/>
                <a:cs typeface="Trebuchet MS"/>
              </a:rPr>
              <a:t>s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919">
                <a:latin typeface="Trebuchet MS"/>
                <a:cs typeface="Trebuchet MS"/>
              </a:rPr>
              <a:t>t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919">
                <a:latin typeface="Trebuchet MS"/>
                <a:cs typeface="Trebuchet MS"/>
              </a:rPr>
              <a:t>i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919">
                <a:latin typeface="Trebuchet MS"/>
                <a:cs typeface="Trebuchet MS"/>
              </a:rPr>
              <a:t>c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919">
                <a:latin typeface="Trebuchet MS"/>
                <a:cs typeface="Trebuchet MS"/>
              </a:rPr>
              <a:t>a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919">
                <a:latin typeface="Trebuchet MS"/>
                <a:cs typeface="Trebuchet MS"/>
              </a:rPr>
              <a:t>l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919">
                <a:latin typeface="Trebuchet MS"/>
                <a:cs typeface="Trebuchet MS"/>
              </a:rPr>
              <a:t>)</a:t>
            </a:r>
            <a:r>
              <a:rPr dirty="0" sz="4100" spc="-919">
                <a:solidFill>
                  <a:srgbClr val="FFFFFF"/>
                </a:solidFill>
                <a:latin typeface="Trebuchet MS"/>
                <a:cs typeface="Trebuchet MS"/>
              </a:rPr>
              <a:t>)  </a:t>
            </a:r>
            <a:r>
              <a:rPr dirty="0" sz="4100" spc="-1225">
                <a:latin typeface="Trebuchet MS"/>
                <a:cs typeface="Trebuchet MS"/>
              </a:rPr>
              <a:t>a</a:t>
            </a:r>
            <a:r>
              <a:rPr dirty="0" sz="4100" spc="-12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225">
                <a:latin typeface="Trebuchet MS"/>
                <a:cs typeface="Trebuchet MS"/>
              </a:rPr>
              <a:t>n</a:t>
            </a:r>
            <a:r>
              <a:rPr dirty="0" sz="4100" spc="-122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225">
                <a:latin typeface="Trebuchet MS"/>
                <a:cs typeface="Trebuchet MS"/>
              </a:rPr>
              <a:t>d</a:t>
            </a:r>
            <a:r>
              <a:rPr dirty="0" sz="4100" spc="-1225">
                <a:solidFill>
                  <a:srgbClr val="FFFFFF"/>
                </a:solidFill>
                <a:latin typeface="Trebuchet MS"/>
                <a:cs typeface="Trebuchet MS"/>
              </a:rPr>
              <a:t>d </a:t>
            </a:r>
            <a:r>
              <a:rPr dirty="0" sz="4100" spc="-1070">
                <a:latin typeface="Trebuchet MS"/>
                <a:cs typeface="Trebuchet MS"/>
              </a:rPr>
              <a:t>A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70">
                <a:latin typeface="Trebuchet MS"/>
                <a:cs typeface="Trebuchet MS"/>
              </a:rPr>
              <a:t>l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1070">
                <a:latin typeface="Trebuchet MS"/>
                <a:cs typeface="Trebuchet MS"/>
              </a:rPr>
              <a:t>g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4100" spc="-1070">
                <a:latin typeface="Trebuchet MS"/>
                <a:cs typeface="Trebuchet MS"/>
              </a:rPr>
              <a:t>o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070">
                <a:latin typeface="Trebuchet MS"/>
                <a:cs typeface="Trebuchet MS"/>
              </a:rPr>
              <a:t>r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70">
                <a:latin typeface="Trebuchet MS"/>
                <a:cs typeface="Trebuchet MS"/>
              </a:rPr>
              <a:t>i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>
                <a:latin typeface="Trebuchet MS"/>
                <a:cs typeface="Trebuchet MS"/>
              </a:rPr>
              <a:t>t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70">
                <a:latin typeface="Trebuchet MS"/>
                <a:cs typeface="Trebuchet MS"/>
              </a:rPr>
              <a:t>h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070">
                <a:latin typeface="Trebuchet MS"/>
                <a:cs typeface="Trebuchet MS"/>
              </a:rPr>
              <a:t>m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070">
                <a:latin typeface="Trebuchet MS"/>
                <a:cs typeface="Trebuchet MS"/>
              </a:rPr>
              <a:t>i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70">
                <a:latin typeface="Trebuchet MS"/>
                <a:cs typeface="Trebuchet MS"/>
              </a:rPr>
              <a:t>c</a:t>
            </a:r>
            <a:r>
              <a:rPr dirty="0" sz="4100" spc="-1070">
                <a:solidFill>
                  <a:srgbClr val="FFFFFF"/>
                </a:solidFill>
                <a:latin typeface="Trebuchet MS"/>
                <a:cs typeface="Trebuchet MS"/>
              </a:rPr>
              <a:t>c </a:t>
            </a:r>
            <a:r>
              <a:rPr dirty="0" sz="4100" spc="-1115">
                <a:latin typeface="Trebuchet MS"/>
                <a:cs typeface="Trebuchet MS"/>
              </a:rPr>
              <a:t>(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dirty="0" sz="4100" spc="-1115">
                <a:latin typeface="Trebuchet MS"/>
                <a:cs typeface="Trebuchet MS"/>
              </a:rPr>
              <a:t>M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115">
                <a:latin typeface="Trebuchet MS"/>
                <a:cs typeface="Trebuchet MS"/>
              </a:rPr>
              <a:t>a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15">
                <a:latin typeface="Trebuchet MS"/>
                <a:cs typeface="Trebuchet MS"/>
              </a:rPr>
              <a:t>c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115">
                <a:latin typeface="Trebuchet MS"/>
                <a:cs typeface="Trebuchet MS"/>
              </a:rPr>
              <a:t>h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115">
                <a:latin typeface="Trebuchet MS"/>
                <a:cs typeface="Trebuchet MS"/>
              </a:rPr>
              <a:t>i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15">
                <a:latin typeface="Trebuchet MS"/>
                <a:cs typeface="Trebuchet MS"/>
              </a:rPr>
              <a:t>n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15">
                <a:latin typeface="Trebuchet MS"/>
                <a:cs typeface="Trebuchet MS"/>
              </a:rPr>
              <a:t>e</a:t>
            </a:r>
            <a:r>
              <a:rPr dirty="0" sz="4100" spc="-1115">
                <a:solidFill>
                  <a:srgbClr val="FFFFFF"/>
                </a:solidFill>
                <a:latin typeface="Trebuchet MS"/>
                <a:cs typeface="Trebuchet MS"/>
              </a:rPr>
              <a:t>e </a:t>
            </a:r>
            <a:r>
              <a:rPr dirty="0" sz="4100" spc="-1065">
                <a:latin typeface="Trebuchet MS"/>
                <a:cs typeface="Trebuchet MS"/>
              </a:rPr>
              <a:t>L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1065">
                <a:latin typeface="Trebuchet MS"/>
                <a:cs typeface="Trebuchet MS"/>
              </a:rPr>
              <a:t>e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065">
                <a:latin typeface="Trebuchet MS"/>
                <a:cs typeface="Trebuchet MS"/>
              </a:rPr>
              <a:t>a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065">
                <a:latin typeface="Trebuchet MS"/>
                <a:cs typeface="Trebuchet MS"/>
              </a:rPr>
              <a:t>r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065">
                <a:latin typeface="Trebuchet MS"/>
                <a:cs typeface="Trebuchet MS"/>
              </a:rPr>
              <a:t>n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65">
                <a:latin typeface="Trebuchet MS"/>
                <a:cs typeface="Trebuchet MS"/>
              </a:rPr>
              <a:t>i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065">
                <a:latin typeface="Trebuchet MS"/>
                <a:cs typeface="Trebuchet MS"/>
              </a:rPr>
              <a:t>n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065">
                <a:latin typeface="Trebuchet MS"/>
                <a:cs typeface="Trebuchet MS"/>
              </a:rPr>
              <a:t>g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4100" spc="-1065">
                <a:latin typeface="Trebuchet MS"/>
                <a:cs typeface="Trebuchet MS"/>
              </a:rPr>
              <a:t>)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) </a:t>
            </a:r>
            <a:r>
              <a:rPr dirty="0" sz="4100" spc="-1100">
                <a:latin typeface="Trebuchet MS"/>
                <a:cs typeface="Trebuchet MS"/>
              </a:rPr>
              <a:t>M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100">
                <a:latin typeface="Trebuchet MS"/>
                <a:cs typeface="Trebuchet MS"/>
              </a:rPr>
              <a:t>o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00">
                <a:latin typeface="Trebuchet MS"/>
                <a:cs typeface="Trebuchet MS"/>
              </a:rPr>
              <a:t>d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00">
                <a:latin typeface="Trebuchet MS"/>
                <a:cs typeface="Trebuchet MS"/>
              </a:rPr>
              <a:t>e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00">
                <a:latin typeface="Trebuchet MS"/>
                <a:cs typeface="Trebuchet MS"/>
              </a:rPr>
              <a:t>l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1100">
                <a:latin typeface="Trebuchet MS"/>
                <a:cs typeface="Trebuchet MS"/>
              </a:rPr>
              <a:t>i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00">
                <a:latin typeface="Trebuchet MS"/>
                <a:cs typeface="Trebuchet MS"/>
              </a:rPr>
              <a:t>n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00">
                <a:latin typeface="Trebuchet MS"/>
                <a:cs typeface="Trebuchet MS"/>
              </a:rPr>
              <a:t>g</a:t>
            </a:r>
            <a:r>
              <a:rPr dirty="0" sz="4100" spc="-1100">
                <a:solidFill>
                  <a:srgbClr val="FFFFFF"/>
                </a:solidFill>
                <a:latin typeface="Trebuchet MS"/>
                <a:cs typeface="Trebuchet MS"/>
              </a:rPr>
              <a:t>g  </a:t>
            </a:r>
            <a:r>
              <a:rPr dirty="0" sz="4100" spc="-1065">
                <a:latin typeface="Trebuchet MS"/>
                <a:cs typeface="Trebuchet MS"/>
              </a:rPr>
              <a:t>C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065">
                <a:latin typeface="Trebuchet MS"/>
                <a:cs typeface="Trebuchet MS"/>
              </a:rPr>
              <a:t>u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065">
                <a:latin typeface="Trebuchet MS"/>
                <a:cs typeface="Trebuchet MS"/>
              </a:rPr>
              <a:t>l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1065">
                <a:latin typeface="Trebuchet MS"/>
                <a:cs typeface="Trebuchet MS"/>
              </a:rPr>
              <a:t>t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065">
                <a:latin typeface="Trebuchet MS"/>
                <a:cs typeface="Trebuchet MS"/>
              </a:rPr>
              <a:t>u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065">
                <a:latin typeface="Trebuchet MS"/>
                <a:cs typeface="Trebuchet MS"/>
              </a:rPr>
              <a:t>r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re</a:t>
            </a:r>
            <a:r>
              <a:rPr dirty="0" sz="4100" spc="-1065">
                <a:latin typeface="Trebuchet MS"/>
                <a:cs typeface="Trebuchet MS"/>
              </a:rPr>
              <a:t>es</a:t>
            </a:r>
            <a:r>
              <a:rPr dirty="0" sz="4100" spc="-106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4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5608" y="3406775"/>
            <a:ext cx="1381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Assumptions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149" y="3895597"/>
            <a:ext cx="4110990" cy="1768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 marR="519430" indent="-120650">
              <a:lnSpc>
                <a:spcPct val="117200"/>
              </a:lnSpc>
              <a:spcBef>
                <a:spcPts val="9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Specific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stochastic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3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data- 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generating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process</a:t>
            </a:r>
            <a:endParaRPr sz="1600">
              <a:latin typeface="Arial"/>
              <a:cs typeface="Arial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Distributional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assumptions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about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229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errors</a:t>
            </a:r>
            <a:endParaRPr sz="1600">
              <a:latin typeface="Arial"/>
              <a:cs typeface="Arial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Linearities</a:t>
            </a:r>
            <a:endParaRPr sz="1600">
              <a:latin typeface="Arial"/>
              <a:cs typeface="Arial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Manual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specification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1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interactions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4155" y="3406775"/>
            <a:ext cx="1010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P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r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oblems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5255" y="3895597"/>
            <a:ext cx="3834765" cy="1673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 marR="5080" indent="-120650">
              <a:lnSpc>
                <a:spcPct val="117200"/>
              </a:lnSpc>
              <a:spcBef>
                <a:spcPts val="9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Conclusions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about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model,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600" spc="-30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about 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"nature"</a:t>
            </a:r>
            <a:endParaRPr sz="1600">
              <a:latin typeface="Arial"/>
              <a:cs typeface="Arial"/>
            </a:endParaRPr>
          </a:p>
          <a:p>
            <a:pPr marL="1327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Assumptions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often</a:t>
            </a:r>
            <a:r>
              <a:rPr dirty="0" sz="1600" spc="-1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violated</a:t>
            </a:r>
            <a:endParaRPr sz="1600">
              <a:latin typeface="Arial"/>
              <a:cs typeface="Arial"/>
            </a:endParaRPr>
          </a:p>
          <a:p>
            <a:pPr marL="132715" marR="90170" indent="-120650">
              <a:lnSpc>
                <a:spcPct val="121100"/>
              </a:lnSpc>
              <a:spcBef>
                <a:spcPts val="750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Often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evaluation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(no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focus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on 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prediction)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70281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Statistical </a:t>
            </a:r>
            <a:r>
              <a:rPr dirty="0" spc="-125"/>
              <a:t>Modeling</a:t>
            </a:r>
            <a:r>
              <a:rPr dirty="0" spc="-350"/>
              <a:t> </a:t>
            </a:r>
            <a:r>
              <a:rPr dirty="0" spc="-229"/>
              <a:t>Culture</a:t>
            </a:r>
          </a:p>
        </p:txBody>
      </p:sp>
      <p:sp>
        <p:nvSpPr>
          <p:cNvPr id="7" name="object 7"/>
          <p:cNvSpPr/>
          <p:nvPr/>
        </p:nvSpPr>
        <p:spPr>
          <a:xfrm>
            <a:off x="4558326" y="2063528"/>
            <a:ext cx="2368274" cy="11124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1425575"/>
            <a:ext cx="9674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stochastic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data-generating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process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form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of: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600" spc="38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Tahoma"/>
                <a:cs typeface="Tahoma"/>
              </a:rPr>
              <a:t>=</a:t>
            </a:r>
            <a:r>
              <a:rPr dirty="0" sz="1800" spc="-60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240" i="1">
                <a:solidFill>
                  <a:srgbClr val="585D60"/>
                </a:solidFill>
                <a:latin typeface="Arial"/>
                <a:cs typeface="Arial"/>
              </a:rPr>
              <a:t>f</a:t>
            </a:r>
            <a:r>
              <a:rPr dirty="0" sz="1800" spc="240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24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800" spc="240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3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95" i="1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800" spc="95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3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15" i="1">
                <a:solidFill>
                  <a:srgbClr val="585D60"/>
                </a:solidFill>
                <a:latin typeface="Arial"/>
                <a:cs typeface="Arial"/>
              </a:rPr>
              <a:t>ϵ</a:t>
            </a:r>
            <a:r>
              <a:rPr dirty="0" sz="1800" spc="15">
                <a:solidFill>
                  <a:srgbClr val="585D60"/>
                </a:solidFill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6176962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186487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19824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1700" y="6274743"/>
            <a:ext cx="533590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Source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Molnar.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(2014).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Statistical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Modeling:</a:t>
            </a:r>
            <a:r>
              <a:rPr dirty="0" sz="850" spc="-4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The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Two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Cultures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7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-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Based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Leo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Breiman's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paper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5608" y="3816350"/>
            <a:ext cx="1381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Assumptions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149" y="4305172"/>
            <a:ext cx="4083685" cy="156845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32715" marR="5080" indent="-120650">
              <a:lnSpc>
                <a:spcPct val="119100"/>
              </a:lnSpc>
              <a:spcBef>
                <a:spcPts val="60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No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assumptions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about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2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data-generating 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process (true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mechanism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generating</a:t>
            </a:r>
            <a:r>
              <a:rPr dirty="0" sz="1600" spc="-3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unknown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direct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interest).</a:t>
            </a:r>
            <a:endParaRPr sz="1600">
              <a:latin typeface="Arial"/>
              <a:cs typeface="Arial"/>
            </a:endParaRPr>
          </a:p>
          <a:p>
            <a:pPr algn="just" marL="132715" marR="194310" indent="-120650">
              <a:lnSpc>
                <a:spcPct val="1172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assumptions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about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distribution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 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errors.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4155" y="3816350"/>
            <a:ext cx="1010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P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r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oblems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95255" y="4200397"/>
            <a:ext cx="3723640" cy="13874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32715" indent="-120650">
              <a:lnSpc>
                <a:spcPct val="100000"/>
              </a:lnSpc>
              <a:spcBef>
                <a:spcPts val="1250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-5">
                <a:solidFill>
                  <a:srgbClr val="585D60"/>
                </a:solidFill>
                <a:latin typeface="Arial"/>
                <a:cs typeface="Arial"/>
              </a:rPr>
              <a:t>Some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models </a:t>
            </a: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"black</a:t>
            </a:r>
            <a:r>
              <a:rPr dirty="0" sz="1600" spc="-2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boxes".</a:t>
            </a:r>
            <a:endParaRPr sz="1600">
              <a:latin typeface="Arial"/>
              <a:cs typeface="Arial"/>
            </a:endParaRPr>
          </a:p>
          <a:p>
            <a:pPr marL="132715" marR="5080" indent="-120650">
              <a:lnSpc>
                <a:spcPct val="119100"/>
              </a:lnSpc>
              <a:spcBef>
                <a:spcPts val="790"/>
              </a:spcBef>
              <a:buClr>
                <a:srgbClr val="C2132D"/>
              </a:buClr>
              <a:buFont typeface="Trebuchet MS"/>
              <a:buChar char="•"/>
              <a:tabLst>
                <a:tab pos="133350" algn="l"/>
              </a:tabLst>
            </a:pP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Stability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guaranteed 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(and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honestly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this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also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problem in 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16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modeling).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292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Algorithmic </a:t>
            </a:r>
            <a:r>
              <a:rPr dirty="0" spc="-135"/>
              <a:t>(Machine </a:t>
            </a:r>
            <a:r>
              <a:rPr dirty="0" spc="-170"/>
              <a:t>Learning) </a:t>
            </a:r>
            <a:r>
              <a:rPr dirty="0" spc="-125"/>
              <a:t>Modeling</a:t>
            </a:r>
            <a:r>
              <a:rPr dirty="0" spc="-465"/>
              <a:t> </a:t>
            </a:r>
            <a:r>
              <a:rPr dirty="0" spc="-229"/>
              <a:t>Culture</a:t>
            </a:r>
          </a:p>
        </p:txBody>
      </p:sp>
      <p:sp>
        <p:nvSpPr>
          <p:cNvPr id="7" name="object 7"/>
          <p:cNvSpPr/>
          <p:nvPr/>
        </p:nvSpPr>
        <p:spPr>
          <a:xfrm>
            <a:off x="4617898" y="1926536"/>
            <a:ext cx="2240740" cy="1664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1425575"/>
            <a:ext cx="5648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95" i="1">
                <a:solidFill>
                  <a:srgbClr val="585D60"/>
                </a:solidFill>
                <a:latin typeface="Arial"/>
                <a:cs typeface="Arial"/>
              </a:rPr>
              <a:t>f</a:t>
            </a:r>
            <a:r>
              <a:rPr dirty="0" sz="1800" spc="195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195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800" spc="195">
                <a:solidFill>
                  <a:srgbClr val="585D60"/>
                </a:solidFill>
                <a:latin typeface="Tahoma"/>
                <a:cs typeface="Tahoma"/>
              </a:rPr>
              <a:t>)</a:t>
            </a:r>
            <a:r>
              <a:rPr dirty="0" sz="1800" spc="-12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minimizes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loss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5" i="1">
                <a:solidFill>
                  <a:srgbClr val="585D60"/>
                </a:solidFill>
                <a:latin typeface="Arial"/>
                <a:cs typeface="Arial"/>
              </a:rPr>
              <a:t>L</a:t>
            </a:r>
            <a:r>
              <a:rPr dirty="0" sz="1800" spc="105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10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600" spc="-12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Tahoma"/>
                <a:cs typeface="Tahoma"/>
              </a:rPr>
              <a:t>,</a:t>
            </a:r>
            <a:r>
              <a:rPr dirty="0" sz="1800" spc="3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600" spc="204" i="1">
                <a:solidFill>
                  <a:srgbClr val="585D60"/>
                </a:solidFill>
                <a:latin typeface="Arial"/>
                <a:cs typeface="Arial"/>
              </a:rPr>
              <a:t>f</a:t>
            </a:r>
            <a:r>
              <a:rPr dirty="0" sz="1800" spc="204">
                <a:solidFill>
                  <a:srgbClr val="585D60"/>
                </a:solidFill>
                <a:latin typeface="Tahoma"/>
                <a:cs typeface="Tahoma"/>
              </a:rPr>
              <a:t>(</a:t>
            </a:r>
            <a:r>
              <a:rPr dirty="0" sz="1600" spc="204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sz="1800" spc="204">
                <a:solidFill>
                  <a:srgbClr val="585D60"/>
                </a:solidFill>
                <a:latin typeface="Tahoma"/>
                <a:cs typeface="Tahoma"/>
              </a:rPr>
              <a:t>))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6176962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6186487"/>
            <a:ext cx="5314950" cy="0"/>
          </a:xfrm>
          <a:custGeom>
            <a:avLst/>
            <a:gdLst/>
            <a:ahLst/>
            <a:cxnLst/>
            <a:rect l="l" t="t" r="r" b="b"/>
            <a:pathLst>
              <a:path w="5314950" h="0">
                <a:moveTo>
                  <a:pt x="0" y="0"/>
                </a:moveTo>
                <a:lnTo>
                  <a:pt x="53149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19824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1700" y="6274743"/>
            <a:ext cx="533590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 b="1">
                <a:solidFill>
                  <a:srgbClr val="C2132D"/>
                </a:solidFill>
                <a:latin typeface="Trebuchet MS"/>
                <a:cs typeface="Trebuchet MS"/>
              </a:rPr>
              <a:t>Source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Molnar.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(2014).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Statistical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Modeling:</a:t>
            </a:r>
            <a:r>
              <a:rPr dirty="0" sz="850" spc="-4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The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Two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Cultures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7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-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Based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Leo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Breiman's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paper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5138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Statistical </a:t>
            </a:r>
            <a:r>
              <a:rPr dirty="0" spc="-160"/>
              <a:t>Modeling: </a:t>
            </a:r>
            <a:r>
              <a:rPr dirty="0" spc="-215"/>
              <a:t>The </a:t>
            </a:r>
            <a:r>
              <a:rPr dirty="0" spc="-229"/>
              <a:t>Two</a:t>
            </a:r>
            <a:r>
              <a:rPr dirty="0" spc="-560"/>
              <a:t> </a:t>
            </a:r>
            <a:r>
              <a:rPr dirty="0" spc="-180"/>
              <a:t>Cultures</a:t>
            </a:r>
          </a:p>
        </p:txBody>
      </p:sp>
      <p:sp>
        <p:nvSpPr>
          <p:cNvPr id="3" name="object 3"/>
          <p:cNvSpPr/>
          <p:nvPr/>
        </p:nvSpPr>
        <p:spPr>
          <a:xfrm>
            <a:off x="4111370" y="1537509"/>
            <a:ext cx="3204209" cy="4491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077108"/>
            <a:ext cx="917829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Note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highly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encouraged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read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Leo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Breiman's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paper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cultures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statistical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modeling.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It's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classic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must-read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anyone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interested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science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machine 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learning.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See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Breiman</a:t>
            </a:r>
            <a:r>
              <a:rPr dirty="0" sz="850" spc="-7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2001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8592" y="2752344"/>
            <a:ext cx="8122920" cy="1045844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57810">
              <a:lnSpc>
                <a:spcPct val="100000"/>
              </a:lnSpc>
              <a:spcBef>
                <a:spcPts val="1150"/>
              </a:spcBef>
            </a:pPr>
            <a:r>
              <a:rPr dirty="0" sz="4100" spc="-1210">
                <a:solidFill>
                  <a:srgbClr val="000000"/>
                </a:solidFill>
              </a:rPr>
              <a:t>A</a:t>
            </a:r>
            <a:r>
              <a:rPr dirty="0" sz="4100" spc="-1210">
                <a:solidFill>
                  <a:srgbClr val="FFFFFF"/>
                </a:solidFill>
              </a:rPr>
              <a:t>A</a:t>
            </a:r>
            <a:r>
              <a:rPr dirty="0" sz="4100" spc="-1210">
                <a:solidFill>
                  <a:srgbClr val="000000"/>
                </a:solidFill>
              </a:rPr>
              <a:t>d</a:t>
            </a:r>
            <a:r>
              <a:rPr dirty="0" sz="4100" spc="-1210">
                <a:solidFill>
                  <a:srgbClr val="FFFFFF"/>
                </a:solidFill>
              </a:rPr>
              <a:t>d</a:t>
            </a:r>
            <a:r>
              <a:rPr dirty="0" sz="4100" spc="-1210">
                <a:solidFill>
                  <a:srgbClr val="000000"/>
                </a:solidFill>
              </a:rPr>
              <a:t>v</a:t>
            </a:r>
            <a:r>
              <a:rPr dirty="0" sz="4100" spc="-1210">
                <a:solidFill>
                  <a:srgbClr val="FFFFFF"/>
                </a:solidFill>
              </a:rPr>
              <a:t>v</a:t>
            </a:r>
            <a:r>
              <a:rPr dirty="0" sz="4100" spc="-1210">
                <a:solidFill>
                  <a:srgbClr val="000000"/>
                </a:solidFill>
              </a:rPr>
              <a:t>a</a:t>
            </a:r>
            <a:r>
              <a:rPr dirty="0" sz="4100" spc="-1210">
                <a:solidFill>
                  <a:srgbClr val="FFFFFF"/>
                </a:solidFill>
              </a:rPr>
              <a:t>a</a:t>
            </a:r>
            <a:r>
              <a:rPr dirty="0" sz="4100" spc="-1210">
                <a:solidFill>
                  <a:srgbClr val="000000"/>
                </a:solidFill>
              </a:rPr>
              <a:t>n</a:t>
            </a:r>
            <a:r>
              <a:rPr dirty="0" sz="4100" spc="-1210">
                <a:solidFill>
                  <a:srgbClr val="FFFFFF"/>
                </a:solidFill>
              </a:rPr>
              <a:t>n</a:t>
            </a:r>
            <a:r>
              <a:rPr dirty="0" sz="4100" spc="-1210">
                <a:solidFill>
                  <a:srgbClr val="000000"/>
                </a:solidFill>
              </a:rPr>
              <a:t>c</a:t>
            </a:r>
            <a:r>
              <a:rPr dirty="0" sz="4100" spc="-1210">
                <a:solidFill>
                  <a:srgbClr val="FFFFFF"/>
                </a:solidFill>
              </a:rPr>
              <a:t>c</a:t>
            </a:r>
            <a:r>
              <a:rPr dirty="0" sz="4100" spc="-1210">
                <a:solidFill>
                  <a:srgbClr val="000000"/>
                </a:solidFill>
              </a:rPr>
              <a:t>e</a:t>
            </a:r>
            <a:r>
              <a:rPr dirty="0" sz="4100" spc="-1210">
                <a:solidFill>
                  <a:srgbClr val="FFFFFF"/>
                </a:solidFill>
              </a:rPr>
              <a:t>e</a:t>
            </a:r>
            <a:r>
              <a:rPr dirty="0" sz="4100" spc="-1210">
                <a:solidFill>
                  <a:srgbClr val="000000"/>
                </a:solidFill>
              </a:rPr>
              <a:t>d</a:t>
            </a:r>
            <a:r>
              <a:rPr dirty="0" sz="4100" spc="-1210">
                <a:solidFill>
                  <a:srgbClr val="FFFFFF"/>
                </a:solidFill>
              </a:rPr>
              <a:t>d </a:t>
            </a:r>
            <a:r>
              <a:rPr dirty="0" sz="4100" spc="-1145">
                <a:solidFill>
                  <a:srgbClr val="000000"/>
                </a:solidFill>
              </a:rPr>
              <a:t>T</a:t>
            </a:r>
            <a:r>
              <a:rPr dirty="0" sz="4100" spc="-1145">
                <a:solidFill>
                  <a:srgbClr val="FFFFFF"/>
                </a:solidFill>
              </a:rPr>
              <a:t>T</a:t>
            </a:r>
            <a:r>
              <a:rPr dirty="0" sz="4100" spc="-1145">
                <a:solidFill>
                  <a:srgbClr val="000000"/>
                </a:solidFill>
              </a:rPr>
              <a:t>e</a:t>
            </a:r>
            <a:r>
              <a:rPr dirty="0" sz="4100" spc="-1145">
                <a:solidFill>
                  <a:srgbClr val="FFFFFF"/>
                </a:solidFill>
              </a:rPr>
              <a:t>e</a:t>
            </a:r>
            <a:r>
              <a:rPr dirty="0" sz="4100" spc="-1145">
                <a:solidFill>
                  <a:srgbClr val="000000"/>
                </a:solidFill>
              </a:rPr>
              <a:t>c</a:t>
            </a:r>
            <a:r>
              <a:rPr dirty="0" sz="4100" spc="-1145">
                <a:solidFill>
                  <a:srgbClr val="FFFFFF"/>
                </a:solidFill>
              </a:rPr>
              <a:t>c</a:t>
            </a:r>
            <a:r>
              <a:rPr dirty="0" sz="4100" spc="-1145">
                <a:solidFill>
                  <a:srgbClr val="000000"/>
                </a:solidFill>
              </a:rPr>
              <a:t>h</a:t>
            </a:r>
            <a:r>
              <a:rPr dirty="0" sz="4100" spc="-1145">
                <a:solidFill>
                  <a:srgbClr val="FFFFFF"/>
                </a:solidFill>
              </a:rPr>
              <a:t>h</a:t>
            </a:r>
            <a:r>
              <a:rPr dirty="0" sz="4100" spc="-1145">
                <a:solidFill>
                  <a:srgbClr val="000000"/>
                </a:solidFill>
              </a:rPr>
              <a:t>n</a:t>
            </a:r>
            <a:r>
              <a:rPr dirty="0" sz="4100" spc="-1145">
                <a:solidFill>
                  <a:srgbClr val="FFFFFF"/>
                </a:solidFill>
              </a:rPr>
              <a:t>n</a:t>
            </a:r>
            <a:r>
              <a:rPr dirty="0" sz="4100" spc="-1145">
                <a:solidFill>
                  <a:srgbClr val="000000"/>
                </a:solidFill>
              </a:rPr>
              <a:t>i</a:t>
            </a:r>
            <a:r>
              <a:rPr dirty="0" sz="4100" spc="-1145">
                <a:solidFill>
                  <a:srgbClr val="FFFFFF"/>
                </a:solidFill>
              </a:rPr>
              <a:t>i</a:t>
            </a:r>
            <a:r>
              <a:rPr dirty="0" sz="4100" spc="-1145">
                <a:solidFill>
                  <a:srgbClr val="000000"/>
                </a:solidFill>
              </a:rPr>
              <a:t>q</a:t>
            </a:r>
            <a:r>
              <a:rPr dirty="0" sz="4100" spc="-1145">
                <a:solidFill>
                  <a:srgbClr val="FFFFFF"/>
                </a:solidFill>
              </a:rPr>
              <a:t>q</a:t>
            </a:r>
            <a:r>
              <a:rPr dirty="0" sz="4100" spc="-1145">
                <a:solidFill>
                  <a:srgbClr val="000000"/>
                </a:solidFill>
              </a:rPr>
              <a:t>u</a:t>
            </a:r>
            <a:r>
              <a:rPr dirty="0" sz="4100" spc="-1145">
                <a:solidFill>
                  <a:srgbClr val="FFFFFF"/>
                </a:solidFill>
              </a:rPr>
              <a:t>u</a:t>
            </a:r>
            <a:r>
              <a:rPr dirty="0" sz="4100" spc="-1145">
                <a:solidFill>
                  <a:srgbClr val="000000"/>
                </a:solidFill>
              </a:rPr>
              <a:t>e</a:t>
            </a:r>
            <a:r>
              <a:rPr dirty="0" sz="4100" spc="-1145">
                <a:solidFill>
                  <a:srgbClr val="FFFFFF"/>
                </a:solidFill>
              </a:rPr>
              <a:t>e</a:t>
            </a:r>
            <a:r>
              <a:rPr dirty="0" sz="4100" spc="-1145">
                <a:solidFill>
                  <a:srgbClr val="000000"/>
                </a:solidFill>
              </a:rPr>
              <a:t>s</a:t>
            </a:r>
            <a:r>
              <a:rPr dirty="0" sz="4100" spc="-1145">
                <a:solidFill>
                  <a:srgbClr val="FFFFFF"/>
                </a:solidFill>
              </a:rPr>
              <a:t>s </a:t>
            </a:r>
            <a:r>
              <a:rPr dirty="0" sz="4100" spc="-1000">
                <a:solidFill>
                  <a:srgbClr val="000000"/>
                </a:solidFill>
              </a:rPr>
              <a:t>f</a:t>
            </a:r>
            <a:r>
              <a:rPr dirty="0" sz="4100" spc="-1000">
                <a:solidFill>
                  <a:srgbClr val="FFFFFF"/>
                </a:solidFill>
              </a:rPr>
              <a:t>f</a:t>
            </a:r>
            <a:r>
              <a:rPr dirty="0" sz="4100" spc="-1000">
                <a:solidFill>
                  <a:srgbClr val="000000"/>
                </a:solidFill>
              </a:rPr>
              <a:t>o</a:t>
            </a:r>
            <a:r>
              <a:rPr dirty="0" sz="4100" spc="-1000">
                <a:solidFill>
                  <a:srgbClr val="FFFFFF"/>
                </a:solidFill>
              </a:rPr>
              <a:t>o</a:t>
            </a:r>
            <a:r>
              <a:rPr dirty="0" sz="4100" spc="-1000">
                <a:solidFill>
                  <a:srgbClr val="000000"/>
                </a:solidFill>
              </a:rPr>
              <a:t>r</a:t>
            </a:r>
            <a:r>
              <a:rPr dirty="0" sz="4100" spc="-1000">
                <a:solidFill>
                  <a:srgbClr val="FFFFFF"/>
                </a:solidFill>
              </a:rPr>
              <a:t>r </a:t>
            </a:r>
            <a:r>
              <a:rPr dirty="0" sz="4100" spc="-1045">
                <a:solidFill>
                  <a:srgbClr val="000000"/>
                </a:solidFill>
              </a:rPr>
              <a:t>R</a:t>
            </a:r>
            <a:r>
              <a:rPr dirty="0" sz="4100" spc="-1045">
                <a:solidFill>
                  <a:srgbClr val="FFFFFF"/>
                </a:solidFill>
              </a:rPr>
              <a:t>R</a:t>
            </a:r>
            <a:r>
              <a:rPr dirty="0" sz="4100" spc="-1045">
                <a:solidFill>
                  <a:srgbClr val="000000"/>
                </a:solidFill>
              </a:rPr>
              <a:t>e</a:t>
            </a:r>
            <a:r>
              <a:rPr dirty="0" sz="4100" spc="-1045">
                <a:solidFill>
                  <a:srgbClr val="FFFFFF"/>
                </a:solidFill>
              </a:rPr>
              <a:t>e</a:t>
            </a:r>
            <a:r>
              <a:rPr dirty="0" sz="4100" spc="-1045">
                <a:solidFill>
                  <a:srgbClr val="000000"/>
                </a:solidFill>
              </a:rPr>
              <a:t>g</a:t>
            </a:r>
            <a:r>
              <a:rPr dirty="0" sz="4100" spc="-1045">
                <a:solidFill>
                  <a:srgbClr val="FFFFFF"/>
                </a:solidFill>
              </a:rPr>
              <a:t>g</a:t>
            </a:r>
            <a:r>
              <a:rPr dirty="0" sz="4100" spc="-1045">
                <a:solidFill>
                  <a:srgbClr val="000000"/>
                </a:solidFill>
              </a:rPr>
              <a:t>r</a:t>
            </a:r>
            <a:r>
              <a:rPr dirty="0" sz="4100" spc="-1045">
                <a:solidFill>
                  <a:srgbClr val="FFFFFF"/>
                </a:solidFill>
              </a:rPr>
              <a:t>r</a:t>
            </a:r>
            <a:r>
              <a:rPr dirty="0" sz="4100" spc="-1045">
                <a:solidFill>
                  <a:srgbClr val="000000"/>
                </a:solidFill>
              </a:rPr>
              <a:t>e</a:t>
            </a:r>
            <a:r>
              <a:rPr dirty="0" sz="4100" spc="-1045">
                <a:solidFill>
                  <a:srgbClr val="FFFFFF"/>
                </a:solidFill>
              </a:rPr>
              <a:t>e</a:t>
            </a:r>
            <a:r>
              <a:rPr dirty="0" sz="4100" spc="-1045">
                <a:solidFill>
                  <a:srgbClr val="000000"/>
                </a:solidFill>
              </a:rPr>
              <a:t>s</a:t>
            </a:r>
            <a:r>
              <a:rPr dirty="0" sz="4100" spc="-1045">
                <a:solidFill>
                  <a:srgbClr val="FFFFFF"/>
                </a:solidFill>
              </a:rPr>
              <a:t>s</a:t>
            </a:r>
            <a:r>
              <a:rPr dirty="0" sz="4100" spc="-1045">
                <a:solidFill>
                  <a:srgbClr val="000000"/>
                </a:solidFill>
              </a:rPr>
              <a:t>s</a:t>
            </a:r>
            <a:r>
              <a:rPr dirty="0" sz="4100" spc="-1045">
                <a:solidFill>
                  <a:srgbClr val="FFFFFF"/>
                </a:solidFill>
              </a:rPr>
              <a:t>s</a:t>
            </a:r>
            <a:r>
              <a:rPr dirty="0" sz="4100" spc="-1045">
                <a:solidFill>
                  <a:srgbClr val="000000"/>
                </a:solidFill>
              </a:rPr>
              <a:t>i</a:t>
            </a:r>
            <a:r>
              <a:rPr dirty="0" sz="4100" spc="-1045">
                <a:solidFill>
                  <a:srgbClr val="FFFFFF"/>
                </a:solidFill>
              </a:rPr>
              <a:t>i</a:t>
            </a:r>
            <a:r>
              <a:rPr dirty="0" sz="4100" spc="-1045">
                <a:solidFill>
                  <a:srgbClr val="000000"/>
                </a:solidFill>
              </a:rPr>
              <a:t>o</a:t>
            </a:r>
            <a:r>
              <a:rPr dirty="0" sz="4100" spc="-1045">
                <a:solidFill>
                  <a:srgbClr val="FFFFFF"/>
                </a:solidFill>
              </a:rPr>
              <a:t>o</a:t>
            </a:r>
            <a:r>
              <a:rPr dirty="0" sz="4100" spc="-1045">
                <a:solidFill>
                  <a:srgbClr val="000000"/>
                </a:solidFill>
              </a:rPr>
              <a:t>n</a:t>
            </a:r>
            <a:r>
              <a:rPr dirty="0" sz="4100" spc="-1045">
                <a:solidFill>
                  <a:srgbClr val="FFFFFF"/>
                </a:solidFill>
              </a:rPr>
              <a:t>n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8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9540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Ridge</a:t>
            </a:r>
            <a:r>
              <a:rPr dirty="0" spc="-310"/>
              <a:t> </a:t>
            </a:r>
            <a:r>
              <a:rPr dirty="0" spc="-110"/>
              <a:t>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50"/>
            <a:ext cx="6972299" cy="465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683514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Albon.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(2017).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Machine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Learning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Flashcards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Flashcards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were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purchased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author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free.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0187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"/>
              <a:t>Lasso</a:t>
            </a:r>
            <a:r>
              <a:rPr dirty="0" spc="-310"/>
              <a:t> </a:t>
            </a:r>
            <a:r>
              <a:rPr dirty="0" spc="-110"/>
              <a:t>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50"/>
            <a:ext cx="6972299" cy="465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10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683514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Albon.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(2017).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Machine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Learning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Flashcards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Flashcards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were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purchased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author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free.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3872" y="2752344"/>
            <a:ext cx="7482840" cy="1045844"/>
          </a:xfrm>
          <a:prstGeom prst="rect"/>
          <a:solidFill>
            <a:srgbClr val="333333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50"/>
              </a:spcBef>
            </a:pPr>
            <a:r>
              <a:rPr dirty="0" sz="4100" spc="-1120">
                <a:solidFill>
                  <a:srgbClr val="000000"/>
                </a:solidFill>
              </a:rPr>
              <a:t>N</a:t>
            </a:r>
            <a:r>
              <a:rPr dirty="0" sz="4100" spc="-1120">
                <a:solidFill>
                  <a:srgbClr val="FFFFFF"/>
                </a:solidFill>
              </a:rPr>
              <a:t>N</a:t>
            </a:r>
            <a:r>
              <a:rPr dirty="0" sz="4100" spc="-1120">
                <a:solidFill>
                  <a:srgbClr val="000000"/>
                </a:solidFill>
              </a:rPr>
              <a:t>o</a:t>
            </a:r>
            <a:r>
              <a:rPr dirty="0" sz="4100" spc="-1120">
                <a:solidFill>
                  <a:srgbClr val="FFFFFF"/>
                </a:solidFill>
              </a:rPr>
              <a:t>o</a:t>
            </a:r>
            <a:r>
              <a:rPr dirty="0" sz="4100" spc="-1120">
                <a:solidFill>
                  <a:srgbClr val="000000"/>
                </a:solidFill>
              </a:rPr>
              <a:t>n</a:t>
            </a:r>
            <a:r>
              <a:rPr dirty="0" sz="4100" spc="-1120">
                <a:solidFill>
                  <a:srgbClr val="FFFFFF"/>
                </a:solidFill>
              </a:rPr>
              <a:t>n</a:t>
            </a:r>
            <a:r>
              <a:rPr dirty="0" sz="4100" spc="-1120">
                <a:solidFill>
                  <a:srgbClr val="000000"/>
                </a:solidFill>
              </a:rPr>
              <a:t>-</a:t>
            </a:r>
            <a:r>
              <a:rPr dirty="0" sz="4100" spc="-1120">
                <a:solidFill>
                  <a:srgbClr val="FFFFFF"/>
                </a:solidFill>
              </a:rPr>
              <a:t>-</a:t>
            </a:r>
            <a:r>
              <a:rPr dirty="0" sz="4100" spc="-1120">
                <a:solidFill>
                  <a:srgbClr val="000000"/>
                </a:solidFill>
              </a:rPr>
              <a:t>L</a:t>
            </a:r>
            <a:r>
              <a:rPr dirty="0" sz="4100" spc="-1120">
                <a:solidFill>
                  <a:srgbClr val="FFFFFF"/>
                </a:solidFill>
              </a:rPr>
              <a:t>L</a:t>
            </a:r>
            <a:r>
              <a:rPr dirty="0" sz="4100" spc="-1120">
                <a:solidFill>
                  <a:srgbClr val="000000"/>
                </a:solidFill>
              </a:rPr>
              <a:t>i</a:t>
            </a:r>
            <a:r>
              <a:rPr dirty="0" sz="4100" spc="-1120">
                <a:solidFill>
                  <a:srgbClr val="FFFFFF"/>
                </a:solidFill>
              </a:rPr>
              <a:t>i</a:t>
            </a:r>
            <a:r>
              <a:rPr dirty="0" sz="4100" spc="-1120">
                <a:solidFill>
                  <a:srgbClr val="000000"/>
                </a:solidFill>
              </a:rPr>
              <a:t>n</a:t>
            </a:r>
            <a:r>
              <a:rPr dirty="0" sz="4100" spc="-1120">
                <a:solidFill>
                  <a:srgbClr val="FFFFFF"/>
                </a:solidFill>
              </a:rPr>
              <a:t>n</a:t>
            </a:r>
            <a:r>
              <a:rPr dirty="0" sz="4100" spc="-1120">
                <a:solidFill>
                  <a:srgbClr val="000000"/>
                </a:solidFill>
              </a:rPr>
              <a:t>e</a:t>
            </a:r>
            <a:r>
              <a:rPr dirty="0" sz="4100" spc="-1120">
                <a:solidFill>
                  <a:srgbClr val="FFFFFF"/>
                </a:solidFill>
              </a:rPr>
              <a:t>e</a:t>
            </a:r>
            <a:r>
              <a:rPr dirty="0" sz="4100" spc="-1120">
                <a:solidFill>
                  <a:srgbClr val="000000"/>
                </a:solidFill>
              </a:rPr>
              <a:t>a</a:t>
            </a:r>
            <a:r>
              <a:rPr dirty="0" sz="4100" spc="-1120">
                <a:solidFill>
                  <a:srgbClr val="FFFFFF"/>
                </a:solidFill>
              </a:rPr>
              <a:t>a</a:t>
            </a:r>
            <a:r>
              <a:rPr dirty="0" sz="4100" spc="-1120">
                <a:solidFill>
                  <a:srgbClr val="000000"/>
                </a:solidFill>
              </a:rPr>
              <a:t>r</a:t>
            </a:r>
            <a:r>
              <a:rPr dirty="0" sz="4100" spc="-1120">
                <a:solidFill>
                  <a:srgbClr val="FFFFFF"/>
                </a:solidFill>
              </a:rPr>
              <a:t>r </a:t>
            </a:r>
            <a:r>
              <a:rPr dirty="0" sz="4100" spc="-1090">
                <a:solidFill>
                  <a:srgbClr val="000000"/>
                </a:solidFill>
              </a:rPr>
              <a:t>M</a:t>
            </a:r>
            <a:r>
              <a:rPr dirty="0" sz="4100" spc="-1090">
                <a:solidFill>
                  <a:srgbClr val="FFFFFF"/>
                </a:solidFill>
              </a:rPr>
              <a:t>M</a:t>
            </a:r>
            <a:r>
              <a:rPr dirty="0" sz="4100" spc="-1090">
                <a:solidFill>
                  <a:srgbClr val="000000"/>
                </a:solidFill>
              </a:rPr>
              <a:t>o</a:t>
            </a:r>
            <a:r>
              <a:rPr dirty="0" sz="4100" spc="-1090">
                <a:solidFill>
                  <a:srgbClr val="FFFFFF"/>
                </a:solidFill>
              </a:rPr>
              <a:t>o</a:t>
            </a:r>
            <a:r>
              <a:rPr dirty="0" sz="4100" spc="-1090">
                <a:solidFill>
                  <a:srgbClr val="000000"/>
                </a:solidFill>
              </a:rPr>
              <a:t>d</a:t>
            </a:r>
            <a:r>
              <a:rPr dirty="0" sz="4100" spc="-1090">
                <a:solidFill>
                  <a:srgbClr val="FFFFFF"/>
                </a:solidFill>
              </a:rPr>
              <a:t>d</a:t>
            </a:r>
            <a:r>
              <a:rPr dirty="0" sz="4100" spc="-1090">
                <a:solidFill>
                  <a:srgbClr val="000000"/>
                </a:solidFill>
              </a:rPr>
              <a:t>e</a:t>
            </a:r>
            <a:r>
              <a:rPr dirty="0" sz="4100" spc="-1090">
                <a:solidFill>
                  <a:srgbClr val="FFFFFF"/>
                </a:solidFill>
              </a:rPr>
              <a:t>e</a:t>
            </a:r>
            <a:r>
              <a:rPr dirty="0" sz="4100" spc="-1090">
                <a:solidFill>
                  <a:srgbClr val="000000"/>
                </a:solidFill>
              </a:rPr>
              <a:t>l</a:t>
            </a:r>
            <a:r>
              <a:rPr dirty="0" sz="4100" spc="-1090">
                <a:solidFill>
                  <a:srgbClr val="FFFFFF"/>
                </a:solidFill>
              </a:rPr>
              <a:t>l</a:t>
            </a:r>
            <a:r>
              <a:rPr dirty="0" sz="4100" spc="-1090">
                <a:solidFill>
                  <a:srgbClr val="000000"/>
                </a:solidFill>
              </a:rPr>
              <a:t>s</a:t>
            </a:r>
            <a:r>
              <a:rPr dirty="0" sz="4100" spc="-1090">
                <a:solidFill>
                  <a:srgbClr val="FFFFFF"/>
                </a:solidFill>
              </a:rPr>
              <a:t>s </a:t>
            </a:r>
            <a:r>
              <a:rPr dirty="0" sz="4100" spc="-1000">
                <a:solidFill>
                  <a:srgbClr val="000000"/>
                </a:solidFill>
              </a:rPr>
              <a:t>f</a:t>
            </a:r>
            <a:r>
              <a:rPr dirty="0" sz="4100" spc="-1000">
                <a:solidFill>
                  <a:srgbClr val="FFFFFF"/>
                </a:solidFill>
              </a:rPr>
              <a:t>f</a:t>
            </a:r>
            <a:r>
              <a:rPr dirty="0" sz="4100" spc="-1000">
                <a:solidFill>
                  <a:srgbClr val="000000"/>
                </a:solidFill>
              </a:rPr>
              <a:t>o</a:t>
            </a:r>
            <a:r>
              <a:rPr dirty="0" sz="4100" spc="-1000">
                <a:solidFill>
                  <a:srgbClr val="FFFFFF"/>
                </a:solidFill>
              </a:rPr>
              <a:t>o</a:t>
            </a:r>
            <a:r>
              <a:rPr dirty="0" sz="4100" spc="-1000">
                <a:solidFill>
                  <a:srgbClr val="000000"/>
                </a:solidFill>
              </a:rPr>
              <a:t>r</a:t>
            </a:r>
            <a:r>
              <a:rPr dirty="0" sz="4100" spc="-1000">
                <a:solidFill>
                  <a:srgbClr val="FFFFFF"/>
                </a:solidFill>
              </a:rPr>
              <a:t>r</a:t>
            </a:r>
            <a:r>
              <a:rPr dirty="0" sz="4100" spc="-830">
                <a:solidFill>
                  <a:srgbClr val="FFFFFF"/>
                </a:solidFill>
              </a:rPr>
              <a:t> </a:t>
            </a:r>
            <a:r>
              <a:rPr dirty="0" sz="4100" spc="-1045">
                <a:solidFill>
                  <a:srgbClr val="000000"/>
                </a:solidFill>
              </a:rPr>
              <a:t>R</a:t>
            </a:r>
            <a:r>
              <a:rPr dirty="0" sz="4100" spc="-1045">
                <a:solidFill>
                  <a:srgbClr val="FFFFFF"/>
                </a:solidFill>
              </a:rPr>
              <a:t>R</a:t>
            </a:r>
            <a:r>
              <a:rPr dirty="0" sz="4100" spc="-1045">
                <a:solidFill>
                  <a:srgbClr val="000000"/>
                </a:solidFill>
              </a:rPr>
              <a:t>e</a:t>
            </a:r>
            <a:r>
              <a:rPr dirty="0" sz="4100" spc="-1045">
                <a:solidFill>
                  <a:srgbClr val="FFFFFF"/>
                </a:solidFill>
              </a:rPr>
              <a:t>e</a:t>
            </a:r>
            <a:r>
              <a:rPr dirty="0" sz="4100" spc="-1045">
                <a:solidFill>
                  <a:srgbClr val="000000"/>
                </a:solidFill>
              </a:rPr>
              <a:t>g</a:t>
            </a:r>
            <a:r>
              <a:rPr dirty="0" sz="4100" spc="-1045">
                <a:solidFill>
                  <a:srgbClr val="FFFFFF"/>
                </a:solidFill>
              </a:rPr>
              <a:t>g</a:t>
            </a:r>
            <a:r>
              <a:rPr dirty="0" sz="4100" spc="-1045">
                <a:solidFill>
                  <a:srgbClr val="000000"/>
                </a:solidFill>
              </a:rPr>
              <a:t>r</a:t>
            </a:r>
            <a:r>
              <a:rPr dirty="0" sz="4100" spc="-1045">
                <a:solidFill>
                  <a:srgbClr val="FFFFFF"/>
                </a:solidFill>
              </a:rPr>
              <a:t>r</a:t>
            </a:r>
            <a:r>
              <a:rPr dirty="0" sz="4100" spc="-1045">
                <a:solidFill>
                  <a:srgbClr val="000000"/>
                </a:solidFill>
              </a:rPr>
              <a:t>e</a:t>
            </a:r>
            <a:r>
              <a:rPr dirty="0" sz="4100" spc="-1045">
                <a:solidFill>
                  <a:srgbClr val="FFFFFF"/>
                </a:solidFill>
              </a:rPr>
              <a:t>e</a:t>
            </a:r>
            <a:r>
              <a:rPr dirty="0" sz="4100" spc="-1045">
                <a:solidFill>
                  <a:srgbClr val="000000"/>
                </a:solidFill>
              </a:rPr>
              <a:t>s</a:t>
            </a:r>
            <a:r>
              <a:rPr dirty="0" sz="4100" spc="-1045">
                <a:solidFill>
                  <a:srgbClr val="FFFFFF"/>
                </a:solidFill>
              </a:rPr>
              <a:t>s</a:t>
            </a:r>
            <a:r>
              <a:rPr dirty="0" sz="4100" spc="-1045">
                <a:solidFill>
                  <a:srgbClr val="000000"/>
                </a:solidFill>
              </a:rPr>
              <a:t>s</a:t>
            </a:r>
            <a:r>
              <a:rPr dirty="0" sz="4100" spc="-1045">
                <a:solidFill>
                  <a:srgbClr val="FFFFFF"/>
                </a:solidFill>
              </a:rPr>
              <a:t>s</a:t>
            </a:r>
            <a:r>
              <a:rPr dirty="0" sz="4100" spc="-1045">
                <a:solidFill>
                  <a:srgbClr val="000000"/>
                </a:solidFill>
              </a:rPr>
              <a:t>i</a:t>
            </a:r>
            <a:r>
              <a:rPr dirty="0" sz="4100" spc="-1045">
                <a:solidFill>
                  <a:srgbClr val="FFFFFF"/>
                </a:solidFill>
              </a:rPr>
              <a:t>i</a:t>
            </a:r>
            <a:r>
              <a:rPr dirty="0" sz="4100" spc="-1045">
                <a:solidFill>
                  <a:srgbClr val="000000"/>
                </a:solidFill>
              </a:rPr>
              <a:t>o</a:t>
            </a:r>
            <a:r>
              <a:rPr dirty="0" sz="4100" spc="-1045">
                <a:solidFill>
                  <a:srgbClr val="FFFFFF"/>
                </a:solidFill>
              </a:rPr>
              <a:t>o</a:t>
            </a:r>
            <a:r>
              <a:rPr dirty="0" sz="4100" spc="-1045">
                <a:solidFill>
                  <a:srgbClr val="000000"/>
                </a:solidFill>
              </a:rPr>
              <a:t>n</a:t>
            </a:r>
            <a:r>
              <a:rPr dirty="0" sz="4100" spc="-1045">
                <a:solidFill>
                  <a:srgbClr val="FFFFFF"/>
                </a:solidFill>
              </a:rPr>
              <a:t>n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8957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0"/>
              <a:t>Decision </a:t>
            </a:r>
            <a:r>
              <a:rPr dirty="0" spc="-190"/>
              <a:t>Trees </a:t>
            </a:r>
            <a:r>
              <a:rPr dirty="0" spc="-135"/>
              <a:t>(Classification </a:t>
            </a:r>
            <a:r>
              <a:rPr dirty="0" spc="-180"/>
              <a:t>and </a:t>
            </a:r>
            <a:r>
              <a:rPr dirty="0" spc="-110"/>
              <a:t>Regression</a:t>
            </a:r>
            <a:r>
              <a:rPr dirty="0" spc="-710"/>
              <a:t> </a:t>
            </a:r>
            <a:r>
              <a:rPr dirty="0" spc="-185"/>
              <a:t>Trees)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50"/>
            <a:ext cx="6972299" cy="4667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683514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Albon.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(2017).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Machine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Learning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Flashcards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Flashcards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were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purchased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author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free.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8957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0"/>
              <a:t>Decision </a:t>
            </a:r>
            <a:r>
              <a:rPr dirty="0" spc="-190"/>
              <a:t>Trees </a:t>
            </a:r>
            <a:r>
              <a:rPr dirty="0" spc="-135"/>
              <a:t>(Classification </a:t>
            </a:r>
            <a:r>
              <a:rPr dirty="0" spc="-180"/>
              <a:t>and </a:t>
            </a:r>
            <a:r>
              <a:rPr dirty="0" spc="-110"/>
              <a:t>Regression</a:t>
            </a:r>
            <a:r>
              <a:rPr dirty="0" spc="-710"/>
              <a:t> </a:t>
            </a:r>
            <a:r>
              <a:rPr dirty="0" spc="-185"/>
              <a:t>Trees)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50"/>
            <a:ext cx="6972299" cy="465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683514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Albon.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(2017).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Machine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Learning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Flashcards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Flashcards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were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purchased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author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free.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7774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5"/>
              <a:t>Random</a:t>
            </a:r>
            <a:r>
              <a:rPr dirty="0" spc="-300"/>
              <a:t> </a:t>
            </a:r>
            <a:r>
              <a:rPr dirty="0" spc="-114"/>
              <a:t>Forests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49"/>
            <a:ext cx="6651398" cy="4438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2876550" cy="0"/>
          </a:xfrm>
          <a:custGeom>
            <a:avLst/>
            <a:gdLst/>
            <a:ahLst/>
            <a:cxnLst/>
            <a:rect l="l" t="t" r="r" b="b"/>
            <a:pathLst>
              <a:path w="2876550" h="0">
                <a:moveTo>
                  <a:pt x="0" y="0"/>
                </a:moveTo>
                <a:lnTo>
                  <a:pt x="28765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2876550" cy="0"/>
          </a:xfrm>
          <a:custGeom>
            <a:avLst/>
            <a:gdLst/>
            <a:ahLst/>
            <a:cxnLst/>
            <a:rect l="l" t="t" r="r" b="b"/>
            <a:pathLst>
              <a:path w="2876550" h="0">
                <a:moveTo>
                  <a:pt x="0" y="0"/>
                </a:moveTo>
                <a:lnTo>
                  <a:pt x="28765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8142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290449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4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Chaya.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(2020).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4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Random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Forest</a:t>
            </a:r>
            <a:r>
              <a:rPr dirty="0" sz="850" spc="-4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Regression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27774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5"/>
              <a:t>Random</a:t>
            </a:r>
            <a:r>
              <a:rPr dirty="0" spc="-300"/>
              <a:t> </a:t>
            </a:r>
            <a:r>
              <a:rPr dirty="0" spc="-114"/>
              <a:t>Forests</a:t>
            </a:r>
          </a:p>
        </p:txBody>
      </p:sp>
      <p:sp>
        <p:nvSpPr>
          <p:cNvPr id="3" name="object 3"/>
          <p:cNvSpPr/>
          <p:nvPr/>
        </p:nvSpPr>
        <p:spPr>
          <a:xfrm>
            <a:off x="2276475" y="1428750"/>
            <a:ext cx="6972299" cy="465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6810375" cy="0"/>
          </a:xfrm>
          <a:custGeom>
            <a:avLst/>
            <a:gdLst/>
            <a:ahLst/>
            <a:cxnLst/>
            <a:rect l="l" t="t" r="r" b="b"/>
            <a:pathLst>
              <a:path w="6810375" h="0">
                <a:moveTo>
                  <a:pt x="0" y="0"/>
                </a:moveTo>
                <a:lnTo>
                  <a:pt x="68103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683514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25" b="1">
                <a:solidFill>
                  <a:srgbClr val="C2132D"/>
                </a:solidFill>
                <a:latin typeface="Trebuchet MS"/>
                <a:cs typeface="Trebuchet MS"/>
              </a:rPr>
              <a:t>Image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b="1">
                <a:solidFill>
                  <a:srgbClr val="C2132D"/>
                </a:solidFill>
                <a:latin typeface="Trebuchet MS"/>
                <a:cs typeface="Trebuchet MS"/>
              </a:rPr>
              <a:t>Source:</a:t>
            </a:r>
            <a:r>
              <a:rPr dirty="0" sz="850" spc="-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Chris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Albon.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(2017).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Machine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Learning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Flashcards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Flashcards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were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purchased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author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free.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2664" y="2758440"/>
            <a:ext cx="8503920" cy="1042669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105"/>
              </a:spcBef>
            </a:pPr>
            <a:r>
              <a:rPr dirty="0" sz="4100" spc="-1025">
                <a:solidFill>
                  <a:srgbClr val="000000"/>
                </a:solidFill>
              </a:rPr>
              <a:t>A</a:t>
            </a:r>
            <a:r>
              <a:rPr dirty="0" sz="4100" spc="-1025">
                <a:solidFill>
                  <a:srgbClr val="FFFFFF"/>
                </a:solidFill>
              </a:rPr>
              <a:t>A</a:t>
            </a:r>
            <a:r>
              <a:rPr dirty="0" sz="4100" spc="-1025">
                <a:solidFill>
                  <a:srgbClr val="000000"/>
                </a:solidFill>
              </a:rPr>
              <a:t>p</a:t>
            </a:r>
            <a:r>
              <a:rPr dirty="0" sz="4100" spc="-1025">
                <a:solidFill>
                  <a:srgbClr val="FFFFFF"/>
                </a:solidFill>
              </a:rPr>
              <a:t>p</a:t>
            </a:r>
            <a:r>
              <a:rPr dirty="0" sz="4100" spc="-1025">
                <a:solidFill>
                  <a:srgbClr val="000000"/>
                </a:solidFill>
              </a:rPr>
              <a:t>p</a:t>
            </a:r>
            <a:r>
              <a:rPr dirty="0" sz="4100" spc="-1025">
                <a:solidFill>
                  <a:srgbClr val="FFFFFF"/>
                </a:solidFill>
              </a:rPr>
              <a:t>p</a:t>
            </a:r>
            <a:r>
              <a:rPr dirty="0" sz="4100" spc="-1025">
                <a:solidFill>
                  <a:srgbClr val="000000"/>
                </a:solidFill>
              </a:rPr>
              <a:t>l</a:t>
            </a:r>
            <a:r>
              <a:rPr dirty="0" sz="4100" spc="-1025">
                <a:solidFill>
                  <a:srgbClr val="FFFFFF"/>
                </a:solidFill>
              </a:rPr>
              <a:t>l</a:t>
            </a:r>
            <a:r>
              <a:rPr dirty="0" sz="4100" spc="-1025">
                <a:solidFill>
                  <a:srgbClr val="000000"/>
                </a:solidFill>
              </a:rPr>
              <a:t>i</a:t>
            </a:r>
            <a:r>
              <a:rPr dirty="0" sz="4100" spc="-1025">
                <a:solidFill>
                  <a:srgbClr val="FFFFFF"/>
                </a:solidFill>
              </a:rPr>
              <a:t>i</a:t>
            </a:r>
            <a:r>
              <a:rPr dirty="0" sz="4100" spc="-1025">
                <a:solidFill>
                  <a:srgbClr val="000000"/>
                </a:solidFill>
              </a:rPr>
              <a:t>c</a:t>
            </a:r>
            <a:r>
              <a:rPr dirty="0" sz="4100" spc="-1025">
                <a:solidFill>
                  <a:srgbClr val="FFFFFF"/>
                </a:solidFill>
              </a:rPr>
              <a:t>c</a:t>
            </a:r>
            <a:r>
              <a:rPr dirty="0" sz="4100" spc="-1025">
                <a:solidFill>
                  <a:srgbClr val="000000"/>
                </a:solidFill>
              </a:rPr>
              <a:t>a</a:t>
            </a:r>
            <a:r>
              <a:rPr dirty="0" sz="4100" spc="-1025">
                <a:solidFill>
                  <a:srgbClr val="FFFFFF"/>
                </a:solidFill>
              </a:rPr>
              <a:t>a</a:t>
            </a:r>
            <a:r>
              <a:rPr dirty="0" sz="4100" spc="-1025">
                <a:solidFill>
                  <a:srgbClr val="000000"/>
                </a:solidFill>
              </a:rPr>
              <a:t>t</a:t>
            </a:r>
            <a:r>
              <a:rPr dirty="0" sz="4100" spc="-1025">
                <a:solidFill>
                  <a:srgbClr val="FFFFFF"/>
                </a:solidFill>
              </a:rPr>
              <a:t>t</a:t>
            </a:r>
            <a:r>
              <a:rPr dirty="0" sz="4100" spc="-1025">
                <a:solidFill>
                  <a:srgbClr val="000000"/>
                </a:solidFill>
              </a:rPr>
              <a:t>i</a:t>
            </a:r>
            <a:r>
              <a:rPr dirty="0" sz="4100" spc="-1025">
                <a:solidFill>
                  <a:srgbClr val="FFFFFF"/>
                </a:solidFill>
              </a:rPr>
              <a:t>i</a:t>
            </a:r>
            <a:r>
              <a:rPr dirty="0" sz="4100" spc="-1025">
                <a:solidFill>
                  <a:srgbClr val="000000"/>
                </a:solidFill>
              </a:rPr>
              <a:t>o</a:t>
            </a:r>
            <a:r>
              <a:rPr dirty="0" sz="4100" spc="-1025">
                <a:solidFill>
                  <a:srgbClr val="FFFFFF"/>
                </a:solidFill>
              </a:rPr>
              <a:t>o</a:t>
            </a:r>
            <a:r>
              <a:rPr dirty="0" sz="4100" spc="-1025">
                <a:solidFill>
                  <a:srgbClr val="000000"/>
                </a:solidFill>
              </a:rPr>
              <a:t>n</a:t>
            </a:r>
            <a:r>
              <a:rPr dirty="0" sz="4100" spc="-1025">
                <a:solidFill>
                  <a:srgbClr val="FFFFFF"/>
                </a:solidFill>
              </a:rPr>
              <a:t>n</a:t>
            </a:r>
            <a:r>
              <a:rPr dirty="0" sz="4100" spc="-1025">
                <a:solidFill>
                  <a:srgbClr val="000000"/>
                </a:solidFill>
              </a:rPr>
              <a:t>s</a:t>
            </a:r>
            <a:r>
              <a:rPr dirty="0" sz="4100" spc="-1025">
                <a:solidFill>
                  <a:srgbClr val="FFFFFF"/>
                </a:solidFill>
              </a:rPr>
              <a:t>s </a:t>
            </a:r>
            <a:r>
              <a:rPr dirty="0" sz="4100" spc="-1105">
                <a:solidFill>
                  <a:srgbClr val="000000"/>
                </a:solidFill>
              </a:rPr>
              <a:t>t</a:t>
            </a:r>
            <a:r>
              <a:rPr dirty="0" sz="4100" spc="-1105">
                <a:solidFill>
                  <a:srgbClr val="FFFFFF"/>
                </a:solidFill>
              </a:rPr>
              <a:t>t</a:t>
            </a:r>
            <a:r>
              <a:rPr dirty="0" sz="4100" spc="-1105">
                <a:solidFill>
                  <a:srgbClr val="000000"/>
                </a:solidFill>
              </a:rPr>
              <a:t>o</a:t>
            </a:r>
            <a:r>
              <a:rPr dirty="0" sz="4100" spc="-1105">
                <a:solidFill>
                  <a:srgbClr val="FFFFFF"/>
                </a:solidFill>
              </a:rPr>
              <a:t>o </a:t>
            </a:r>
            <a:r>
              <a:rPr dirty="0" sz="4100" spc="-1090">
                <a:solidFill>
                  <a:srgbClr val="000000"/>
                </a:solidFill>
              </a:rPr>
              <a:t>C</a:t>
            </a:r>
            <a:r>
              <a:rPr dirty="0" sz="4100" spc="-1090">
                <a:solidFill>
                  <a:srgbClr val="FFFFFF"/>
                </a:solidFill>
              </a:rPr>
              <a:t>C</a:t>
            </a:r>
            <a:r>
              <a:rPr dirty="0" sz="4100" spc="-1090">
                <a:solidFill>
                  <a:srgbClr val="000000"/>
                </a:solidFill>
              </a:rPr>
              <a:t>y</a:t>
            </a:r>
            <a:r>
              <a:rPr dirty="0" sz="4100" spc="-1090">
                <a:solidFill>
                  <a:srgbClr val="FFFFFF"/>
                </a:solidFill>
              </a:rPr>
              <a:t>y</a:t>
            </a:r>
            <a:r>
              <a:rPr dirty="0" sz="4100" spc="-1090">
                <a:solidFill>
                  <a:srgbClr val="000000"/>
                </a:solidFill>
              </a:rPr>
              <a:t>b</a:t>
            </a:r>
            <a:r>
              <a:rPr dirty="0" sz="4100" spc="-1090">
                <a:solidFill>
                  <a:srgbClr val="FFFFFF"/>
                </a:solidFill>
              </a:rPr>
              <a:t>b</a:t>
            </a:r>
            <a:r>
              <a:rPr dirty="0" sz="4100" spc="-1090">
                <a:solidFill>
                  <a:srgbClr val="000000"/>
                </a:solidFill>
              </a:rPr>
              <a:t>e</a:t>
            </a:r>
            <a:r>
              <a:rPr dirty="0" sz="4100" spc="-1090">
                <a:solidFill>
                  <a:srgbClr val="FFFFFF"/>
                </a:solidFill>
              </a:rPr>
              <a:t>e</a:t>
            </a:r>
            <a:r>
              <a:rPr dirty="0" sz="4100" spc="-1090">
                <a:solidFill>
                  <a:srgbClr val="000000"/>
                </a:solidFill>
              </a:rPr>
              <a:t>r</a:t>
            </a:r>
            <a:r>
              <a:rPr dirty="0" sz="4100" spc="-1090">
                <a:solidFill>
                  <a:srgbClr val="FFFFFF"/>
                </a:solidFill>
              </a:rPr>
              <a:t>r</a:t>
            </a:r>
            <a:r>
              <a:rPr dirty="0" sz="4100" spc="-1090">
                <a:solidFill>
                  <a:srgbClr val="000000"/>
                </a:solidFill>
              </a:rPr>
              <a:t>s</a:t>
            </a:r>
            <a:r>
              <a:rPr dirty="0" sz="4100" spc="-1090">
                <a:solidFill>
                  <a:srgbClr val="FFFFFF"/>
                </a:solidFill>
              </a:rPr>
              <a:t>s</a:t>
            </a:r>
            <a:r>
              <a:rPr dirty="0" sz="4100" spc="-1090">
                <a:solidFill>
                  <a:srgbClr val="000000"/>
                </a:solidFill>
              </a:rPr>
              <a:t>e</a:t>
            </a:r>
            <a:r>
              <a:rPr dirty="0" sz="4100" spc="-1090">
                <a:solidFill>
                  <a:srgbClr val="FFFFFF"/>
                </a:solidFill>
              </a:rPr>
              <a:t>e</a:t>
            </a:r>
            <a:r>
              <a:rPr dirty="0" sz="4100" spc="-1090">
                <a:solidFill>
                  <a:srgbClr val="000000"/>
                </a:solidFill>
              </a:rPr>
              <a:t>c</a:t>
            </a:r>
            <a:r>
              <a:rPr dirty="0" sz="4100" spc="-1090">
                <a:solidFill>
                  <a:srgbClr val="FFFFFF"/>
                </a:solidFill>
              </a:rPr>
              <a:t>c</a:t>
            </a:r>
            <a:r>
              <a:rPr dirty="0" sz="4100" spc="-1090">
                <a:solidFill>
                  <a:srgbClr val="000000"/>
                </a:solidFill>
              </a:rPr>
              <a:t>u</a:t>
            </a:r>
            <a:r>
              <a:rPr dirty="0" sz="4100" spc="-1090">
                <a:solidFill>
                  <a:srgbClr val="FFFFFF"/>
                </a:solidFill>
              </a:rPr>
              <a:t>u</a:t>
            </a:r>
            <a:r>
              <a:rPr dirty="0" sz="4100" spc="-1090">
                <a:solidFill>
                  <a:srgbClr val="000000"/>
                </a:solidFill>
              </a:rPr>
              <a:t>r</a:t>
            </a:r>
            <a:r>
              <a:rPr dirty="0" sz="4100" spc="-1090">
                <a:solidFill>
                  <a:srgbClr val="FFFFFF"/>
                </a:solidFill>
              </a:rPr>
              <a:t>r</a:t>
            </a:r>
            <a:r>
              <a:rPr dirty="0" sz="4100" spc="-1090">
                <a:solidFill>
                  <a:srgbClr val="000000"/>
                </a:solidFill>
              </a:rPr>
              <a:t>i</a:t>
            </a:r>
            <a:r>
              <a:rPr dirty="0" sz="4100" spc="-1090">
                <a:solidFill>
                  <a:srgbClr val="FFFFFF"/>
                </a:solidFill>
              </a:rPr>
              <a:t>i</a:t>
            </a:r>
            <a:r>
              <a:rPr dirty="0" sz="4100" spc="-1090">
                <a:solidFill>
                  <a:srgbClr val="000000"/>
                </a:solidFill>
              </a:rPr>
              <a:t>t</a:t>
            </a:r>
            <a:r>
              <a:rPr dirty="0" sz="4100" spc="-1090">
                <a:solidFill>
                  <a:srgbClr val="FFFFFF"/>
                </a:solidFill>
              </a:rPr>
              <a:t>t</a:t>
            </a:r>
            <a:r>
              <a:rPr dirty="0" sz="4100" spc="-1090">
                <a:solidFill>
                  <a:srgbClr val="000000"/>
                </a:solidFill>
              </a:rPr>
              <a:t>y</a:t>
            </a:r>
            <a:r>
              <a:rPr dirty="0" sz="4100" spc="-1090">
                <a:solidFill>
                  <a:srgbClr val="FFFFFF"/>
                </a:solidFill>
              </a:rPr>
              <a:t>y</a:t>
            </a:r>
            <a:r>
              <a:rPr dirty="0" sz="4100" spc="-969">
                <a:solidFill>
                  <a:srgbClr val="FFFFFF"/>
                </a:solidFill>
              </a:rPr>
              <a:t> </a:t>
            </a:r>
            <a:r>
              <a:rPr dirty="0" sz="4100" spc="-1055">
                <a:solidFill>
                  <a:srgbClr val="000000"/>
                </a:solidFill>
              </a:rPr>
              <a:t>D</a:t>
            </a:r>
            <a:r>
              <a:rPr dirty="0" sz="4100" spc="-1055">
                <a:solidFill>
                  <a:srgbClr val="FFFFFF"/>
                </a:solidFill>
              </a:rPr>
              <a:t>D</a:t>
            </a:r>
            <a:r>
              <a:rPr dirty="0" sz="4100" spc="-1055">
                <a:solidFill>
                  <a:srgbClr val="000000"/>
                </a:solidFill>
              </a:rPr>
              <a:t>a</a:t>
            </a:r>
            <a:r>
              <a:rPr dirty="0" sz="4100" spc="-1055">
                <a:solidFill>
                  <a:srgbClr val="FFFFFF"/>
                </a:solidFill>
              </a:rPr>
              <a:t>a</a:t>
            </a:r>
            <a:r>
              <a:rPr dirty="0" sz="4100" spc="-1055">
                <a:solidFill>
                  <a:srgbClr val="000000"/>
                </a:solidFill>
              </a:rPr>
              <a:t>t</a:t>
            </a:r>
            <a:r>
              <a:rPr dirty="0" sz="4100" spc="-1055">
                <a:solidFill>
                  <a:srgbClr val="FFFFFF"/>
                </a:solidFill>
              </a:rPr>
              <a:t>t</a:t>
            </a:r>
            <a:r>
              <a:rPr dirty="0" sz="4100" spc="-1055">
                <a:solidFill>
                  <a:srgbClr val="000000"/>
                </a:solidFill>
              </a:rPr>
              <a:t>a</a:t>
            </a:r>
            <a:r>
              <a:rPr dirty="0" sz="4100" spc="-1055">
                <a:solidFill>
                  <a:srgbClr val="FFFFFF"/>
                </a:solidFill>
              </a:rPr>
              <a:t>a</a:t>
            </a:r>
            <a:r>
              <a:rPr dirty="0" sz="4100" spc="-1055">
                <a:solidFill>
                  <a:srgbClr val="000000"/>
                </a:solidFill>
              </a:rPr>
              <a:t>s</a:t>
            </a:r>
            <a:r>
              <a:rPr dirty="0" sz="4100" spc="-1055">
                <a:solidFill>
                  <a:srgbClr val="FFFFFF"/>
                </a:solidFill>
              </a:rPr>
              <a:t>s</a:t>
            </a:r>
            <a:r>
              <a:rPr dirty="0" sz="4100" spc="-1055">
                <a:solidFill>
                  <a:srgbClr val="000000"/>
                </a:solidFill>
              </a:rPr>
              <a:t>e</a:t>
            </a:r>
            <a:r>
              <a:rPr dirty="0" sz="4100" spc="-1055">
                <a:solidFill>
                  <a:srgbClr val="FFFFFF"/>
                </a:solidFill>
              </a:rPr>
              <a:t>e</a:t>
            </a:r>
            <a:r>
              <a:rPr dirty="0" sz="4100" spc="-1055">
                <a:solidFill>
                  <a:srgbClr val="000000"/>
                </a:solidFill>
              </a:rPr>
              <a:t>t</a:t>
            </a:r>
            <a:r>
              <a:rPr dirty="0" sz="4100" spc="-1055">
                <a:solidFill>
                  <a:srgbClr val="FFFFFF"/>
                </a:solidFill>
              </a:rPr>
              <a:t>t</a:t>
            </a:r>
            <a:r>
              <a:rPr dirty="0" sz="4100" spc="-1055">
                <a:solidFill>
                  <a:srgbClr val="000000"/>
                </a:solidFill>
              </a:rPr>
              <a:t>s</a:t>
            </a:r>
            <a:r>
              <a:rPr dirty="0" sz="4100" spc="-1055">
                <a:solidFill>
                  <a:srgbClr val="FFFFFF"/>
                </a:solidFill>
              </a:rPr>
              <a:t>s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6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6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490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25"/>
              <a:t>Example: </a:t>
            </a:r>
            <a:r>
              <a:rPr dirty="0" spc="-175"/>
              <a:t>Predicting </a:t>
            </a:r>
            <a:r>
              <a:rPr dirty="0" spc="-190"/>
              <a:t>Flow </a:t>
            </a:r>
            <a:r>
              <a:rPr dirty="0" spc="-204"/>
              <a:t>Duration </a:t>
            </a:r>
            <a:r>
              <a:rPr dirty="0" spc="-190"/>
              <a:t>in </a:t>
            </a:r>
            <a:r>
              <a:rPr dirty="0" spc="-130"/>
              <a:t>IoT</a:t>
            </a:r>
            <a:r>
              <a:rPr dirty="0" spc="-520"/>
              <a:t> </a:t>
            </a:r>
            <a:r>
              <a:rPr dirty="0" spc="-165"/>
              <a:t>Networks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496252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35037" y="4978400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39399" y="4962525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479086" y="4978400"/>
            <a:ext cx="1111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85850" y="4962525"/>
            <a:ext cx="9353550" cy="142875"/>
          </a:xfrm>
          <a:custGeom>
            <a:avLst/>
            <a:gdLst/>
            <a:ahLst/>
            <a:cxnLst/>
            <a:rect l="l" t="t" r="r" b="b"/>
            <a:pathLst>
              <a:path w="9353550" h="142875">
                <a:moveTo>
                  <a:pt x="0" y="0"/>
                </a:moveTo>
                <a:lnTo>
                  <a:pt x="9353549" y="0"/>
                </a:lnTo>
                <a:lnTo>
                  <a:pt x="93535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5849" y="4991100"/>
            <a:ext cx="5724525" cy="85725"/>
          </a:xfrm>
          <a:custGeom>
            <a:avLst/>
            <a:gdLst/>
            <a:ahLst/>
            <a:cxnLst/>
            <a:rect l="l" t="t" r="r" b="b"/>
            <a:pathLst>
              <a:path w="5724525" h="85725">
                <a:moveTo>
                  <a:pt x="5687346" y="85724"/>
                </a:moveTo>
                <a:lnTo>
                  <a:pt x="37178" y="85724"/>
                </a:lnTo>
                <a:lnTo>
                  <a:pt x="31710" y="84636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5687346" y="0"/>
                </a:lnTo>
                <a:lnTo>
                  <a:pt x="5719086" y="21207"/>
                </a:lnTo>
                <a:lnTo>
                  <a:pt x="5724524" y="37178"/>
                </a:lnTo>
                <a:lnTo>
                  <a:pt x="5724524" y="48546"/>
                </a:lnTo>
                <a:lnTo>
                  <a:pt x="5703315" y="80286"/>
                </a:lnTo>
                <a:lnTo>
                  <a:pt x="5687346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1428750"/>
            <a:ext cx="9696450" cy="3533775"/>
          </a:xfrm>
          <a:custGeom>
            <a:avLst/>
            <a:gdLst/>
            <a:ahLst/>
            <a:cxnLst/>
            <a:rect l="l" t="t" r="r" b="b"/>
            <a:pathLst>
              <a:path w="9696450" h="3533775">
                <a:moveTo>
                  <a:pt x="0" y="0"/>
                </a:moveTo>
                <a:lnTo>
                  <a:pt x="9696449" y="0"/>
                </a:lnTo>
                <a:lnTo>
                  <a:pt x="9696449" y="3533774"/>
                </a:lnTo>
                <a:lnTo>
                  <a:pt x="0" y="3533774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0195" y="1509013"/>
            <a:ext cx="9616440" cy="33489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from </a:t>
            </a:r>
            <a:r>
              <a:rPr dirty="0" sz="1350" spc="10">
                <a:latin typeface="Courier New"/>
                <a:cs typeface="Courier New"/>
              </a:rPr>
              <a:t>ucimlrepo </a:t>
            </a: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import</a:t>
            </a:r>
            <a:r>
              <a:rPr dirty="0" sz="1350" spc="5" b="1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fetch_ucirepo</a:t>
            </a:r>
            <a:endParaRPr sz="1350">
              <a:latin typeface="Courier New"/>
              <a:cs typeface="Courier New"/>
            </a:endParaRPr>
          </a:p>
          <a:p>
            <a:pPr marL="220979" indent="-208915">
              <a:lnSpc>
                <a:spcPts val="1600"/>
              </a:lnSpc>
              <a:spcBef>
                <a:spcPts val="1305"/>
              </a:spcBef>
              <a:buChar char="❖"/>
              <a:tabLst>
                <a:tab pos="22161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fetch</a:t>
            </a:r>
            <a:r>
              <a:rPr dirty="0" sz="1350" spc="5">
                <a:solidFill>
                  <a:srgbClr val="777777"/>
                </a:solidFill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dataset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95"/>
              </a:lnSpc>
            </a:pPr>
            <a:r>
              <a:rPr dirty="0" sz="1350" spc="10">
                <a:latin typeface="Courier New"/>
                <a:cs typeface="Courier New"/>
              </a:rPr>
              <a:t>rt_iot2022 =</a:t>
            </a:r>
            <a:r>
              <a:rPr dirty="0" sz="1350" spc="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fetch_ucirepo(id=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942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2700" marR="6572250">
              <a:lnSpc>
                <a:spcPts val="1580"/>
              </a:lnSpc>
              <a:spcBef>
                <a:spcPts val="1390"/>
              </a:spcBef>
              <a:buChar char="❖"/>
              <a:tabLst>
                <a:tab pos="22161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data (as pandas </a:t>
            </a:r>
            <a:r>
              <a:rPr dirty="0" sz="1350" spc="-45">
                <a:solidFill>
                  <a:srgbClr val="777777"/>
                </a:solidFill>
                <a:latin typeface="Courier New"/>
                <a:cs typeface="Courier New"/>
              </a:rPr>
              <a:t>dataframes) </a:t>
            </a:r>
            <a:r>
              <a:rPr dirty="0" sz="1350" spc="-4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X = rt_iot2022.data.features  y =</a:t>
            </a:r>
            <a:r>
              <a:rPr dirty="0" sz="1350" spc="-3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rt_iot2022.data.targets</a:t>
            </a:r>
            <a:endParaRPr sz="1350">
              <a:latin typeface="Courier New"/>
              <a:cs typeface="Courier New"/>
            </a:endParaRPr>
          </a:p>
          <a:p>
            <a:pPr marL="12700">
              <a:lnSpc>
                <a:spcPts val="1520"/>
              </a:lnSpc>
            </a:pPr>
            <a:r>
              <a:rPr dirty="0" sz="1350" spc="10">
                <a:latin typeface="Courier New"/>
                <a:cs typeface="Courier New"/>
              </a:rPr>
              <a:t>df = pd.concat([X, y],</a:t>
            </a:r>
            <a:r>
              <a:rPr dirty="0" sz="1350" spc="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axis=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1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12700" marR="6155690">
              <a:lnSpc>
                <a:spcPts val="1580"/>
              </a:lnSpc>
              <a:spcBef>
                <a:spcPts val="1395"/>
              </a:spcBef>
              <a:buChar char="❖"/>
              <a:tabLst>
                <a:tab pos="221615" algn="l"/>
              </a:tabLst>
            </a:pPr>
            <a:r>
              <a:rPr dirty="0" sz="1350" spc="10">
                <a:solidFill>
                  <a:srgbClr val="777777"/>
                </a:solidFill>
                <a:latin typeface="Courier New"/>
                <a:cs typeface="Courier New"/>
              </a:rPr>
              <a:t>subset the features and </a:t>
            </a:r>
            <a:r>
              <a:rPr dirty="0" sz="1350" spc="-75">
                <a:solidFill>
                  <a:srgbClr val="777777"/>
                </a:solidFill>
                <a:latin typeface="Courier New"/>
                <a:cs typeface="Courier New"/>
              </a:rPr>
              <a:t>dataset </a:t>
            </a:r>
            <a:r>
              <a:rPr dirty="0" sz="1350" spc="-7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df =</a:t>
            </a:r>
            <a:r>
              <a:rPr dirty="0" sz="1350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  <a:p>
            <a:pPr marL="220979">
              <a:lnSpc>
                <a:spcPts val="1500"/>
              </a:lnSpc>
            </a:pPr>
            <a:r>
              <a:rPr dirty="0" sz="1350" spc="10">
                <a:latin typeface="Courier New"/>
                <a:cs typeface="Courier New"/>
              </a:rPr>
              <a:t>df</a:t>
            </a:r>
            <a:endParaRPr sz="1350">
              <a:latin typeface="Courier New"/>
              <a:cs typeface="Courier New"/>
            </a:endParaRPr>
          </a:p>
          <a:p>
            <a:pPr marL="220979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.sample(frac=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0.1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5">
                <a:latin typeface="Courier New"/>
                <a:cs typeface="Courier New"/>
              </a:rPr>
              <a:t> </a:t>
            </a:r>
            <a:r>
              <a:rPr dirty="0" sz="1350" spc="10">
                <a:latin typeface="Courier New"/>
                <a:cs typeface="Courier New"/>
              </a:rPr>
              <a:t>random_state=</a:t>
            </a:r>
            <a:r>
              <a:rPr dirty="0" sz="1350" spc="10">
                <a:solidFill>
                  <a:srgbClr val="870000"/>
                </a:solidFill>
                <a:latin typeface="Courier New"/>
                <a:cs typeface="Courier New"/>
              </a:rPr>
              <a:t>2025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220979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.reset_index(drop=</a:t>
            </a:r>
            <a:r>
              <a:rPr dirty="0" sz="1350" spc="10" b="1">
                <a:solidFill>
                  <a:srgbClr val="000080"/>
                </a:solidFill>
                <a:latin typeface="Courier New"/>
                <a:cs typeface="Courier New"/>
              </a:rPr>
              <a:t>True</a:t>
            </a: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 marL="220979">
              <a:lnSpc>
                <a:spcPts val="1575"/>
              </a:lnSpc>
            </a:pPr>
            <a:r>
              <a:rPr dirty="0" sz="1350" spc="10">
                <a:latin typeface="Courier New"/>
                <a:cs typeface="Courier New"/>
              </a:rPr>
              <a:t>.loc[:, [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'proto'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'service'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'fwd_pkts_payload.avg'</a:t>
            </a:r>
            <a:r>
              <a:rPr dirty="0" sz="1350" spc="10">
                <a:latin typeface="Courier New"/>
                <a:cs typeface="Courier New"/>
              </a:rPr>
              <a:t>,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'bwd_pkts_payload.avg'</a:t>
            </a:r>
            <a:r>
              <a:rPr dirty="0" sz="1350" spc="10">
                <a:latin typeface="Courier New"/>
                <a:cs typeface="Courier New"/>
              </a:rPr>
              <a:t>,</a:t>
            </a:r>
            <a:r>
              <a:rPr dirty="0" sz="1350" spc="-35">
                <a:latin typeface="Courier New"/>
                <a:cs typeface="Courier New"/>
              </a:rPr>
              <a:t> </a:t>
            </a:r>
            <a:r>
              <a:rPr dirty="0" sz="1350" spc="10">
                <a:solidFill>
                  <a:srgbClr val="005400"/>
                </a:solidFill>
                <a:latin typeface="Courier New"/>
                <a:cs typeface="Courier New"/>
              </a:rPr>
              <a:t>'fwd_subflow_</a:t>
            </a:r>
            <a:endParaRPr sz="1350">
              <a:latin typeface="Courier New"/>
              <a:cs typeface="Courier New"/>
            </a:endParaRPr>
          </a:p>
          <a:p>
            <a:pPr marL="220979">
              <a:lnSpc>
                <a:spcPts val="1595"/>
              </a:lnSpc>
            </a:pPr>
            <a:r>
              <a:rPr dirty="0" sz="1350" spc="10"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6024562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034087"/>
            <a:ext cx="9334500" cy="0"/>
          </a:xfrm>
          <a:custGeom>
            <a:avLst/>
            <a:gdLst/>
            <a:ahLst/>
            <a:cxnLst/>
            <a:rect l="l" t="t" r="r" b="b"/>
            <a:pathLst>
              <a:path w="9334500" h="0">
                <a:moveTo>
                  <a:pt x="0" y="0"/>
                </a:moveTo>
                <a:lnTo>
                  <a:pt x="93344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239374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4400" y="60197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01700" y="6077108"/>
            <a:ext cx="9222740" cy="349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Note</a:t>
            </a:r>
            <a:r>
              <a:rPr dirty="0" sz="850" spc="-5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8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dataset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30">
                <a:solidFill>
                  <a:srgbClr val="585D60"/>
                </a:solidFill>
                <a:latin typeface="Arial"/>
                <a:cs typeface="Arial"/>
              </a:rPr>
              <a:t>UCI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Machine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Learning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Repository.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contains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features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network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traffic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IoT</a:t>
            </a:r>
            <a:r>
              <a:rPr dirty="0" sz="850" spc="-3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networks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target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variable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flow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duration.</a:t>
            </a:r>
            <a:r>
              <a:rPr dirty="0" sz="850" spc="-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goal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predict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flow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duration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features.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information,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UCI</a:t>
            </a:r>
            <a:r>
              <a:rPr dirty="0" sz="850" spc="-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RT-IoT2022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8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17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>
                <a:solidFill>
                  <a:srgbClr val="000000"/>
                </a:solidFill>
              </a:rPr>
              <a:t>R</a:t>
            </a:r>
            <a:r>
              <a:rPr dirty="0" sz="4100" spc="-1220">
                <a:solidFill>
                  <a:srgbClr val="FFFFFF"/>
                </a:solidFill>
              </a:rPr>
              <a:t>R</a:t>
            </a:r>
            <a:r>
              <a:rPr dirty="0" sz="4100" spc="-1220">
                <a:solidFill>
                  <a:srgbClr val="000000"/>
                </a:solidFill>
              </a:rPr>
              <a:t>e</a:t>
            </a:r>
            <a:r>
              <a:rPr dirty="0" sz="4100" spc="-1220">
                <a:solidFill>
                  <a:srgbClr val="FFFFFF"/>
                </a:solidFill>
              </a:rPr>
              <a:t>e</a:t>
            </a:r>
            <a:r>
              <a:rPr dirty="0" sz="4100" spc="-1220">
                <a:solidFill>
                  <a:srgbClr val="000000"/>
                </a:solidFill>
              </a:rPr>
              <a:t>c</a:t>
            </a:r>
            <a:r>
              <a:rPr dirty="0" sz="4100" spc="-1220">
                <a:solidFill>
                  <a:srgbClr val="FFFFFF"/>
                </a:solidFill>
              </a:rPr>
              <a:t>c</a:t>
            </a:r>
            <a:r>
              <a:rPr dirty="0" sz="4100" spc="-1220">
                <a:solidFill>
                  <a:srgbClr val="000000"/>
                </a:solidFill>
              </a:rPr>
              <a:t>a</a:t>
            </a:r>
            <a:r>
              <a:rPr dirty="0" sz="4100" spc="-1220">
                <a:solidFill>
                  <a:srgbClr val="FFFFFF"/>
                </a:solidFill>
              </a:rPr>
              <a:t>a</a:t>
            </a:r>
            <a:r>
              <a:rPr dirty="0" sz="4100" spc="-1220">
                <a:solidFill>
                  <a:srgbClr val="000000"/>
                </a:solidFill>
              </a:rPr>
              <a:t>p</a:t>
            </a:r>
            <a:r>
              <a:rPr dirty="0" sz="4100" spc="-1220">
                <a:solidFill>
                  <a:srgbClr val="FFFFFF"/>
                </a:solidFill>
              </a:rPr>
              <a:t>p</a:t>
            </a:r>
            <a:endParaRPr sz="4100"/>
          </a:p>
        </p:txBody>
      </p:sp>
      <p:sp>
        <p:nvSpPr>
          <p:cNvPr id="4" name="object 4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8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8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70"/>
              <a:t>Summary </a:t>
            </a:r>
            <a:r>
              <a:rPr dirty="0" spc="-140"/>
              <a:t>of </a:t>
            </a:r>
            <a:r>
              <a:rPr dirty="0" spc="-90"/>
              <a:t>Main</a:t>
            </a:r>
            <a:r>
              <a:rPr dirty="0" spc="-455"/>
              <a:t> </a:t>
            </a:r>
            <a:r>
              <a:rPr dirty="0" spc="-1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227820" cy="247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now,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able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3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following:</a:t>
            </a:r>
            <a:endParaRPr sz="1800">
              <a:latin typeface="Arial"/>
              <a:cs typeface="Arial"/>
            </a:endParaRPr>
          </a:p>
          <a:p>
            <a:pPr marL="393065" marR="92075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Recognize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similarities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traditional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machine 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learning regression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Describe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advanced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techniques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like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Ridge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2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Lasso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Explore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non-linear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like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Decision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Trees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Random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Forests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tasks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Apply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machine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learning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regression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cyber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security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sets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20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260">
                <a:latin typeface="Arial"/>
                <a:cs typeface="Arial"/>
              </a:rPr>
              <a:t> </a:t>
            </a:r>
            <a:r>
              <a:rPr dirty="0" spc="-229"/>
              <a:t>Review </a:t>
            </a:r>
            <a:r>
              <a:rPr dirty="0" spc="-180"/>
              <a:t>and </a:t>
            </a:r>
            <a:r>
              <a:rPr dirty="0" spc="-195"/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65" b="1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5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pc="-5"/>
              <a:t>:</a:t>
            </a:r>
            <a:r>
              <a:rPr dirty="0" spc="-85"/>
              <a:t> </a:t>
            </a:r>
            <a:r>
              <a:rPr dirty="0" spc="-55"/>
              <a:t>Take </a:t>
            </a:r>
            <a:r>
              <a:rPr dirty="0" spc="20"/>
              <a:t>some</a:t>
            </a:r>
            <a:r>
              <a:rPr dirty="0" spc="-50"/>
              <a:t> </a:t>
            </a:r>
            <a:r>
              <a:rPr dirty="0" spc="35"/>
              <a:t>time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10"/>
              <a:t>revisit</a:t>
            </a:r>
            <a:r>
              <a:rPr dirty="0" spc="-50"/>
              <a:t> </a:t>
            </a:r>
            <a:r>
              <a:rPr dirty="0" spc="-10"/>
              <a:t>your</a:t>
            </a:r>
            <a:r>
              <a:rPr dirty="0" spc="-55"/>
              <a:t> </a:t>
            </a:r>
            <a:r>
              <a:rPr dirty="0" spc="20"/>
              <a:t>class</a:t>
            </a:r>
            <a:r>
              <a:rPr dirty="0" spc="-50"/>
              <a:t> </a:t>
            </a:r>
            <a:r>
              <a:rPr dirty="0" spc="15"/>
              <a:t>notes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5"/>
              <a:t> </a:t>
            </a:r>
            <a:r>
              <a:rPr dirty="0" spc="-40"/>
              <a:t>key</a:t>
            </a:r>
            <a:r>
              <a:rPr dirty="0" spc="-50"/>
              <a:t> </a:t>
            </a:r>
            <a:r>
              <a:rPr dirty="0" spc="25"/>
              <a:t>insights</a:t>
            </a:r>
            <a:r>
              <a:rPr dirty="0" spc="-55"/>
              <a:t> </a:t>
            </a:r>
            <a:r>
              <a:rPr dirty="0" spc="-5"/>
              <a:t>and</a:t>
            </a:r>
            <a:r>
              <a:rPr dirty="0" spc="-50"/>
              <a:t> </a:t>
            </a:r>
            <a:r>
              <a:rPr dirty="0" spc="15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15" b="1">
                <a:solidFill>
                  <a:srgbClr val="C2132D"/>
                </a:solidFill>
                <a:latin typeface="Trebuchet MS"/>
                <a:cs typeface="Trebuchet MS"/>
              </a:rPr>
              <a:t>Zoom</a:t>
            </a:r>
            <a:r>
              <a:rPr dirty="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25" b="1">
                <a:solidFill>
                  <a:srgbClr val="C2132D"/>
                </a:solidFill>
                <a:latin typeface="Trebuchet MS"/>
                <a:cs typeface="Trebuchet MS"/>
              </a:rPr>
              <a:t>Recording</a:t>
            </a:r>
            <a:r>
              <a:rPr dirty="0" spc="-25"/>
              <a:t>:</a:t>
            </a:r>
            <a:r>
              <a:rPr dirty="0" spc="-80"/>
              <a:t> </a:t>
            </a:r>
            <a:r>
              <a:rPr dirty="0" spc="-30"/>
              <a:t>The</a:t>
            </a:r>
            <a:r>
              <a:rPr dirty="0" spc="-50"/>
              <a:t> </a:t>
            </a:r>
            <a:r>
              <a:rPr dirty="0" spc="5"/>
              <a:t>recording</a:t>
            </a:r>
            <a:r>
              <a:rPr dirty="0" spc="-45"/>
              <a:t> </a:t>
            </a:r>
            <a:r>
              <a:rPr dirty="0" spc="75"/>
              <a:t>of</a:t>
            </a:r>
            <a:r>
              <a:rPr dirty="0" spc="-45"/>
              <a:t> </a:t>
            </a:r>
            <a:r>
              <a:rPr dirty="0" spc="-10"/>
              <a:t>today's</a:t>
            </a:r>
            <a:r>
              <a:rPr dirty="0" spc="-50"/>
              <a:t> </a:t>
            </a:r>
            <a:r>
              <a:rPr dirty="0" spc="20"/>
              <a:t>class</a:t>
            </a:r>
            <a:r>
              <a:rPr dirty="0" spc="-45"/>
              <a:t> </a:t>
            </a:r>
            <a:r>
              <a:rPr dirty="0" spc="40"/>
              <a:t>will</a:t>
            </a:r>
            <a:r>
              <a:rPr dirty="0" spc="-50"/>
              <a:t> </a:t>
            </a:r>
            <a:r>
              <a:rPr dirty="0" spc="-20"/>
              <a:t>be</a:t>
            </a:r>
            <a:r>
              <a:rPr dirty="0" spc="-45"/>
              <a:t> </a:t>
            </a:r>
            <a:r>
              <a:rPr dirty="0" spc="5"/>
              <a:t>made</a:t>
            </a:r>
            <a:r>
              <a:rPr dirty="0" spc="-45"/>
              <a:t> </a:t>
            </a:r>
            <a:r>
              <a:rPr dirty="0" spc="-10"/>
              <a:t>available</a:t>
            </a:r>
            <a:r>
              <a:rPr dirty="0" spc="-50"/>
              <a:t> </a:t>
            </a:r>
            <a:r>
              <a:rPr dirty="0" spc="5"/>
              <a:t>on</a:t>
            </a:r>
            <a:r>
              <a:rPr dirty="0" spc="-45"/>
              <a:t> </a:t>
            </a:r>
            <a:r>
              <a:rPr dirty="0" spc="-35"/>
              <a:t>Canvas  </a:t>
            </a:r>
            <a:r>
              <a:rPr dirty="0" spc="5"/>
              <a:t>approximately</a:t>
            </a:r>
            <a:r>
              <a:rPr dirty="0" spc="-60"/>
              <a:t> </a:t>
            </a:r>
            <a:r>
              <a:rPr dirty="0" spc="-30"/>
              <a:t>3-4</a:t>
            </a:r>
            <a:r>
              <a:rPr dirty="0" spc="-55"/>
              <a:t> </a:t>
            </a:r>
            <a:r>
              <a:rPr dirty="0" spc="5"/>
              <a:t>hours</a:t>
            </a:r>
            <a:r>
              <a:rPr dirty="0" spc="-55"/>
              <a:t> </a:t>
            </a:r>
            <a:r>
              <a:rPr dirty="0" spc="30"/>
              <a:t>after</a:t>
            </a:r>
            <a:r>
              <a:rPr dirty="0" spc="-55"/>
              <a:t> </a:t>
            </a:r>
            <a:r>
              <a:rPr dirty="0" spc="10"/>
              <a:t>the</a:t>
            </a:r>
            <a:r>
              <a:rPr dirty="0" spc="-55"/>
              <a:t> </a:t>
            </a:r>
            <a:r>
              <a:rPr dirty="0" spc="-15"/>
              <a:t>end</a:t>
            </a:r>
            <a:r>
              <a:rPr dirty="0" spc="-55"/>
              <a:t> </a:t>
            </a:r>
            <a:r>
              <a:rPr dirty="0" spc="75"/>
              <a:t>of</a:t>
            </a:r>
            <a:r>
              <a:rPr dirty="0" spc="-55"/>
              <a:t> </a:t>
            </a:r>
            <a:r>
              <a:rPr dirty="0" spc="15"/>
              <a:t>class.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15" b="1">
                <a:solidFill>
                  <a:srgbClr val="C2132D"/>
                </a:solidFill>
                <a:latin typeface="Trebuchet MS"/>
                <a:cs typeface="Trebuchet MS"/>
              </a:rPr>
              <a:t>Questions</a:t>
            </a:r>
            <a:r>
              <a:rPr dirty="0" spc="-15"/>
              <a:t>:</a:t>
            </a:r>
            <a:r>
              <a:rPr dirty="0" spc="-50"/>
              <a:t> </a:t>
            </a:r>
            <a:r>
              <a:rPr dirty="0" spc="-20"/>
              <a:t>Please</a:t>
            </a:r>
            <a:r>
              <a:rPr dirty="0" spc="-50"/>
              <a:t> </a:t>
            </a:r>
            <a:r>
              <a:rPr dirty="0" spc="-5"/>
              <a:t>don't</a:t>
            </a:r>
            <a:r>
              <a:rPr dirty="0" spc="-50"/>
              <a:t> </a:t>
            </a:r>
            <a:r>
              <a:rPr dirty="0" spc="10"/>
              <a:t>hesitate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0"/>
              <a:t> </a:t>
            </a:r>
            <a:r>
              <a:rPr dirty="0" spc="5"/>
              <a:t>ask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0"/>
              <a:t> </a:t>
            </a:r>
            <a:r>
              <a:rPr dirty="0" spc="25"/>
              <a:t>clarification</a:t>
            </a:r>
            <a:r>
              <a:rPr dirty="0" spc="-50"/>
              <a:t> </a:t>
            </a:r>
            <a:r>
              <a:rPr dirty="0" spc="5"/>
              <a:t>on</a:t>
            </a:r>
            <a:r>
              <a:rPr dirty="0" spc="-50"/>
              <a:t> </a:t>
            </a:r>
            <a:r>
              <a:rPr dirty="0" spc="-30"/>
              <a:t>any</a:t>
            </a:r>
            <a:r>
              <a:rPr dirty="0" spc="-50"/>
              <a:t> </a:t>
            </a:r>
            <a:r>
              <a:rPr dirty="0" spc="35"/>
              <a:t>topics</a:t>
            </a:r>
            <a:r>
              <a:rPr dirty="0" spc="-50"/>
              <a:t> </a:t>
            </a:r>
            <a:r>
              <a:rPr dirty="0" spc="15"/>
              <a:t>discussed</a:t>
            </a:r>
            <a:r>
              <a:rPr dirty="0" spc="-45"/>
              <a:t> </a:t>
            </a:r>
            <a:r>
              <a:rPr dirty="0" spc="15"/>
              <a:t>in</a:t>
            </a:r>
            <a:r>
              <a:rPr dirty="0" spc="-50"/>
              <a:t> </a:t>
            </a:r>
            <a:r>
              <a:rPr dirty="0" spc="15"/>
              <a:t>class.</a:t>
            </a:r>
            <a:r>
              <a:rPr dirty="0" spc="-50"/>
              <a:t> </a:t>
            </a:r>
            <a:r>
              <a:rPr dirty="0"/>
              <a:t>It's  </a:t>
            </a:r>
            <a:r>
              <a:rPr dirty="0" spc="20"/>
              <a:t>crucial</a:t>
            </a:r>
            <a:r>
              <a:rPr dirty="0" spc="-60"/>
              <a:t> </a:t>
            </a:r>
            <a:r>
              <a:rPr dirty="0" spc="35"/>
              <a:t>not</a:t>
            </a:r>
            <a:r>
              <a:rPr dirty="0" spc="-55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25"/>
              <a:t>let</a:t>
            </a:r>
            <a:r>
              <a:rPr dirty="0" spc="-55"/>
              <a:t> </a:t>
            </a:r>
            <a:r>
              <a:rPr dirty="0" spc="15"/>
              <a:t>questions</a:t>
            </a:r>
            <a:r>
              <a:rPr dirty="0" spc="-55"/>
              <a:t> </a:t>
            </a:r>
            <a:r>
              <a:rPr dirty="0" spc="1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419: Data-Driven Security</dc:title>
  <dcterms:created xsi:type="dcterms:W3CDTF">2025-03-20T14:34:09Z</dcterms:created>
  <dcterms:modified xsi:type="dcterms:W3CDTF">2025-03-20T14:34:09Z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2025-03-20T00:00:00Z</vt:filetime>
  </property>
  <property fmtid="{D5CDD505-2E9C-101B-9397-08002B2CF9AE}" pid="3" name="Creator">
    <vt:lpwstr>Mozilla/5.0 (Windows NT 10.0; Win64; x64) AppleWebKit/537.36 (KHTML, like Gecko) Chrome/134.0.0.0 Safari/537.36</vt:lpwstr>
  </property>
  <property fmtid="{D5CDD505-2E9C-101B-9397-08002B2CF9AE}" pid="4" name="LastSaved">
    <vt:filetime>2025-03-20T00:00:00Z</vt:filetime>
  </property>
</Properties>
</file>