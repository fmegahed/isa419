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jpg" ContentType="image/jpg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530225"/>
            <a:ext cx="972820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Trebuchet MS"/>
                <a:cs typeface="Trebuchet MS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#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Trebuchet MS"/>
                <a:cs typeface="Trebuchet MS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#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Trebuchet MS"/>
                <a:cs typeface="Trebuchet MS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#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Trebuchet MS"/>
                <a:cs typeface="Trebuchet MS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#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Trebuchet MS"/>
                <a:cs typeface="Trebuchet MS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#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6720" y="501650"/>
            <a:ext cx="10678160" cy="1063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9605" y="1425575"/>
            <a:ext cx="9592389" cy="1814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Trebuchet MS"/>
                <a:cs typeface="Trebuchet MS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#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fmegahed/isa419/raw/main/data/zeroAccessUFO.csv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nKW8Ndu7Mjw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towardsdatascience.com/train-test-split-and-cross-validation-in-python-80b61beca4b6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hyperlink" Target="https://towardsdatascience.com/train-test-split-and-cross-validation-in-python-80b61beca4b6" TargetMode="External"/><Relationship Id="rId4" Type="http://schemas.openxmlformats.org/officeDocument/2006/relationships/hyperlink" Target="https://medium.com/%40josephofiowa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hyperlink" Target="https://towardsdatascience.com/train-test-split-and-cross-validation-in-python-80b61beca4b6" TargetMode="External"/><Relationship Id="rId4" Type="http://schemas.openxmlformats.org/officeDocument/2006/relationships/hyperlink" Target="https://medium.com/%40josephofiowa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494601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pc="5">
                <a:solidFill>
                  <a:srgbClr val="FFFFFF"/>
                </a:solidFill>
              </a:rPr>
              <a:t>ISA </a:t>
            </a:r>
            <a:r>
              <a:rPr dirty="0" spc="-180">
                <a:solidFill>
                  <a:srgbClr val="FFFFFF"/>
                </a:solidFill>
              </a:rPr>
              <a:t>419: </a:t>
            </a:r>
            <a:r>
              <a:rPr dirty="0" spc="-220">
                <a:solidFill>
                  <a:srgbClr val="FFFFFF"/>
                </a:solidFill>
              </a:rPr>
              <a:t>Data-Driven</a:t>
            </a:r>
            <a:r>
              <a:rPr dirty="0" spc="-575">
                <a:solidFill>
                  <a:srgbClr val="FFFFFF"/>
                </a:solidFill>
              </a:rPr>
              <a:t> </a:t>
            </a:r>
            <a:r>
              <a:rPr dirty="0" spc="-180">
                <a:solidFill>
                  <a:srgbClr val="FFFFFF"/>
                </a:solidFill>
              </a:rPr>
              <a:t>Security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14: Regression</a:t>
            </a:r>
            <a:r>
              <a:rPr dirty="0" sz="3000" spc="-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endParaRPr sz="1850">
              <a:latin typeface="Arial"/>
              <a:cs typeface="Arial"/>
            </a:endParaRPr>
          </a:p>
          <a:p>
            <a:pPr marL="12700" marR="1397000">
              <a:lnSpc>
                <a:spcPts val="2030"/>
              </a:lnSpc>
              <a:spcBef>
                <a:spcPts val="16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Farmer School of</a:t>
            </a:r>
            <a:r>
              <a:rPr dirty="0" sz="18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2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1700" y="530225"/>
            <a:ext cx="501904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80">
                <a:solidFill>
                  <a:srgbClr val="C2132D"/>
                </a:solidFill>
                <a:latin typeface="Trebuchet MS"/>
                <a:cs typeface="Trebuchet MS"/>
              </a:rPr>
              <a:t>Quick </a:t>
            </a:r>
            <a:r>
              <a:rPr dirty="0" sz="3350" spc="-185">
                <a:solidFill>
                  <a:srgbClr val="C2132D"/>
                </a:solidFill>
                <a:latin typeface="Trebuchet MS"/>
                <a:cs typeface="Trebuchet MS"/>
              </a:rPr>
              <a:t>Refresher </a:t>
            </a:r>
            <a:r>
              <a:rPr dirty="0" sz="3350" spc="-140">
                <a:solidFill>
                  <a:srgbClr val="C2132D"/>
                </a:solidFill>
                <a:latin typeface="Trebuchet MS"/>
                <a:cs typeface="Trebuchet MS"/>
              </a:rPr>
              <a:t>of </a:t>
            </a:r>
            <a:r>
              <a:rPr dirty="0" sz="3350" spc="-100">
                <a:solidFill>
                  <a:srgbClr val="C2132D"/>
                </a:solidFill>
                <a:latin typeface="Trebuchet MS"/>
                <a:cs typeface="Trebuchet MS"/>
              </a:rPr>
              <a:t>Last</a:t>
            </a:r>
            <a:r>
              <a:rPr dirty="0" sz="3350" spc="-475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3350" spc="-20">
                <a:solidFill>
                  <a:srgbClr val="C2132D"/>
                </a:solidFill>
                <a:latin typeface="Trebuchet MS"/>
                <a:cs typeface="Trebuchet MS"/>
              </a:rPr>
              <a:t>Class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06462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35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Introduce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how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0">
                <a:solidFill>
                  <a:srgbClr val="585D60"/>
                </a:solidFill>
                <a:latin typeface="Trebuchet MS"/>
                <a:cs typeface="Trebuchet MS"/>
              </a:rPr>
              <a:t>LLMs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(with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prompt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engineering)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can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be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Trebuchet MS"/>
                <a:cs typeface="Trebuchet MS"/>
              </a:rPr>
              <a:t>used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Trebuchet MS"/>
                <a:cs typeface="Trebuchet MS"/>
              </a:rPr>
              <a:t>assist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in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cyber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security 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analytics.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2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Learning </a:t>
            </a:r>
            <a:r>
              <a:rPr dirty="0" spc="-204"/>
              <a:t>Objectives </a:t>
            </a:r>
            <a:r>
              <a:rPr dirty="0" spc="-185"/>
              <a:t>for </a:t>
            </a:r>
            <a:r>
              <a:rPr dirty="0" spc="-135"/>
              <a:t>Today's</a:t>
            </a:r>
            <a:r>
              <a:rPr dirty="0" spc="-495"/>
              <a:t> </a:t>
            </a:r>
            <a:r>
              <a:rPr dirty="0" spc="-2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285605" cy="1863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Describe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Trebuchet MS"/>
                <a:cs typeface="Trebuchet MS"/>
              </a:rPr>
              <a:t>basic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concepts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analysis,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including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roles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independent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 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dependent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variables.</a:t>
            </a:r>
            <a:endParaRPr sz="1800">
              <a:latin typeface="Trebuchet MS"/>
              <a:cs typeface="Trebuchet MS"/>
            </a:endParaRPr>
          </a:p>
          <a:p>
            <a:pPr marL="146050" marR="582930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145">
                <a:solidFill>
                  <a:srgbClr val="585D60"/>
                </a:solidFill>
                <a:latin typeface="Trebuchet MS"/>
                <a:cs typeface="Trebuchet MS"/>
              </a:rPr>
              <a:t>Assess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models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using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metrics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like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R-squared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Trebuchet MS"/>
                <a:cs typeface="Trebuchet MS"/>
              </a:rPr>
              <a:t>Mean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Squared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Error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 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interpret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4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results.</a:t>
            </a:r>
            <a:endParaRPr sz="1800">
              <a:latin typeface="Trebuchet MS"/>
              <a:cs typeface="Trebuchet MS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Describe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two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modeling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mindsets: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explanatory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predictive.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8608" y="2758440"/>
            <a:ext cx="6361430" cy="1042669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51460">
              <a:lnSpc>
                <a:spcPct val="100000"/>
              </a:lnSpc>
              <a:spcBef>
                <a:spcPts val="1105"/>
              </a:spcBef>
            </a:pPr>
            <a:r>
              <a:rPr dirty="0" sz="4100" spc="-1340">
                <a:solidFill>
                  <a:srgbClr val="000000"/>
                </a:solidFill>
              </a:rPr>
              <a:t>W</a:t>
            </a:r>
            <a:r>
              <a:rPr dirty="0" sz="4100" spc="-1340">
                <a:solidFill>
                  <a:srgbClr val="FFFFFF"/>
                </a:solidFill>
              </a:rPr>
              <a:t>W</a:t>
            </a:r>
            <a:r>
              <a:rPr dirty="0" sz="4100" spc="-1340">
                <a:solidFill>
                  <a:srgbClr val="000000"/>
                </a:solidFill>
              </a:rPr>
              <a:t>h</a:t>
            </a:r>
            <a:r>
              <a:rPr dirty="0" sz="4100" spc="-1340">
                <a:solidFill>
                  <a:srgbClr val="FFFFFF"/>
                </a:solidFill>
              </a:rPr>
              <a:t>h</a:t>
            </a:r>
            <a:r>
              <a:rPr dirty="0" sz="4100" spc="-1340">
                <a:solidFill>
                  <a:srgbClr val="000000"/>
                </a:solidFill>
              </a:rPr>
              <a:t>a</a:t>
            </a:r>
            <a:r>
              <a:rPr dirty="0" sz="4100" spc="-1340">
                <a:solidFill>
                  <a:srgbClr val="FFFFFF"/>
                </a:solidFill>
              </a:rPr>
              <a:t>a</a:t>
            </a:r>
            <a:r>
              <a:rPr dirty="0" sz="4100" spc="-1340">
                <a:solidFill>
                  <a:srgbClr val="000000"/>
                </a:solidFill>
              </a:rPr>
              <a:t>t</a:t>
            </a:r>
            <a:r>
              <a:rPr dirty="0" sz="4100" spc="-1340">
                <a:solidFill>
                  <a:srgbClr val="FFFFFF"/>
                </a:solidFill>
              </a:rPr>
              <a:t>t</a:t>
            </a:r>
            <a:r>
              <a:rPr dirty="0" sz="4100" spc="-265">
                <a:solidFill>
                  <a:srgbClr val="FFFFFF"/>
                </a:solidFill>
              </a:rPr>
              <a:t> </a:t>
            </a:r>
            <a:r>
              <a:rPr dirty="0" sz="4100" spc="-710">
                <a:solidFill>
                  <a:srgbClr val="000000"/>
                </a:solidFill>
              </a:rPr>
              <a:t>i</a:t>
            </a:r>
            <a:r>
              <a:rPr dirty="0" sz="4100" spc="-710">
                <a:solidFill>
                  <a:srgbClr val="FFFFFF"/>
                </a:solidFill>
              </a:rPr>
              <a:t>i</a:t>
            </a:r>
            <a:r>
              <a:rPr dirty="0" sz="4100" spc="-710">
                <a:solidFill>
                  <a:srgbClr val="000000"/>
                </a:solidFill>
              </a:rPr>
              <a:t>s</a:t>
            </a:r>
            <a:r>
              <a:rPr dirty="0" sz="4100" spc="-710">
                <a:solidFill>
                  <a:srgbClr val="FFFFFF"/>
                </a:solidFill>
              </a:rPr>
              <a:t>s </a:t>
            </a:r>
            <a:r>
              <a:rPr dirty="0" sz="4100" spc="-1015">
                <a:solidFill>
                  <a:srgbClr val="000000"/>
                </a:solidFill>
              </a:rPr>
              <a:t>r</a:t>
            </a:r>
            <a:r>
              <a:rPr dirty="0" sz="4100" spc="-1015">
                <a:solidFill>
                  <a:srgbClr val="FFFFFF"/>
                </a:solidFill>
              </a:rPr>
              <a:t>r</a:t>
            </a:r>
            <a:r>
              <a:rPr dirty="0" sz="4100" spc="-1015">
                <a:solidFill>
                  <a:srgbClr val="000000"/>
                </a:solidFill>
              </a:rPr>
              <a:t>e</a:t>
            </a:r>
            <a:r>
              <a:rPr dirty="0" sz="4100" spc="-1015">
                <a:solidFill>
                  <a:srgbClr val="FFFFFF"/>
                </a:solidFill>
              </a:rPr>
              <a:t>e</a:t>
            </a:r>
            <a:r>
              <a:rPr dirty="0" sz="4100" spc="-1015">
                <a:solidFill>
                  <a:srgbClr val="000000"/>
                </a:solidFill>
              </a:rPr>
              <a:t>g</a:t>
            </a:r>
            <a:r>
              <a:rPr dirty="0" sz="4100" spc="-1015">
                <a:solidFill>
                  <a:srgbClr val="FFFFFF"/>
                </a:solidFill>
              </a:rPr>
              <a:t>g</a:t>
            </a:r>
            <a:r>
              <a:rPr dirty="0" sz="4100" spc="-1015">
                <a:solidFill>
                  <a:srgbClr val="000000"/>
                </a:solidFill>
              </a:rPr>
              <a:t>r</a:t>
            </a:r>
            <a:r>
              <a:rPr dirty="0" sz="4100" spc="-1015">
                <a:solidFill>
                  <a:srgbClr val="FFFFFF"/>
                </a:solidFill>
              </a:rPr>
              <a:t>r</a:t>
            </a:r>
            <a:r>
              <a:rPr dirty="0" sz="4100" spc="-1015">
                <a:solidFill>
                  <a:srgbClr val="000000"/>
                </a:solidFill>
              </a:rPr>
              <a:t>e</a:t>
            </a:r>
            <a:r>
              <a:rPr dirty="0" sz="4100" spc="-1015">
                <a:solidFill>
                  <a:srgbClr val="FFFFFF"/>
                </a:solidFill>
              </a:rPr>
              <a:t>e</a:t>
            </a:r>
            <a:r>
              <a:rPr dirty="0" sz="4100" spc="-1015">
                <a:solidFill>
                  <a:srgbClr val="000000"/>
                </a:solidFill>
              </a:rPr>
              <a:t>s</a:t>
            </a:r>
            <a:r>
              <a:rPr dirty="0" sz="4100" spc="-1015">
                <a:solidFill>
                  <a:srgbClr val="FFFFFF"/>
                </a:solidFill>
              </a:rPr>
              <a:t>s</a:t>
            </a:r>
            <a:r>
              <a:rPr dirty="0" sz="4100" spc="-1015">
                <a:solidFill>
                  <a:srgbClr val="000000"/>
                </a:solidFill>
              </a:rPr>
              <a:t>s</a:t>
            </a:r>
            <a:r>
              <a:rPr dirty="0" sz="4100" spc="-1015">
                <a:solidFill>
                  <a:srgbClr val="FFFFFF"/>
                </a:solidFill>
              </a:rPr>
              <a:t>s</a:t>
            </a:r>
            <a:r>
              <a:rPr dirty="0" sz="4100" spc="-1015">
                <a:solidFill>
                  <a:srgbClr val="000000"/>
                </a:solidFill>
              </a:rPr>
              <a:t>i</a:t>
            </a:r>
            <a:r>
              <a:rPr dirty="0" sz="4100" spc="-1015">
                <a:solidFill>
                  <a:srgbClr val="FFFFFF"/>
                </a:solidFill>
              </a:rPr>
              <a:t>i</a:t>
            </a:r>
            <a:r>
              <a:rPr dirty="0" sz="4100" spc="-1015">
                <a:solidFill>
                  <a:srgbClr val="000000"/>
                </a:solidFill>
              </a:rPr>
              <a:t>o</a:t>
            </a:r>
            <a:r>
              <a:rPr dirty="0" sz="4100" spc="-1015">
                <a:solidFill>
                  <a:srgbClr val="FFFFFF"/>
                </a:solidFill>
              </a:rPr>
              <a:t>o</a:t>
            </a:r>
            <a:r>
              <a:rPr dirty="0" sz="4100" spc="-1015">
                <a:solidFill>
                  <a:srgbClr val="000000"/>
                </a:solidFill>
              </a:rPr>
              <a:t>n</a:t>
            </a:r>
            <a:r>
              <a:rPr dirty="0" sz="4100" spc="-1015">
                <a:solidFill>
                  <a:srgbClr val="FFFFFF"/>
                </a:solidFill>
              </a:rPr>
              <a:t>n</a:t>
            </a:r>
            <a:r>
              <a:rPr dirty="0" sz="4100" spc="-1005">
                <a:solidFill>
                  <a:srgbClr val="FFFFFF"/>
                </a:solidFill>
              </a:rPr>
              <a:t> </a:t>
            </a:r>
            <a:r>
              <a:rPr dirty="0" sz="4100" spc="-919">
                <a:solidFill>
                  <a:srgbClr val="000000"/>
                </a:solidFill>
              </a:rPr>
              <a:t>a</a:t>
            </a:r>
            <a:r>
              <a:rPr dirty="0" sz="4100" spc="-919">
                <a:solidFill>
                  <a:srgbClr val="FFFFFF"/>
                </a:solidFill>
              </a:rPr>
              <a:t>a</a:t>
            </a:r>
            <a:r>
              <a:rPr dirty="0" sz="4100" spc="-919">
                <a:solidFill>
                  <a:srgbClr val="000000"/>
                </a:solidFill>
              </a:rPr>
              <a:t>n</a:t>
            </a:r>
            <a:r>
              <a:rPr dirty="0" sz="4100" spc="-919">
                <a:solidFill>
                  <a:srgbClr val="FFFFFF"/>
                </a:solidFill>
              </a:rPr>
              <a:t>n</a:t>
            </a:r>
            <a:r>
              <a:rPr dirty="0" sz="4100" spc="-919">
                <a:solidFill>
                  <a:srgbClr val="000000"/>
                </a:solidFill>
              </a:rPr>
              <a:t>a</a:t>
            </a:r>
            <a:r>
              <a:rPr dirty="0" sz="4100" spc="-919">
                <a:solidFill>
                  <a:srgbClr val="FFFFFF"/>
                </a:solidFill>
              </a:rPr>
              <a:t>a</a:t>
            </a:r>
            <a:r>
              <a:rPr dirty="0" sz="4100" spc="-919">
                <a:solidFill>
                  <a:srgbClr val="000000"/>
                </a:solidFill>
              </a:rPr>
              <a:t>l</a:t>
            </a:r>
            <a:r>
              <a:rPr dirty="0" sz="4100" spc="-919">
                <a:solidFill>
                  <a:srgbClr val="FFFFFF"/>
                </a:solidFill>
              </a:rPr>
              <a:t>l</a:t>
            </a:r>
            <a:r>
              <a:rPr dirty="0" sz="4100" spc="-919">
                <a:solidFill>
                  <a:srgbClr val="000000"/>
                </a:solidFill>
              </a:rPr>
              <a:t>y</a:t>
            </a:r>
            <a:r>
              <a:rPr dirty="0" sz="4100" spc="-919">
                <a:solidFill>
                  <a:srgbClr val="FFFFFF"/>
                </a:solidFill>
              </a:rPr>
              <a:t>y</a:t>
            </a:r>
            <a:r>
              <a:rPr dirty="0" sz="4100" spc="-919">
                <a:solidFill>
                  <a:srgbClr val="000000"/>
                </a:solidFill>
              </a:rPr>
              <a:t>s</a:t>
            </a:r>
            <a:r>
              <a:rPr dirty="0" sz="4100" spc="-919">
                <a:solidFill>
                  <a:srgbClr val="FFFFFF"/>
                </a:solidFill>
              </a:rPr>
              <a:t>s</a:t>
            </a:r>
            <a:r>
              <a:rPr dirty="0" sz="4100" spc="-919">
                <a:solidFill>
                  <a:srgbClr val="000000"/>
                </a:solidFill>
              </a:rPr>
              <a:t>i</a:t>
            </a:r>
            <a:r>
              <a:rPr dirty="0" sz="4100" spc="-919">
                <a:solidFill>
                  <a:srgbClr val="FFFFFF"/>
                </a:solidFill>
              </a:rPr>
              <a:t>i</a:t>
            </a:r>
            <a:r>
              <a:rPr dirty="0" sz="4100" spc="-919">
                <a:solidFill>
                  <a:srgbClr val="000000"/>
                </a:solidFill>
              </a:rPr>
              <a:t>s</a:t>
            </a:r>
            <a:r>
              <a:rPr dirty="0" sz="4100" spc="-919">
                <a:solidFill>
                  <a:srgbClr val="FFFFFF"/>
                </a:solidFill>
              </a:rPr>
              <a:t>s</a:t>
            </a:r>
            <a:r>
              <a:rPr dirty="0" sz="4100" spc="-919">
                <a:solidFill>
                  <a:srgbClr val="000000"/>
                </a:solidFill>
              </a:rPr>
              <a:t>?</a:t>
            </a:r>
            <a:r>
              <a:rPr dirty="0" sz="4100" spc="-919">
                <a:solidFill>
                  <a:srgbClr val="FFFFFF"/>
                </a:solidFill>
              </a:rPr>
              <a:t>?</a:t>
            </a:r>
            <a:endParaRPr sz="4100"/>
          </a:p>
        </p:txBody>
      </p:sp>
      <p:sp>
        <p:nvSpPr>
          <p:cNvPr id="3" name="object 3"/>
          <p:cNvSpPr/>
          <p:nvPr/>
        </p:nvSpPr>
        <p:spPr>
          <a:xfrm>
            <a:off x="10713719" y="5995415"/>
            <a:ext cx="811530" cy="491490"/>
          </a:xfrm>
          <a:custGeom>
            <a:avLst/>
            <a:gdLst/>
            <a:ahLst/>
            <a:cxnLst/>
            <a:rect l="l" t="t" r="r" b="b"/>
            <a:pathLst>
              <a:path w="811529" h="491489">
                <a:moveTo>
                  <a:pt x="0" y="0"/>
                </a:moveTo>
                <a:lnTo>
                  <a:pt x="811529" y="0"/>
                </a:lnTo>
                <a:lnTo>
                  <a:pt x="8115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30">
                <a:latin typeface="Cambria"/>
                <a:cs typeface="Cambria"/>
              </a:rPr>
              <a:t>4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dirty="0" sz="1200" spc="-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45">
                <a:latin typeface="Cambria"/>
                <a:cs typeface="Cambria"/>
              </a:rPr>
              <a:t>/</a:t>
            </a:r>
            <a:r>
              <a:rPr dirty="0" sz="1200" spc="-3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30">
                <a:latin typeface="Cambria"/>
                <a:cs typeface="Cambria"/>
              </a:rPr>
              <a:t>1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200" spc="-330">
                <a:latin typeface="Cambria"/>
                <a:cs typeface="Cambria"/>
              </a:rPr>
              <a:t>8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5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8851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14"/>
              <a:t>An </a:t>
            </a:r>
            <a:r>
              <a:rPr dirty="0" spc="-235"/>
              <a:t>Overview </a:t>
            </a:r>
            <a:r>
              <a:rPr dirty="0" spc="-140"/>
              <a:t>of </a:t>
            </a:r>
            <a:r>
              <a:rPr dirty="0" spc="-110"/>
              <a:t>Regression</a:t>
            </a:r>
            <a:r>
              <a:rPr dirty="0" spc="-495"/>
              <a:t> </a:t>
            </a:r>
            <a:r>
              <a:rPr dirty="0" spc="-7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6054" y="1425575"/>
            <a:ext cx="9455150" cy="3433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59385" algn="l"/>
                <a:tab pos="2632710" algn="l"/>
              </a:tabLst>
            </a:pPr>
            <a:r>
              <a:rPr dirty="0" sz="1800" spc="-90" b="1">
                <a:solidFill>
                  <a:srgbClr val="C2132D"/>
                </a:solidFill>
                <a:latin typeface="Arial"/>
                <a:cs typeface="Arial"/>
              </a:rPr>
              <a:t>Given: </a:t>
            </a:r>
            <a:r>
              <a:rPr dirty="0" sz="1800" spc="60">
                <a:solidFill>
                  <a:srgbClr val="585D60"/>
                </a:solidFill>
                <a:latin typeface="Tahoma"/>
                <a:cs typeface="Tahoma"/>
              </a:rPr>
              <a:t>(</a:t>
            </a:r>
            <a:r>
              <a:rPr dirty="0" sz="1600" spc="6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baseline="-13333" sz="1875" spc="89">
                <a:solidFill>
                  <a:srgbClr val="585D60"/>
                </a:solidFill>
                <a:latin typeface="Tahoma"/>
                <a:cs typeface="Tahoma"/>
              </a:rPr>
              <a:t>1</a:t>
            </a:r>
            <a:r>
              <a:rPr dirty="0" sz="1800" spc="60">
                <a:solidFill>
                  <a:srgbClr val="585D60"/>
                </a:solidFill>
                <a:latin typeface="Tahoma"/>
                <a:cs typeface="Tahoma"/>
              </a:rPr>
              <a:t>, </a:t>
            </a:r>
            <a:r>
              <a:rPr dirty="0" sz="1600" spc="2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3333" sz="1875" spc="30">
                <a:solidFill>
                  <a:srgbClr val="585D60"/>
                </a:solidFill>
                <a:latin typeface="Tahoma"/>
                <a:cs typeface="Tahoma"/>
              </a:rPr>
              <a:t>1</a:t>
            </a:r>
            <a:r>
              <a:rPr dirty="0" sz="1800" spc="20">
                <a:solidFill>
                  <a:srgbClr val="585D60"/>
                </a:solidFill>
                <a:latin typeface="Tahoma"/>
                <a:cs typeface="Tahoma"/>
              </a:rPr>
              <a:t>),</a:t>
            </a:r>
            <a:r>
              <a:rPr dirty="0" sz="1800" spc="-80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Tahoma"/>
                <a:cs typeface="Tahoma"/>
              </a:rPr>
              <a:t>(</a:t>
            </a:r>
            <a:r>
              <a:rPr dirty="0" sz="1600" spc="6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baseline="-13333" sz="1875" spc="89">
                <a:solidFill>
                  <a:srgbClr val="585D60"/>
                </a:solidFill>
                <a:latin typeface="Tahoma"/>
                <a:cs typeface="Tahoma"/>
              </a:rPr>
              <a:t>2</a:t>
            </a:r>
            <a:r>
              <a:rPr dirty="0" sz="1800" spc="60">
                <a:solidFill>
                  <a:srgbClr val="585D60"/>
                </a:solidFill>
                <a:latin typeface="Tahoma"/>
                <a:cs typeface="Tahoma"/>
              </a:rPr>
              <a:t>,</a:t>
            </a:r>
            <a:r>
              <a:rPr dirty="0" sz="1800" spc="-260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2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3333" sz="1875" spc="30">
                <a:solidFill>
                  <a:srgbClr val="585D60"/>
                </a:solidFill>
                <a:latin typeface="Tahoma"/>
                <a:cs typeface="Tahoma"/>
              </a:rPr>
              <a:t>2</a:t>
            </a:r>
            <a:r>
              <a:rPr dirty="0" sz="1800" spc="20">
                <a:solidFill>
                  <a:srgbClr val="585D60"/>
                </a:solidFill>
                <a:latin typeface="Tahoma"/>
                <a:cs typeface="Tahoma"/>
              </a:rPr>
              <a:t>),	</a:t>
            </a:r>
            <a:r>
              <a:rPr dirty="0" sz="1800" spc="635">
                <a:solidFill>
                  <a:srgbClr val="585D60"/>
                </a:solidFill>
                <a:latin typeface="Tahoma"/>
                <a:cs typeface="Tahoma"/>
              </a:rPr>
              <a:t>…</a:t>
            </a:r>
            <a:r>
              <a:rPr dirty="0" sz="1800" spc="-26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ahoma"/>
                <a:cs typeface="Tahoma"/>
              </a:rPr>
              <a:t>,</a:t>
            </a:r>
            <a:r>
              <a:rPr dirty="0" sz="1800" spc="-26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Tahoma"/>
                <a:cs typeface="Tahoma"/>
              </a:rPr>
              <a:t>(</a:t>
            </a:r>
            <a:r>
              <a:rPr dirty="0" sz="1600" spc="10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baseline="-14492" sz="1725" spc="150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r>
              <a:rPr dirty="0" sz="1800" spc="100">
                <a:solidFill>
                  <a:srgbClr val="585D60"/>
                </a:solidFill>
                <a:latin typeface="Tahoma"/>
                <a:cs typeface="Tahoma"/>
              </a:rPr>
              <a:t>,</a:t>
            </a:r>
            <a:r>
              <a:rPr dirty="0" sz="1800" spc="-26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3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44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r>
              <a:rPr dirty="0" sz="1800" spc="30">
                <a:solidFill>
                  <a:srgbClr val="585D60"/>
                </a:solidFill>
                <a:latin typeface="Tahoma"/>
                <a:cs typeface="Tahoma"/>
              </a:rPr>
              <a:t>)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Learn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function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195" i="1">
                <a:solidFill>
                  <a:srgbClr val="585D60"/>
                </a:solidFill>
                <a:latin typeface="Arial"/>
                <a:cs typeface="Arial"/>
              </a:rPr>
              <a:t>f</a:t>
            </a:r>
            <a:r>
              <a:rPr dirty="0" sz="1800" spc="195">
                <a:solidFill>
                  <a:srgbClr val="585D60"/>
                </a:solidFill>
                <a:latin typeface="Tahoma"/>
                <a:cs typeface="Tahoma"/>
              </a:rPr>
              <a:t>(</a:t>
            </a:r>
            <a:r>
              <a:rPr dirty="0" sz="1600" spc="195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sz="1800" spc="195">
                <a:solidFill>
                  <a:srgbClr val="585D60"/>
                </a:solidFill>
                <a:latin typeface="Tahoma"/>
                <a:cs typeface="Tahoma"/>
              </a:rPr>
              <a:t>)</a:t>
            </a:r>
            <a:r>
              <a:rPr dirty="0" sz="1800" spc="-120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predict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8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600" spc="1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given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2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If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8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600" spc="1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continuous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variable,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we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do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have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type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problem.</a:t>
            </a:r>
            <a:endParaRPr sz="1800">
              <a:latin typeface="Trebuchet MS"/>
              <a:cs typeface="Trebuchet MS"/>
            </a:endParaRPr>
          </a:p>
          <a:p>
            <a:pPr lvl="1" marL="539750" marR="5969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In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this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class,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we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will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not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585D60"/>
                </a:solidFill>
                <a:latin typeface="Trebuchet MS"/>
                <a:cs typeface="Trebuchet MS"/>
              </a:rPr>
              <a:t>limit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ourselves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simple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multiple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linear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models. 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Hence,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we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will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also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explore: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(a)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more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advanced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linear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models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10">
                <a:solidFill>
                  <a:srgbClr val="585D60"/>
                </a:solidFill>
                <a:latin typeface="Trebuchet MS"/>
                <a:cs typeface="Trebuchet MS"/>
              </a:rPr>
              <a:t>(e.g.,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LASSO),</a:t>
            </a:r>
            <a:endParaRPr sz="1800">
              <a:latin typeface="Trebuchet MS"/>
              <a:cs typeface="Trebuchet MS"/>
            </a:endParaRPr>
          </a:p>
          <a:p>
            <a:pPr lvl="2" marL="539750" marR="17780">
              <a:lnSpc>
                <a:spcPts val="2550"/>
              </a:lnSpc>
              <a:spcBef>
                <a:spcPts val="75"/>
              </a:spcBef>
              <a:buAutoNum type="alphaLcParenBoth" startAt="2"/>
              <a:tabLst>
                <a:tab pos="883285" algn="l"/>
              </a:tabLst>
            </a:pP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non-linear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models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10">
                <a:solidFill>
                  <a:srgbClr val="585D60"/>
                </a:solidFill>
                <a:latin typeface="Trebuchet MS"/>
                <a:cs typeface="Trebuchet MS"/>
              </a:rPr>
              <a:t>(e.g.,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polynomial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75">
                <a:solidFill>
                  <a:srgbClr val="585D60"/>
                </a:solidFill>
                <a:latin typeface="Trebuchet MS"/>
                <a:cs typeface="Trebuchet MS"/>
              </a:rPr>
              <a:t>),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(c)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machine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learning 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models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like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decision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Trebuchet MS"/>
                <a:cs typeface="Trebuchet MS"/>
              </a:rPr>
              <a:t>trees,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random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forests,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585D60"/>
                </a:solidFill>
                <a:latin typeface="Trebuchet MS"/>
                <a:cs typeface="Trebuchet MS"/>
              </a:rPr>
              <a:t>etc.</a:t>
            </a:r>
            <a:endParaRPr sz="1800">
              <a:latin typeface="Trebuchet MS"/>
              <a:cs typeface="Trebuchet MS"/>
            </a:endParaRPr>
          </a:p>
          <a:p>
            <a:pPr lvl="3" marL="920750" indent="-134620">
              <a:lnSpc>
                <a:spcPct val="100000"/>
              </a:lnSpc>
              <a:spcBef>
                <a:spcPts val="1140"/>
              </a:spcBef>
              <a:buClr>
                <a:srgbClr val="C2132D"/>
              </a:buClr>
              <a:buChar char="•"/>
              <a:tabLst>
                <a:tab pos="921385" algn="l"/>
              </a:tabLst>
            </a:pP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Simple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linear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regression: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single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predictor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225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sz="1600" spc="5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Tahoma"/>
                <a:cs typeface="Tahoma"/>
              </a:rPr>
              <a:t>→</a:t>
            </a:r>
            <a:r>
              <a:rPr dirty="0" sz="1800" spc="-6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-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lvl="3" marL="9207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921385" algn="l"/>
              </a:tabLst>
            </a:pP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Multiple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linear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regression: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multiple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predictors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75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baseline="-13333" sz="1875" spc="112">
                <a:solidFill>
                  <a:srgbClr val="585D60"/>
                </a:solidFill>
                <a:latin typeface="Tahoma"/>
                <a:cs typeface="Tahoma"/>
              </a:rPr>
              <a:t>1</a:t>
            </a:r>
            <a:r>
              <a:rPr dirty="0" sz="1800" spc="75">
                <a:solidFill>
                  <a:srgbClr val="585D60"/>
                </a:solidFill>
                <a:latin typeface="Tahoma"/>
                <a:cs typeface="Tahoma"/>
              </a:rPr>
              <a:t>,</a:t>
            </a:r>
            <a:r>
              <a:rPr dirty="0" sz="1800" spc="-26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75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baseline="-13333" sz="1875" spc="112">
                <a:solidFill>
                  <a:srgbClr val="585D60"/>
                </a:solidFill>
                <a:latin typeface="Tahoma"/>
                <a:cs typeface="Tahoma"/>
              </a:rPr>
              <a:t>2</a:t>
            </a:r>
            <a:r>
              <a:rPr dirty="0" sz="1800" spc="75">
                <a:solidFill>
                  <a:srgbClr val="585D60"/>
                </a:solidFill>
                <a:latin typeface="Tahoma"/>
                <a:cs typeface="Tahoma"/>
              </a:rPr>
              <a:t>,</a:t>
            </a:r>
            <a:r>
              <a:rPr dirty="0" sz="1800" spc="-26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800" spc="635">
                <a:solidFill>
                  <a:srgbClr val="585D60"/>
                </a:solidFill>
                <a:latin typeface="Tahoma"/>
                <a:cs typeface="Tahoma"/>
              </a:rPr>
              <a:t>…</a:t>
            </a:r>
            <a:r>
              <a:rPr dirty="0" sz="1800" spc="-26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ahoma"/>
                <a:cs typeface="Tahoma"/>
              </a:rPr>
              <a:t>,</a:t>
            </a:r>
            <a:r>
              <a:rPr dirty="0" sz="1800" spc="-26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11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baseline="-14492" sz="1725" spc="165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baseline="-14492" sz="1725" spc="40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Tahoma"/>
                <a:cs typeface="Tahoma"/>
              </a:rPr>
              <a:t>→</a:t>
            </a:r>
            <a:r>
              <a:rPr dirty="0" sz="1800" spc="-6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-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5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302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0"/>
              <a:t>Simple </a:t>
            </a:r>
            <a:r>
              <a:rPr dirty="0" spc="-190"/>
              <a:t>Linear</a:t>
            </a:r>
            <a:r>
              <a:rPr dirty="0" spc="-370"/>
              <a:t> </a:t>
            </a:r>
            <a:r>
              <a:rPr dirty="0" spc="-11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6300" y="1380997"/>
            <a:ext cx="9775190" cy="4645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8465" marR="43180" indent="-120650">
              <a:lnSpc>
                <a:spcPct val="121100"/>
              </a:lnSpc>
              <a:spcBef>
                <a:spcPts val="95"/>
              </a:spcBef>
              <a:buClr>
                <a:srgbClr val="C2132D"/>
              </a:buClr>
              <a:buChar char="•"/>
              <a:tabLst>
                <a:tab pos="419100" algn="l"/>
              </a:tabLst>
            </a:pPr>
            <a:r>
              <a:rPr dirty="0" sz="1600" spc="20">
                <a:solidFill>
                  <a:srgbClr val="585D60"/>
                </a:solidFill>
                <a:latin typeface="Trebuchet MS"/>
                <a:cs typeface="Trebuchet MS"/>
              </a:rPr>
              <a:t>Simple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585D60"/>
                </a:solidFill>
                <a:latin typeface="Trebuchet MS"/>
                <a:cs typeface="Trebuchet MS"/>
              </a:rPr>
              <a:t>linear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Trebuchet MS"/>
                <a:cs typeface="Trebuchet MS"/>
              </a:rPr>
              <a:t>statistical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Trebuchet MS"/>
                <a:cs typeface="Trebuchet MS"/>
              </a:rPr>
              <a:t>method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585D60"/>
                </a:solidFill>
                <a:latin typeface="Trebuchet MS"/>
                <a:cs typeface="Trebuchet MS"/>
              </a:rPr>
              <a:t>that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Trebuchet MS"/>
                <a:cs typeface="Trebuchet MS"/>
              </a:rPr>
              <a:t>allows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100">
                <a:solidFill>
                  <a:srgbClr val="585D60"/>
                </a:solidFill>
                <a:latin typeface="Trebuchet MS"/>
                <a:cs typeface="Trebuchet MS"/>
              </a:rPr>
              <a:t>us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Trebuchet MS"/>
                <a:cs typeface="Trebuchet MS"/>
              </a:rPr>
              <a:t>summarize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Trebuchet MS"/>
                <a:cs typeface="Trebuchet MS"/>
              </a:rPr>
              <a:t>study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Trebuchet MS"/>
                <a:cs typeface="Trebuchet MS"/>
              </a:rPr>
              <a:t>relationship  </a:t>
            </a:r>
            <a:r>
              <a:rPr dirty="0" sz="1600" spc="-15">
                <a:solidFill>
                  <a:srgbClr val="585D60"/>
                </a:solidFill>
                <a:latin typeface="Trebuchet MS"/>
                <a:cs typeface="Trebuchet MS"/>
              </a:rPr>
              <a:t>between </a:t>
            </a:r>
            <a:r>
              <a:rPr dirty="0" sz="1600" spc="40">
                <a:solidFill>
                  <a:srgbClr val="585D60"/>
                </a:solidFill>
                <a:latin typeface="Trebuchet MS"/>
                <a:cs typeface="Trebuchet MS"/>
              </a:rPr>
              <a:t>a </a:t>
            </a:r>
            <a:r>
              <a:rPr dirty="0" sz="1600" spc="-50" b="1">
                <a:solidFill>
                  <a:srgbClr val="C2132D"/>
                </a:solidFill>
                <a:latin typeface="Arial"/>
                <a:cs typeface="Arial"/>
              </a:rPr>
              <a:t>response </a:t>
            </a:r>
            <a:r>
              <a:rPr dirty="0" sz="1600" spc="-35" b="1">
                <a:solidFill>
                  <a:srgbClr val="C2132D"/>
                </a:solidFill>
                <a:latin typeface="Arial"/>
                <a:cs typeface="Arial"/>
              </a:rPr>
              <a:t>variable </a:t>
            </a:r>
            <a:r>
              <a:rPr dirty="0" sz="1600" spc="2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600" spc="-2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50" b="1">
                <a:solidFill>
                  <a:srgbClr val="C2132D"/>
                </a:solidFill>
                <a:latin typeface="Arial"/>
                <a:cs typeface="Arial"/>
              </a:rPr>
              <a:t>one </a:t>
            </a:r>
            <a:r>
              <a:rPr dirty="0" sz="1600" spc="-40" b="1">
                <a:solidFill>
                  <a:srgbClr val="C2132D"/>
                </a:solidFill>
                <a:latin typeface="Arial"/>
                <a:cs typeface="Arial"/>
              </a:rPr>
              <a:t>predictor </a:t>
            </a:r>
            <a:r>
              <a:rPr dirty="0" sz="1600" spc="-50" b="1">
                <a:solidFill>
                  <a:srgbClr val="C2132D"/>
                </a:solidFill>
                <a:latin typeface="Arial"/>
                <a:cs typeface="Arial"/>
              </a:rPr>
              <a:t>variable</a:t>
            </a:r>
            <a:r>
              <a:rPr dirty="0" sz="1600" spc="-5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  <a:p>
            <a:pPr algn="ctr" marR="5080">
              <a:lnSpc>
                <a:spcPct val="100000"/>
              </a:lnSpc>
              <a:spcBef>
                <a:spcPts val="1455"/>
              </a:spcBef>
            </a:pPr>
            <a:r>
              <a:rPr dirty="0" sz="1450" spc="6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3227" sz="1575" spc="97" i="1">
                <a:solidFill>
                  <a:srgbClr val="585D60"/>
                </a:solidFill>
                <a:latin typeface="Arial"/>
                <a:cs typeface="Arial"/>
              </a:rPr>
              <a:t>i </a:t>
            </a:r>
            <a:r>
              <a:rPr dirty="0" sz="1600" spc="95">
                <a:solidFill>
                  <a:srgbClr val="585D60"/>
                </a:solidFill>
                <a:latin typeface="Tahoma"/>
                <a:cs typeface="Tahoma"/>
              </a:rPr>
              <a:t>= </a:t>
            </a:r>
            <a:r>
              <a:rPr dirty="0" sz="1450" spc="15" i="1">
                <a:solidFill>
                  <a:srgbClr val="585D60"/>
                </a:solidFill>
                <a:latin typeface="Arial"/>
                <a:cs typeface="Arial"/>
              </a:rPr>
              <a:t>β</a:t>
            </a:r>
            <a:r>
              <a:rPr dirty="0" baseline="-12077" sz="1725" spc="22">
                <a:solidFill>
                  <a:srgbClr val="585D60"/>
                </a:solidFill>
                <a:latin typeface="Tahoma"/>
                <a:cs typeface="Tahoma"/>
              </a:rPr>
              <a:t>0 </a:t>
            </a:r>
            <a:r>
              <a:rPr dirty="0" sz="1600" spc="95">
                <a:solidFill>
                  <a:srgbClr val="585D60"/>
                </a:solidFill>
                <a:latin typeface="Tahoma"/>
                <a:cs typeface="Tahoma"/>
              </a:rPr>
              <a:t>+ </a:t>
            </a:r>
            <a:r>
              <a:rPr dirty="0" sz="1450" spc="160" i="1">
                <a:solidFill>
                  <a:srgbClr val="585D60"/>
                </a:solidFill>
                <a:latin typeface="Arial"/>
                <a:cs typeface="Arial"/>
              </a:rPr>
              <a:t>β</a:t>
            </a:r>
            <a:r>
              <a:rPr dirty="0" baseline="-12077" sz="1725" spc="240">
                <a:solidFill>
                  <a:srgbClr val="585D60"/>
                </a:solidFill>
                <a:latin typeface="Tahoma"/>
                <a:cs typeface="Tahoma"/>
              </a:rPr>
              <a:t>1</a:t>
            </a:r>
            <a:r>
              <a:rPr dirty="0" sz="1450" spc="16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baseline="-13227" sz="1575" spc="240" i="1">
                <a:solidFill>
                  <a:srgbClr val="585D60"/>
                </a:solidFill>
                <a:latin typeface="Arial"/>
                <a:cs typeface="Arial"/>
              </a:rPr>
              <a:t>i </a:t>
            </a:r>
            <a:r>
              <a:rPr dirty="0" sz="1600" spc="95">
                <a:solidFill>
                  <a:srgbClr val="585D60"/>
                </a:solidFill>
                <a:latin typeface="Tahoma"/>
                <a:cs typeface="Tahoma"/>
              </a:rPr>
              <a:t>+</a:t>
            </a:r>
            <a:r>
              <a:rPr dirty="0" sz="1600" spc="-31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450" spc="135" i="1">
                <a:solidFill>
                  <a:srgbClr val="585D60"/>
                </a:solidFill>
                <a:latin typeface="Arial"/>
                <a:cs typeface="Arial"/>
              </a:rPr>
              <a:t>ε</a:t>
            </a:r>
            <a:r>
              <a:rPr dirty="0" baseline="-13227" sz="1575" spc="202" i="1">
                <a:solidFill>
                  <a:srgbClr val="585D60"/>
                </a:solidFill>
                <a:latin typeface="Arial"/>
                <a:cs typeface="Arial"/>
              </a:rPr>
              <a:t>i</a:t>
            </a:r>
            <a:endParaRPr baseline="-13227" sz="1575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dirty="0" sz="1600" spc="-45">
                <a:solidFill>
                  <a:srgbClr val="585D60"/>
                </a:solidFill>
                <a:latin typeface="Trebuchet MS"/>
                <a:cs typeface="Trebuchet MS"/>
              </a:rPr>
              <a:t>where: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rebuchet MS"/>
              <a:cs typeface="Trebuchet MS"/>
            </a:endParaRPr>
          </a:p>
          <a:p>
            <a:pPr marL="419100" indent="-120650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SzPct val="110344"/>
              <a:buFont typeface="Trebuchet MS"/>
              <a:buChar char="•"/>
              <a:tabLst>
                <a:tab pos="419100" algn="l"/>
              </a:tabLst>
            </a:pPr>
            <a:r>
              <a:rPr dirty="0" sz="1450" spc="6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3227" sz="1575" spc="97" i="1">
                <a:solidFill>
                  <a:srgbClr val="585D60"/>
                </a:solidFill>
                <a:latin typeface="Arial"/>
                <a:cs typeface="Arial"/>
              </a:rPr>
              <a:t>i </a:t>
            </a:r>
            <a:r>
              <a:rPr dirty="0" sz="1600" spc="60">
                <a:solidFill>
                  <a:srgbClr val="585D60"/>
                </a:solidFill>
                <a:latin typeface="Trebuchet MS"/>
                <a:cs typeface="Trebuchet MS"/>
              </a:rPr>
              <a:t>is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 </a:t>
            </a:r>
            <a:r>
              <a:rPr dirty="0" sz="1600" spc="-5">
                <a:solidFill>
                  <a:srgbClr val="585D60"/>
                </a:solidFill>
                <a:latin typeface="Trebuchet MS"/>
                <a:cs typeface="Trebuchet MS"/>
              </a:rPr>
              <a:t>dependent </a:t>
            </a:r>
            <a:r>
              <a:rPr dirty="0" sz="1600" spc="-20">
                <a:solidFill>
                  <a:srgbClr val="585D60"/>
                </a:solidFill>
                <a:latin typeface="Trebuchet MS"/>
                <a:cs typeface="Trebuchet MS"/>
              </a:rPr>
              <a:t>variable </a:t>
            </a:r>
            <a:r>
              <a:rPr dirty="0" sz="1600" spc="-15">
                <a:solidFill>
                  <a:srgbClr val="585D60"/>
                </a:solidFill>
                <a:latin typeface="Trebuchet MS"/>
                <a:cs typeface="Trebuchet MS"/>
              </a:rPr>
              <a:t>for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 </a:t>
            </a:r>
            <a:r>
              <a:rPr dirty="0" sz="1450" spc="140" i="1">
                <a:solidFill>
                  <a:srgbClr val="585D60"/>
                </a:solidFill>
                <a:latin typeface="Arial"/>
                <a:cs typeface="Arial"/>
              </a:rPr>
              <a:t>i</a:t>
            </a:r>
            <a:r>
              <a:rPr dirty="0" baseline="31746" sz="1575" spc="209" i="1">
                <a:solidFill>
                  <a:srgbClr val="585D60"/>
                </a:solidFill>
                <a:latin typeface="Arial"/>
                <a:cs typeface="Arial"/>
              </a:rPr>
              <a:t>th</a:t>
            </a:r>
            <a:r>
              <a:rPr dirty="0" baseline="31746" sz="1575" spc="-22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Trebuchet MS"/>
                <a:cs typeface="Trebuchet MS"/>
              </a:rPr>
              <a:t>observation.</a:t>
            </a:r>
            <a:endParaRPr sz="1600">
              <a:latin typeface="Trebuchet MS"/>
              <a:cs typeface="Trebuchet MS"/>
            </a:endParaRPr>
          </a:p>
          <a:p>
            <a:pPr marL="4191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SzPct val="110344"/>
              <a:buFont typeface="Trebuchet MS"/>
              <a:buChar char="•"/>
              <a:tabLst>
                <a:tab pos="419100" algn="l"/>
              </a:tabLst>
            </a:pPr>
            <a:r>
              <a:rPr dirty="0" sz="1450" spc="265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baseline="-13227" sz="1575" spc="397" i="1">
                <a:solidFill>
                  <a:srgbClr val="585D60"/>
                </a:solidFill>
                <a:latin typeface="Arial"/>
                <a:cs typeface="Arial"/>
              </a:rPr>
              <a:t>i</a:t>
            </a:r>
            <a:r>
              <a:rPr dirty="0" baseline="-13227" sz="1575" spc="284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Trebuchet MS"/>
                <a:cs typeface="Trebuchet MS"/>
              </a:rPr>
              <a:t>independent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585D60"/>
                </a:solidFill>
                <a:latin typeface="Trebuchet MS"/>
                <a:cs typeface="Trebuchet MS"/>
              </a:rPr>
              <a:t>variable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Trebuchet MS"/>
                <a:cs typeface="Trebuchet MS"/>
              </a:rPr>
              <a:t>for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450" spc="140" i="1">
                <a:solidFill>
                  <a:srgbClr val="585D60"/>
                </a:solidFill>
                <a:latin typeface="Arial"/>
                <a:cs typeface="Arial"/>
              </a:rPr>
              <a:t>i</a:t>
            </a:r>
            <a:r>
              <a:rPr dirty="0" baseline="31746" sz="1575" spc="209" i="1">
                <a:solidFill>
                  <a:srgbClr val="585D60"/>
                </a:solidFill>
                <a:latin typeface="Arial"/>
                <a:cs typeface="Arial"/>
              </a:rPr>
              <a:t>th</a:t>
            </a:r>
            <a:r>
              <a:rPr dirty="0" baseline="31746" sz="1575" spc="284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Trebuchet MS"/>
                <a:cs typeface="Trebuchet MS"/>
              </a:rPr>
              <a:t>observation.</a:t>
            </a:r>
            <a:endParaRPr sz="1600">
              <a:latin typeface="Trebuchet MS"/>
              <a:cs typeface="Trebuchet MS"/>
            </a:endParaRPr>
          </a:p>
          <a:p>
            <a:pPr marL="4191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SzPct val="110344"/>
              <a:buFont typeface="Trebuchet MS"/>
              <a:buChar char="•"/>
              <a:tabLst>
                <a:tab pos="419100" algn="l"/>
              </a:tabLst>
            </a:pPr>
            <a:r>
              <a:rPr dirty="0" sz="1450" spc="15" i="1">
                <a:solidFill>
                  <a:srgbClr val="585D60"/>
                </a:solidFill>
                <a:latin typeface="Arial"/>
                <a:cs typeface="Arial"/>
              </a:rPr>
              <a:t>β</a:t>
            </a:r>
            <a:r>
              <a:rPr dirty="0" baseline="-12077" sz="1725" spc="22">
                <a:solidFill>
                  <a:srgbClr val="585D60"/>
                </a:solidFill>
                <a:latin typeface="Tahoma"/>
                <a:cs typeface="Tahoma"/>
              </a:rPr>
              <a:t>0</a:t>
            </a:r>
            <a:r>
              <a:rPr dirty="0" baseline="-12077" sz="1725" spc="179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585D60"/>
                </a:solidFill>
                <a:latin typeface="Trebuchet MS"/>
                <a:cs typeface="Trebuchet MS"/>
              </a:rPr>
              <a:t>intercept,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Trebuchet MS"/>
                <a:cs typeface="Trebuchet MS"/>
              </a:rPr>
              <a:t>which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Trebuchet MS"/>
                <a:cs typeface="Trebuchet MS"/>
              </a:rPr>
              <a:t>value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450" spc="-3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450" spc="29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Trebuchet MS"/>
                <a:cs typeface="Trebuchet MS"/>
              </a:rPr>
              <a:t>when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450" spc="37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sz="1450" spc="8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95">
                <a:solidFill>
                  <a:srgbClr val="585D60"/>
                </a:solidFill>
                <a:latin typeface="Tahoma"/>
                <a:cs typeface="Tahoma"/>
              </a:rPr>
              <a:t>=</a:t>
            </a:r>
            <a:r>
              <a:rPr dirty="0" sz="1600" spc="-50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-114">
                <a:solidFill>
                  <a:srgbClr val="585D60"/>
                </a:solidFill>
                <a:latin typeface="Tahoma"/>
                <a:cs typeface="Tahoma"/>
              </a:rPr>
              <a:t>0</a:t>
            </a:r>
            <a:r>
              <a:rPr dirty="0" sz="1600" spc="-114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  <a:p>
            <a:pPr marL="4191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SzPct val="110344"/>
              <a:buFont typeface="Trebuchet MS"/>
              <a:buChar char="•"/>
              <a:tabLst>
                <a:tab pos="419100" algn="l"/>
              </a:tabLst>
            </a:pPr>
            <a:r>
              <a:rPr dirty="0" sz="1450" spc="15" i="1">
                <a:solidFill>
                  <a:srgbClr val="585D60"/>
                </a:solidFill>
                <a:latin typeface="Arial"/>
                <a:cs typeface="Arial"/>
              </a:rPr>
              <a:t>β</a:t>
            </a:r>
            <a:r>
              <a:rPr dirty="0" baseline="-12077" sz="1725" spc="22">
                <a:solidFill>
                  <a:srgbClr val="585D60"/>
                </a:solidFill>
                <a:latin typeface="Tahoma"/>
                <a:cs typeface="Tahoma"/>
              </a:rPr>
              <a:t>1</a:t>
            </a:r>
            <a:r>
              <a:rPr dirty="0" baseline="-12077" sz="1725" spc="179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Trebuchet MS"/>
                <a:cs typeface="Trebuchet MS"/>
              </a:rPr>
              <a:t>slope,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Trebuchet MS"/>
                <a:cs typeface="Trebuchet MS"/>
              </a:rPr>
              <a:t>which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Trebuchet MS"/>
                <a:cs typeface="Trebuchet MS"/>
              </a:rPr>
              <a:t>change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585D60"/>
                </a:solidFill>
                <a:latin typeface="Trebuchet MS"/>
                <a:cs typeface="Trebuchet MS"/>
              </a:rPr>
              <a:t>in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450" spc="-3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450" spc="29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Trebuchet MS"/>
                <a:cs typeface="Trebuchet MS"/>
              </a:rPr>
              <a:t>for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585D60"/>
                </a:solidFill>
                <a:latin typeface="Trebuchet MS"/>
                <a:cs typeface="Trebuchet MS"/>
              </a:rPr>
              <a:t>one-unit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Trebuchet MS"/>
                <a:cs typeface="Trebuchet MS"/>
              </a:rPr>
              <a:t>change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585D60"/>
                </a:solidFill>
                <a:latin typeface="Trebuchet MS"/>
                <a:cs typeface="Trebuchet MS"/>
              </a:rPr>
              <a:t>in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450" spc="12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sz="1600" spc="12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  <a:p>
            <a:pPr marL="418465" marR="321945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SzPct val="110344"/>
              <a:buFont typeface="Trebuchet MS"/>
              <a:buChar char="•"/>
              <a:tabLst>
                <a:tab pos="419100" algn="l"/>
              </a:tabLst>
            </a:pPr>
            <a:r>
              <a:rPr dirty="0" sz="1450" spc="135" i="1">
                <a:solidFill>
                  <a:srgbClr val="585D60"/>
                </a:solidFill>
                <a:latin typeface="Arial"/>
                <a:cs typeface="Arial"/>
              </a:rPr>
              <a:t>ε</a:t>
            </a:r>
            <a:r>
              <a:rPr dirty="0" baseline="-13227" sz="1575" spc="202" i="1">
                <a:solidFill>
                  <a:srgbClr val="585D60"/>
                </a:solidFill>
                <a:latin typeface="Arial"/>
                <a:cs typeface="Arial"/>
              </a:rPr>
              <a:t>i</a:t>
            </a:r>
            <a:r>
              <a:rPr dirty="0" baseline="-13227" sz="1575" spc="292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585D60"/>
                </a:solidFill>
                <a:latin typeface="Trebuchet MS"/>
                <a:cs typeface="Trebuchet MS"/>
              </a:rPr>
              <a:t>error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term,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135">
                <a:solidFill>
                  <a:srgbClr val="585D60"/>
                </a:solidFill>
                <a:latin typeface="Trebuchet MS"/>
                <a:cs typeface="Trebuchet MS"/>
              </a:rPr>
              <a:t>i.e.,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585D60"/>
                </a:solidFill>
                <a:latin typeface="Trebuchet MS"/>
                <a:cs typeface="Trebuchet MS"/>
              </a:rPr>
              <a:t>difference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Trebuchet MS"/>
                <a:cs typeface="Trebuchet MS"/>
              </a:rPr>
              <a:t>between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Trebuchet MS"/>
                <a:cs typeface="Trebuchet MS"/>
              </a:rPr>
              <a:t>observed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Trebuchet MS"/>
                <a:cs typeface="Trebuchet MS"/>
              </a:rPr>
              <a:t>value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450" spc="-3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450" spc="30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Trebuchet MS"/>
                <a:cs typeface="Trebuchet MS"/>
              </a:rPr>
              <a:t>its</a:t>
            </a:r>
            <a:r>
              <a:rPr dirty="0" sz="16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585D60"/>
                </a:solidFill>
                <a:latin typeface="Trebuchet MS"/>
                <a:cs typeface="Trebuchet MS"/>
              </a:rPr>
              <a:t>predicted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Trebuchet MS"/>
                <a:cs typeface="Trebuchet MS"/>
              </a:rPr>
              <a:t>value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Trebuchet MS"/>
                <a:cs typeface="Trebuchet MS"/>
              </a:rPr>
              <a:t>from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  </a:t>
            </a:r>
            <a:r>
              <a:rPr dirty="0" sz="1600" spc="-15">
                <a:solidFill>
                  <a:srgbClr val="585D60"/>
                </a:solidFill>
                <a:latin typeface="Trebuchet MS"/>
                <a:cs typeface="Trebuchet MS"/>
              </a:rPr>
              <a:t>model.</a:t>
            </a:r>
            <a:endParaRPr sz="1600">
              <a:latin typeface="Trebuchet MS"/>
              <a:cs typeface="Trebuchet MS"/>
            </a:endParaRPr>
          </a:p>
          <a:p>
            <a:pPr lvl="1" marL="8001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800100" algn="l"/>
              </a:tabLst>
            </a:pPr>
            <a:r>
              <a:rPr dirty="0" sz="1600" spc="-55">
                <a:solidFill>
                  <a:srgbClr val="585D60"/>
                </a:solidFill>
                <a:latin typeface="Trebuchet MS"/>
                <a:cs typeface="Trebuchet MS"/>
              </a:rPr>
              <a:t>It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Trebuchet MS"/>
                <a:cs typeface="Trebuchet MS"/>
              </a:rPr>
              <a:t>captures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585D60"/>
                </a:solidFill>
                <a:latin typeface="Trebuchet MS"/>
                <a:cs typeface="Trebuchet MS"/>
              </a:rPr>
              <a:t>effect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585D60"/>
                </a:solidFill>
                <a:latin typeface="Trebuchet MS"/>
                <a:cs typeface="Trebuchet MS"/>
              </a:rPr>
              <a:t>all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585D60"/>
                </a:solidFill>
                <a:latin typeface="Trebuchet MS"/>
                <a:cs typeface="Trebuchet MS"/>
              </a:rPr>
              <a:t>other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Trebuchet MS"/>
                <a:cs typeface="Trebuchet MS"/>
              </a:rPr>
              <a:t>factors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585D60"/>
                </a:solidFill>
                <a:latin typeface="Trebuchet MS"/>
                <a:cs typeface="Trebuchet MS"/>
              </a:rPr>
              <a:t>that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Trebuchet MS"/>
                <a:cs typeface="Trebuchet MS"/>
              </a:rPr>
              <a:t>influence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Trebuchet MS"/>
                <a:cs typeface="Trebuchet MS"/>
              </a:rPr>
              <a:t>dependent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variable.</a:t>
            </a:r>
            <a:endParaRPr sz="1600">
              <a:latin typeface="Trebuchet MS"/>
              <a:cs typeface="Trebuchet MS"/>
            </a:endParaRPr>
          </a:p>
          <a:p>
            <a:pPr lvl="1" marL="8001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800100" algn="l"/>
              </a:tabLst>
            </a:pPr>
            <a:r>
              <a:rPr dirty="0" sz="1600" spc="15">
                <a:solidFill>
                  <a:srgbClr val="585D60"/>
                </a:solidFill>
                <a:latin typeface="Trebuchet MS"/>
                <a:cs typeface="Trebuchet MS"/>
              </a:rPr>
              <a:t>We</a:t>
            </a:r>
            <a:r>
              <a:rPr dirty="0" sz="16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85">
                <a:solidFill>
                  <a:srgbClr val="585D60"/>
                </a:solidFill>
                <a:latin typeface="Trebuchet MS"/>
                <a:cs typeface="Trebuchet MS"/>
              </a:rPr>
              <a:t>assume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585D60"/>
                </a:solidFill>
                <a:latin typeface="Trebuchet MS"/>
                <a:cs typeface="Trebuchet MS"/>
              </a:rPr>
              <a:t>that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585D60"/>
                </a:solidFill>
                <a:latin typeface="Trebuchet MS"/>
                <a:cs typeface="Trebuchet MS"/>
              </a:rPr>
              <a:t>error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585D60"/>
                </a:solidFill>
                <a:latin typeface="Trebuchet MS"/>
                <a:cs typeface="Trebuchet MS"/>
              </a:rPr>
              <a:t>term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260">
                <a:solidFill>
                  <a:srgbClr val="585D60"/>
                </a:solidFill>
                <a:latin typeface="Trebuchet MS"/>
                <a:cs typeface="Trebuchet MS"/>
              </a:rPr>
              <a:t>~</a:t>
            </a:r>
            <a:r>
              <a:rPr dirty="0" sz="16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450" spc="75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r>
              <a:rPr dirty="0" sz="1600" spc="75">
                <a:solidFill>
                  <a:srgbClr val="585D60"/>
                </a:solidFill>
                <a:latin typeface="Tahoma"/>
                <a:cs typeface="Tahoma"/>
              </a:rPr>
              <a:t>(0,</a:t>
            </a:r>
            <a:r>
              <a:rPr dirty="0" sz="1600" spc="-229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450" i="1">
                <a:solidFill>
                  <a:srgbClr val="585D60"/>
                </a:solidFill>
                <a:latin typeface="Arial"/>
                <a:cs typeface="Arial"/>
              </a:rPr>
              <a:t>σ</a:t>
            </a:r>
            <a:r>
              <a:rPr dirty="0" baseline="24154" sz="1725">
                <a:solidFill>
                  <a:srgbClr val="585D60"/>
                </a:solidFill>
                <a:latin typeface="Tahoma"/>
                <a:cs typeface="Tahoma"/>
              </a:rPr>
              <a:t>2</a:t>
            </a:r>
            <a:r>
              <a:rPr dirty="0" sz="1600">
                <a:solidFill>
                  <a:srgbClr val="585D60"/>
                </a:solidFill>
                <a:latin typeface="Tahoma"/>
                <a:cs typeface="Tahoma"/>
              </a:rPr>
              <a:t>)</a:t>
            </a:r>
            <a:r>
              <a:rPr dirty="0" sz="160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754" y="1376044"/>
            <a:ext cx="9138920" cy="3168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45">
                <a:solidFill>
                  <a:srgbClr val="585D60"/>
                </a:solidFill>
                <a:latin typeface="Trebuchet MS"/>
                <a:cs typeface="Trebuchet MS"/>
              </a:rPr>
              <a:t>Using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any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software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your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choice,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analyze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zeroAccessUFO.csv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dataset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by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answering 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following</a:t>
            </a:r>
            <a:r>
              <a:rPr dirty="0" sz="1800" spc="-15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questions:</a:t>
            </a:r>
            <a:endParaRPr sz="1800">
              <a:latin typeface="Trebuchet MS"/>
              <a:cs typeface="Trebuchet MS"/>
            </a:endParaRPr>
          </a:p>
          <a:p>
            <a:pPr lvl="1" marL="527050" marR="440690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Plot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relationship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between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number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UFO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sightings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Trebuchet MS"/>
                <a:cs typeface="Trebuchet MS"/>
              </a:rPr>
              <a:t>(</a:t>
            </a:r>
            <a:r>
              <a:rPr dirty="0" sz="1600" spc="9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sz="1600" spc="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ahoma"/>
                <a:cs typeface="Tahoma"/>
              </a:rPr>
              <a:t>=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ufo2010)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 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number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zeroAccess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infections</a:t>
            </a:r>
            <a:r>
              <a:rPr dirty="0" sz="1800" spc="-4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(</a:t>
            </a:r>
            <a:r>
              <a:rPr dirty="0" sz="1600" spc="15" i="1">
                <a:solidFill>
                  <a:srgbClr val="585D60"/>
                </a:solidFill>
                <a:latin typeface="Arial"/>
                <a:cs typeface="Arial"/>
              </a:rPr>
              <a:t>y </a:t>
            </a:r>
            <a:r>
              <a:rPr dirty="0" sz="1800" spc="-15">
                <a:solidFill>
                  <a:srgbClr val="585D60"/>
                </a:solidFill>
                <a:latin typeface="Tahoma"/>
                <a:cs typeface="Tahoma"/>
              </a:rPr>
              <a:t>=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infections).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55">
                <a:solidFill>
                  <a:srgbClr val="585D60"/>
                </a:solidFill>
                <a:latin typeface="Trebuchet MS"/>
                <a:cs typeface="Trebuchet MS"/>
              </a:rPr>
              <a:t>Use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plot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determine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585D60"/>
                </a:solidFill>
                <a:latin typeface="Trebuchet MS"/>
                <a:cs typeface="Trebuchet MS"/>
              </a:rPr>
              <a:t>if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linear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relationship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exists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between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two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variables.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If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linear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relationship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exists,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fit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simple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linear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model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data.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Describe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Trebuchet MS"/>
                <a:cs typeface="Trebuchet MS"/>
              </a:rPr>
              <a:t>goodness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fit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model.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What </a:t>
            </a: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is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your</a:t>
            </a:r>
            <a:r>
              <a:rPr dirty="0" sz="1800" spc="-35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Trebuchet MS"/>
                <a:cs typeface="Trebuchet MS"/>
              </a:rPr>
              <a:t>conclusion?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Recall</a:t>
            </a:r>
            <a:r>
              <a:rPr dirty="0" spc="-245"/>
              <a:t> </a:t>
            </a:r>
            <a:r>
              <a:rPr dirty="0" spc="5"/>
              <a:t>ISA</a:t>
            </a:r>
            <a:r>
              <a:rPr dirty="0" spc="-240"/>
              <a:t> </a:t>
            </a:r>
            <a:r>
              <a:rPr dirty="0" spc="-180"/>
              <a:t>225:</a:t>
            </a:r>
            <a:r>
              <a:rPr dirty="0" spc="-240"/>
              <a:t> </a:t>
            </a:r>
            <a:r>
              <a:rPr dirty="0" spc="-30"/>
              <a:t>A</a:t>
            </a:r>
            <a:r>
              <a:rPr dirty="0" spc="-240"/>
              <a:t> </a:t>
            </a:r>
            <a:r>
              <a:rPr dirty="0" spc="-160"/>
              <a:t>Simple</a:t>
            </a:r>
            <a:r>
              <a:rPr dirty="0" spc="-240"/>
              <a:t> </a:t>
            </a:r>
            <a:r>
              <a:rPr dirty="0" spc="-190"/>
              <a:t>Linear</a:t>
            </a:r>
            <a:r>
              <a:rPr dirty="0" spc="-240"/>
              <a:t> </a:t>
            </a:r>
            <a:r>
              <a:rPr dirty="0" spc="-110"/>
              <a:t>Regression</a:t>
            </a:r>
            <a:r>
              <a:rPr dirty="0" spc="-240"/>
              <a:t> </a:t>
            </a:r>
            <a:r>
              <a:rPr dirty="0" spc="-114"/>
              <a:t>Example</a:t>
            </a:r>
            <a:r>
              <a:rPr dirty="0" baseline="21604" sz="5400" spc="-172">
                <a:latin typeface="Courier New"/>
                <a:cs typeface="Courier New"/>
              </a:rPr>
              <a:t>10:00</a:t>
            </a:r>
            <a:endParaRPr baseline="21604" sz="5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5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754" y="1871345"/>
            <a:ext cx="8698230" cy="328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Question </a:t>
            </a:r>
            <a:r>
              <a:rPr dirty="0" sz="1800" spc="-35" b="1">
                <a:solidFill>
                  <a:srgbClr val="C2132D"/>
                </a:solidFill>
                <a:latin typeface="Arial"/>
                <a:cs typeface="Arial"/>
              </a:rPr>
              <a:t>1: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What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happens </a:t>
            </a:r>
            <a:r>
              <a:rPr dirty="0" sz="1800" spc="-60">
                <a:solidFill>
                  <a:srgbClr val="585D60"/>
                </a:solidFill>
                <a:latin typeface="Trebuchet MS"/>
                <a:cs typeface="Trebuchet MS"/>
              </a:rPr>
              <a:t>if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you: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(a)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add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pop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your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model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 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fit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a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multiple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linear 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model?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(b)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fit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single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linear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model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using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pop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alone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Trebuchet MS"/>
                <a:cs typeface="Trebuchet MS"/>
              </a:rPr>
              <a:t>as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 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predictor?</a:t>
            </a:r>
            <a:endParaRPr sz="1800">
              <a:latin typeface="Trebuchet MS"/>
              <a:cs typeface="Trebuchet MS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Question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Arial"/>
                <a:cs typeface="Arial"/>
              </a:rPr>
              <a:t>2: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Compute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correlation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between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pop</a:t>
            </a:r>
            <a:r>
              <a:rPr dirty="0" sz="1700" spc="-57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C2132D"/>
                </a:solidFill>
                <a:latin typeface="Courier New"/>
                <a:cs typeface="Courier New"/>
              </a:rPr>
              <a:t>ufo2010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Question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Arial"/>
                <a:cs typeface="Arial"/>
              </a:rPr>
              <a:t>3: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Describe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what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you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have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learned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from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these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two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exercises.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C2132D"/>
              </a:buClr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46050" indent="-133985">
              <a:lnSpc>
                <a:spcPct val="100000"/>
              </a:lnSpc>
              <a:buFont typeface="Trebuchet MS"/>
              <a:buChar char="•"/>
              <a:tabLst>
                <a:tab pos="146685" algn="l"/>
              </a:tabLst>
            </a:pPr>
            <a:r>
              <a:rPr dirty="0" sz="1800" spc="-75" b="1">
                <a:solidFill>
                  <a:srgbClr val="C2132D"/>
                </a:solidFill>
                <a:latin typeface="Arial"/>
                <a:cs typeface="Arial"/>
              </a:rPr>
              <a:t>Q1: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Edit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me</a:t>
            </a:r>
            <a:r>
              <a:rPr dirty="0" sz="1800" spc="-3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in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your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web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browser.</a:t>
            </a:r>
            <a:endParaRPr sz="1800">
              <a:latin typeface="Trebuchet MS"/>
              <a:cs typeface="Trebuchet MS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75" b="1">
                <a:solidFill>
                  <a:srgbClr val="C2132D"/>
                </a:solidFill>
                <a:latin typeface="Arial"/>
                <a:cs typeface="Arial"/>
              </a:rPr>
              <a:t>Q2: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Edit</a:t>
            </a:r>
            <a:r>
              <a:rPr dirty="0" sz="1800" spc="-1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me.</a:t>
            </a:r>
            <a:endParaRPr sz="1800">
              <a:latin typeface="Trebuchet MS"/>
              <a:cs typeface="Trebuchet MS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75" b="1">
                <a:solidFill>
                  <a:srgbClr val="C2132D"/>
                </a:solidFill>
                <a:latin typeface="Arial"/>
                <a:cs typeface="Arial"/>
              </a:rPr>
              <a:t>Q3: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Edit</a:t>
            </a:r>
            <a:r>
              <a:rPr dirty="0" sz="1800" spc="-1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me.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3660" rIns="0" bIns="0" rtlCol="0" vert="horz">
            <a:spAutoFit/>
          </a:bodyPr>
          <a:lstStyle/>
          <a:p>
            <a:pPr marL="487045" marR="17780">
              <a:lnSpc>
                <a:spcPts val="3900"/>
              </a:lnSpc>
              <a:spcBef>
                <a:spcPts val="580"/>
              </a:spcBef>
            </a:pPr>
            <a:r>
              <a:rPr dirty="0" spc="-100"/>
              <a:t>"Miami </a:t>
            </a:r>
            <a:r>
              <a:rPr dirty="0" spc="-200"/>
              <a:t>Univeristy </a:t>
            </a:r>
            <a:r>
              <a:rPr dirty="0" spc="-95"/>
              <a:t>Links </a:t>
            </a:r>
            <a:r>
              <a:rPr dirty="0" spc="-215"/>
              <a:t>UFO </a:t>
            </a:r>
            <a:r>
              <a:rPr dirty="0" spc="-90"/>
              <a:t>Sightings </a:t>
            </a:r>
            <a:r>
              <a:rPr dirty="0" spc="-235"/>
              <a:t>to</a:t>
            </a:r>
            <a:r>
              <a:rPr dirty="0" spc="-665"/>
              <a:t> </a:t>
            </a:r>
            <a:r>
              <a:rPr dirty="0" spc="-145"/>
              <a:t>ZeroAccess</a:t>
            </a:r>
            <a:r>
              <a:rPr dirty="0" baseline="21604" sz="5400" spc="-217">
                <a:latin typeface="Courier New"/>
                <a:cs typeface="Courier New"/>
              </a:rPr>
              <a:t>05:00  </a:t>
            </a:r>
            <a:r>
              <a:rPr dirty="0" sz="3350" spc="-135"/>
              <a:t>Infections"</a:t>
            </a:r>
            <a:endParaRPr sz="3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5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696" y="2752344"/>
            <a:ext cx="8769350" cy="1049020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1150"/>
              </a:spcBef>
            </a:pPr>
            <a:r>
              <a:rPr dirty="0" sz="4100" spc="-1385">
                <a:solidFill>
                  <a:srgbClr val="000000"/>
                </a:solidFill>
              </a:rPr>
              <a:t>O</a:t>
            </a:r>
            <a:r>
              <a:rPr dirty="0" sz="4100" spc="-1385">
                <a:solidFill>
                  <a:srgbClr val="FFFFFF"/>
                </a:solidFill>
              </a:rPr>
              <a:t>O</a:t>
            </a:r>
            <a:r>
              <a:rPr dirty="0" sz="4100" spc="-1385">
                <a:solidFill>
                  <a:srgbClr val="000000"/>
                </a:solidFill>
              </a:rPr>
              <a:t>n</a:t>
            </a:r>
            <a:r>
              <a:rPr dirty="0" sz="4100" spc="-1385">
                <a:solidFill>
                  <a:srgbClr val="FFFFFF"/>
                </a:solidFill>
              </a:rPr>
              <a:t>n</a:t>
            </a:r>
            <a:r>
              <a:rPr dirty="0" sz="4100" spc="-270">
                <a:solidFill>
                  <a:srgbClr val="FFFFFF"/>
                </a:solidFill>
              </a:rPr>
              <a:t> </a:t>
            </a:r>
            <a:r>
              <a:rPr dirty="0" sz="4100" spc="-1180">
                <a:solidFill>
                  <a:srgbClr val="000000"/>
                </a:solidFill>
              </a:rPr>
              <a:t>t</a:t>
            </a:r>
            <a:r>
              <a:rPr dirty="0" sz="4100" spc="-1180">
                <a:solidFill>
                  <a:srgbClr val="FFFFFF"/>
                </a:solidFill>
              </a:rPr>
              <a:t>t</a:t>
            </a:r>
            <a:r>
              <a:rPr dirty="0" sz="4100" spc="-1180">
                <a:solidFill>
                  <a:srgbClr val="000000"/>
                </a:solidFill>
              </a:rPr>
              <a:t>h</a:t>
            </a:r>
            <a:r>
              <a:rPr dirty="0" sz="4100" spc="-1180">
                <a:solidFill>
                  <a:srgbClr val="FFFFFF"/>
                </a:solidFill>
              </a:rPr>
              <a:t>h</a:t>
            </a:r>
            <a:r>
              <a:rPr dirty="0" sz="4100" spc="-1180">
                <a:solidFill>
                  <a:srgbClr val="000000"/>
                </a:solidFill>
              </a:rPr>
              <a:t>e</a:t>
            </a:r>
            <a:r>
              <a:rPr dirty="0" sz="4100" spc="-1180">
                <a:solidFill>
                  <a:srgbClr val="FFFFFF"/>
                </a:solidFill>
              </a:rPr>
              <a:t>e </a:t>
            </a:r>
            <a:r>
              <a:rPr dirty="0" sz="4100" spc="-1095">
                <a:solidFill>
                  <a:srgbClr val="000000"/>
                </a:solidFill>
              </a:rPr>
              <a:t>D</a:t>
            </a:r>
            <a:r>
              <a:rPr dirty="0" sz="4100" spc="-1095">
                <a:solidFill>
                  <a:srgbClr val="FFFFFF"/>
                </a:solidFill>
              </a:rPr>
              <a:t>D</a:t>
            </a:r>
            <a:r>
              <a:rPr dirty="0" sz="4100" spc="-1095">
                <a:solidFill>
                  <a:srgbClr val="000000"/>
                </a:solidFill>
              </a:rPr>
              <a:t>i</a:t>
            </a:r>
            <a:r>
              <a:rPr dirty="0" sz="4100" spc="-1095">
                <a:solidFill>
                  <a:srgbClr val="FFFFFF"/>
                </a:solidFill>
              </a:rPr>
              <a:t>i</a:t>
            </a:r>
            <a:r>
              <a:rPr dirty="0" sz="4100" spc="-1095">
                <a:solidFill>
                  <a:srgbClr val="000000"/>
                </a:solidFill>
              </a:rPr>
              <a:t>f</a:t>
            </a:r>
            <a:r>
              <a:rPr dirty="0" sz="4100" spc="-1095">
                <a:solidFill>
                  <a:srgbClr val="FFFFFF"/>
                </a:solidFill>
              </a:rPr>
              <a:t>f</a:t>
            </a:r>
            <a:r>
              <a:rPr dirty="0" sz="4100" spc="-1095">
                <a:solidFill>
                  <a:srgbClr val="000000"/>
                </a:solidFill>
              </a:rPr>
              <a:t>f</a:t>
            </a:r>
            <a:r>
              <a:rPr dirty="0" sz="4100" spc="-1095">
                <a:solidFill>
                  <a:srgbClr val="FFFFFF"/>
                </a:solidFill>
              </a:rPr>
              <a:t>f</a:t>
            </a:r>
            <a:r>
              <a:rPr dirty="0" sz="4100" spc="-1095">
                <a:solidFill>
                  <a:srgbClr val="000000"/>
                </a:solidFill>
              </a:rPr>
              <a:t>e</a:t>
            </a:r>
            <a:r>
              <a:rPr dirty="0" sz="4100" spc="-1095">
                <a:solidFill>
                  <a:srgbClr val="FFFFFF"/>
                </a:solidFill>
              </a:rPr>
              <a:t>e</a:t>
            </a:r>
            <a:r>
              <a:rPr dirty="0" sz="4100" spc="-1095">
                <a:solidFill>
                  <a:srgbClr val="000000"/>
                </a:solidFill>
              </a:rPr>
              <a:t>r</a:t>
            </a:r>
            <a:r>
              <a:rPr dirty="0" sz="4100" spc="-1095">
                <a:solidFill>
                  <a:srgbClr val="FFFFFF"/>
                </a:solidFill>
              </a:rPr>
              <a:t>r</a:t>
            </a:r>
            <a:r>
              <a:rPr dirty="0" sz="4100" spc="-1095">
                <a:solidFill>
                  <a:srgbClr val="000000"/>
                </a:solidFill>
              </a:rPr>
              <a:t>e</a:t>
            </a:r>
            <a:r>
              <a:rPr dirty="0" sz="4100" spc="-1095">
                <a:solidFill>
                  <a:srgbClr val="FFFFFF"/>
                </a:solidFill>
              </a:rPr>
              <a:t>e</a:t>
            </a:r>
            <a:r>
              <a:rPr dirty="0" sz="4100" spc="-1095">
                <a:solidFill>
                  <a:srgbClr val="000000"/>
                </a:solidFill>
              </a:rPr>
              <a:t>n</a:t>
            </a:r>
            <a:r>
              <a:rPr dirty="0" sz="4100" spc="-1095">
                <a:solidFill>
                  <a:srgbClr val="FFFFFF"/>
                </a:solidFill>
              </a:rPr>
              <a:t>n</a:t>
            </a:r>
            <a:r>
              <a:rPr dirty="0" sz="4100" spc="-1095">
                <a:solidFill>
                  <a:srgbClr val="000000"/>
                </a:solidFill>
              </a:rPr>
              <a:t>c</a:t>
            </a:r>
            <a:r>
              <a:rPr dirty="0" sz="4100" spc="-1095">
                <a:solidFill>
                  <a:srgbClr val="FFFFFF"/>
                </a:solidFill>
              </a:rPr>
              <a:t>c</a:t>
            </a:r>
            <a:r>
              <a:rPr dirty="0" sz="4100" spc="-1095">
                <a:solidFill>
                  <a:srgbClr val="000000"/>
                </a:solidFill>
              </a:rPr>
              <a:t>e</a:t>
            </a:r>
            <a:r>
              <a:rPr dirty="0" sz="4100" spc="-1095">
                <a:solidFill>
                  <a:srgbClr val="FFFFFF"/>
                </a:solidFill>
              </a:rPr>
              <a:t>e </a:t>
            </a:r>
            <a:r>
              <a:rPr dirty="0" sz="4100" spc="-1295">
                <a:solidFill>
                  <a:srgbClr val="000000"/>
                </a:solidFill>
              </a:rPr>
              <a:t>b</a:t>
            </a:r>
            <a:r>
              <a:rPr dirty="0" sz="4100" spc="-1295">
                <a:solidFill>
                  <a:srgbClr val="FFFFFF"/>
                </a:solidFill>
              </a:rPr>
              <a:t>b</a:t>
            </a:r>
            <a:r>
              <a:rPr dirty="0" sz="4100" spc="-1295">
                <a:solidFill>
                  <a:srgbClr val="000000"/>
                </a:solidFill>
              </a:rPr>
              <a:t>e</a:t>
            </a:r>
            <a:r>
              <a:rPr dirty="0" sz="4100" spc="-1295">
                <a:solidFill>
                  <a:srgbClr val="FFFFFF"/>
                </a:solidFill>
              </a:rPr>
              <a:t>e</a:t>
            </a:r>
            <a:r>
              <a:rPr dirty="0" sz="4100" spc="-1295">
                <a:solidFill>
                  <a:srgbClr val="000000"/>
                </a:solidFill>
              </a:rPr>
              <a:t>t</a:t>
            </a:r>
            <a:r>
              <a:rPr dirty="0" sz="4100" spc="-1295">
                <a:solidFill>
                  <a:srgbClr val="FFFFFF"/>
                </a:solidFill>
              </a:rPr>
              <a:t>t</a:t>
            </a:r>
            <a:r>
              <a:rPr dirty="0" sz="4100" spc="-1295">
                <a:solidFill>
                  <a:srgbClr val="000000"/>
                </a:solidFill>
              </a:rPr>
              <a:t>w</a:t>
            </a:r>
            <a:r>
              <a:rPr dirty="0" sz="4100" spc="-1295">
                <a:solidFill>
                  <a:srgbClr val="FFFFFF"/>
                </a:solidFill>
              </a:rPr>
              <a:t>w</a:t>
            </a:r>
            <a:r>
              <a:rPr dirty="0" sz="4100" spc="-1295">
                <a:solidFill>
                  <a:srgbClr val="000000"/>
                </a:solidFill>
              </a:rPr>
              <a:t>e</a:t>
            </a:r>
            <a:r>
              <a:rPr dirty="0" sz="4100" spc="-1295">
                <a:solidFill>
                  <a:srgbClr val="FFFFFF"/>
                </a:solidFill>
              </a:rPr>
              <a:t>e</a:t>
            </a:r>
            <a:r>
              <a:rPr dirty="0" sz="4100" spc="-1295">
                <a:solidFill>
                  <a:srgbClr val="000000"/>
                </a:solidFill>
              </a:rPr>
              <a:t>e</a:t>
            </a:r>
            <a:r>
              <a:rPr dirty="0" sz="4100" spc="-1295">
                <a:solidFill>
                  <a:srgbClr val="FFFFFF"/>
                </a:solidFill>
              </a:rPr>
              <a:t>e</a:t>
            </a:r>
            <a:r>
              <a:rPr dirty="0" sz="4100" spc="-1295">
                <a:solidFill>
                  <a:srgbClr val="000000"/>
                </a:solidFill>
              </a:rPr>
              <a:t>n</a:t>
            </a:r>
            <a:r>
              <a:rPr dirty="0" sz="4100" spc="-1295">
                <a:solidFill>
                  <a:srgbClr val="FFFFFF"/>
                </a:solidFill>
              </a:rPr>
              <a:t>n</a:t>
            </a:r>
            <a:r>
              <a:rPr dirty="0" sz="4100" spc="-270">
                <a:solidFill>
                  <a:srgbClr val="FFFFFF"/>
                </a:solidFill>
              </a:rPr>
              <a:t> </a:t>
            </a:r>
            <a:r>
              <a:rPr dirty="0" sz="4100" spc="-1295">
                <a:solidFill>
                  <a:srgbClr val="000000"/>
                </a:solidFill>
              </a:rPr>
              <a:t>R</a:t>
            </a:r>
            <a:r>
              <a:rPr dirty="0" sz="4100" spc="-1295">
                <a:solidFill>
                  <a:srgbClr val="FFFFFF"/>
                </a:solidFill>
              </a:rPr>
              <a:t>R</a:t>
            </a:r>
            <a:r>
              <a:rPr dirty="0" sz="4100" spc="-265">
                <a:solidFill>
                  <a:srgbClr val="FFFFFF"/>
                </a:solidFill>
              </a:rPr>
              <a:t> </a:t>
            </a:r>
            <a:r>
              <a:rPr dirty="0" sz="4100" spc="-1225">
                <a:solidFill>
                  <a:srgbClr val="000000"/>
                </a:solidFill>
              </a:rPr>
              <a:t>a</a:t>
            </a:r>
            <a:r>
              <a:rPr dirty="0" sz="4100" spc="-1225">
                <a:solidFill>
                  <a:srgbClr val="FFFFFF"/>
                </a:solidFill>
              </a:rPr>
              <a:t>a</a:t>
            </a:r>
            <a:r>
              <a:rPr dirty="0" sz="4100" spc="-1225">
                <a:solidFill>
                  <a:srgbClr val="000000"/>
                </a:solidFill>
              </a:rPr>
              <a:t>n</a:t>
            </a:r>
            <a:r>
              <a:rPr dirty="0" sz="4100" spc="-1225">
                <a:solidFill>
                  <a:srgbClr val="FFFFFF"/>
                </a:solidFill>
              </a:rPr>
              <a:t>n</a:t>
            </a:r>
            <a:r>
              <a:rPr dirty="0" sz="4100" spc="-1225">
                <a:solidFill>
                  <a:srgbClr val="000000"/>
                </a:solidFill>
              </a:rPr>
              <a:t>d</a:t>
            </a:r>
            <a:r>
              <a:rPr dirty="0" sz="4100" spc="-1225">
                <a:solidFill>
                  <a:srgbClr val="FFFFFF"/>
                </a:solidFill>
              </a:rPr>
              <a:t>d</a:t>
            </a:r>
            <a:r>
              <a:rPr dirty="0" sz="4100" spc="-1220">
                <a:solidFill>
                  <a:srgbClr val="FFFFFF"/>
                </a:solidFill>
              </a:rPr>
              <a:t> </a:t>
            </a:r>
            <a:r>
              <a:rPr dirty="0" sz="4100" spc="-1165">
                <a:solidFill>
                  <a:srgbClr val="000000"/>
                </a:solidFill>
              </a:rPr>
              <a:t>P</a:t>
            </a:r>
            <a:r>
              <a:rPr dirty="0" sz="4100" spc="-1165">
                <a:solidFill>
                  <a:srgbClr val="FFFFFF"/>
                </a:solidFill>
              </a:rPr>
              <a:t>P</a:t>
            </a:r>
            <a:r>
              <a:rPr dirty="0" sz="4100" spc="-1165">
                <a:solidFill>
                  <a:srgbClr val="000000"/>
                </a:solidFill>
              </a:rPr>
              <a:t>y</a:t>
            </a:r>
            <a:r>
              <a:rPr dirty="0" sz="4100" spc="-1165">
                <a:solidFill>
                  <a:srgbClr val="FFFFFF"/>
                </a:solidFill>
              </a:rPr>
              <a:t>y</a:t>
            </a:r>
            <a:r>
              <a:rPr dirty="0" sz="4100" spc="-1165">
                <a:solidFill>
                  <a:srgbClr val="000000"/>
                </a:solidFill>
              </a:rPr>
              <a:t>t</a:t>
            </a:r>
            <a:r>
              <a:rPr dirty="0" sz="4100" spc="-1165">
                <a:solidFill>
                  <a:srgbClr val="FFFFFF"/>
                </a:solidFill>
              </a:rPr>
              <a:t>t</a:t>
            </a:r>
            <a:r>
              <a:rPr dirty="0" sz="4100" spc="-1165">
                <a:solidFill>
                  <a:srgbClr val="000000"/>
                </a:solidFill>
              </a:rPr>
              <a:t>h</a:t>
            </a:r>
            <a:r>
              <a:rPr dirty="0" sz="4100" spc="-1165">
                <a:solidFill>
                  <a:srgbClr val="FFFFFF"/>
                </a:solidFill>
              </a:rPr>
              <a:t>h</a:t>
            </a:r>
            <a:r>
              <a:rPr dirty="0" sz="4100" spc="-1165">
                <a:solidFill>
                  <a:srgbClr val="000000"/>
                </a:solidFill>
              </a:rPr>
              <a:t>o</a:t>
            </a:r>
            <a:r>
              <a:rPr dirty="0" sz="4100" spc="-1165">
                <a:solidFill>
                  <a:srgbClr val="FFFFFF"/>
                </a:solidFill>
              </a:rPr>
              <a:t>o</a:t>
            </a:r>
            <a:r>
              <a:rPr dirty="0" sz="4100" spc="-1165">
                <a:solidFill>
                  <a:srgbClr val="000000"/>
                </a:solidFill>
              </a:rPr>
              <a:t>n</a:t>
            </a:r>
            <a:r>
              <a:rPr dirty="0" sz="4100" spc="-1165">
                <a:solidFill>
                  <a:srgbClr val="FFFFFF"/>
                </a:solidFill>
              </a:rPr>
              <a:t>n</a:t>
            </a:r>
            <a:endParaRPr sz="4100"/>
          </a:p>
        </p:txBody>
      </p:sp>
      <p:sp>
        <p:nvSpPr>
          <p:cNvPr id="3" name="object 3"/>
          <p:cNvSpPr/>
          <p:nvPr/>
        </p:nvSpPr>
        <p:spPr>
          <a:xfrm>
            <a:off x="10716767" y="5995415"/>
            <a:ext cx="808990" cy="491490"/>
          </a:xfrm>
          <a:custGeom>
            <a:avLst/>
            <a:gdLst/>
            <a:ahLst/>
            <a:cxnLst/>
            <a:rect l="l" t="t" r="r" b="b"/>
            <a:pathLst>
              <a:path w="808990" h="491489">
                <a:moveTo>
                  <a:pt x="0" y="0"/>
                </a:moveTo>
                <a:lnTo>
                  <a:pt x="808481" y="0"/>
                </a:lnTo>
                <a:lnTo>
                  <a:pt x="808481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30">
                <a:latin typeface="Cambria"/>
                <a:cs typeface="Cambria"/>
              </a:rPr>
              <a:t>9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dirty="0" sz="1200" spc="-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45">
                <a:latin typeface="Cambria"/>
                <a:cs typeface="Cambria"/>
              </a:rPr>
              <a:t>/</a:t>
            </a:r>
            <a:r>
              <a:rPr dirty="0" sz="1200" spc="-3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30">
                <a:latin typeface="Cambria"/>
                <a:cs typeface="Cambria"/>
              </a:rPr>
              <a:t>1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200" spc="-330">
                <a:latin typeface="Cambria"/>
                <a:cs typeface="Cambria"/>
              </a:rPr>
              <a:t>8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33512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14400" y="5434012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400" y="1457325"/>
          <a:ext cx="9696450" cy="395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4450"/>
                <a:gridCol w="3981450"/>
                <a:gridCol w="4400550"/>
              </a:tblGrid>
              <a:tr h="319087"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Aspect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25400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420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12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R </a:t>
                      </a:r>
                      <a:r>
                        <a:rPr dirty="0" sz="1450" spc="-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(using </a:t>
                      </a:r>
                      <a:r>
                        <a:rPr dirty="0" sz="1450" spc="-3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1450" spc="-6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'stats'</a:t>
                      </a:r>
                      <a:r>
                        <a:rPr dirty="0" sz="1450" spc="1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50" spc="-4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package)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21094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6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Python </a:t>
                      </a:r>
                      <a:r>
                        <a:rPr dirty="0" sz="1450" spc="-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(using</a:t>
                      </a:r>
                      <a:r>
                        <a:rPr dirty="0" sz="1450" spc="-3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50" spc="-5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'PyCaret')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57212">
                <a:tc>
                  <a:txBody>
                    <a:bodyPr/>
                    <a:lstStyle/>
                    <a:p>
                      <a:pPr marL="66040" marR="589915">
                        <a:lnSpc>
                          <a:spcPts val="1650"/>
                        </a:lnSpc>
                        <a:spcBef>
                          <a:spcPts val="515"/>
                        </a:spcBef>
                      </a:pP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450" spc="1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y  </a:t>
                      </a:r>
                      <a:r>
                        <a:rPr dirty="0" sz="1450" spc="-6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Library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65405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10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stats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1663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10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PyCaret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166370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514349">
                <a:tc>
                  <a:txBody>
                    <a:bodyPr/>
                    <a:lstStyle/>
                    <a:p>
                      <a:pPr marL="66040" marR="471170">
                        <a:lnSpc>
                          <a:spcPts val="1650"/>
                        </a:lnSpc>
                        <a:spcBef>
                          <a:spcPts val="330"/>
                        </a:spcBef>
                      </a:pP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g  </a:t>
                      </a:r>
                      <a:r>
                        <a:rPr dirty="0" sz="1450" spc="-3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Mindset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624205">
                        <a:lnSpc>
                          <a:spcPts val="1650"/>
                        </a:lnSpc>
                        <a:spcBef>
                          <a:spcPts val="330"/>
                        </a:spcBef>
                      </a:pPr>
                      <a:r>
                        <a:rPr dirty="0" sz="1450" spc="-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Explanatory</a:t>
                      </a:r>
                      <a:r>
                        <a:rPr dirty="0" sz="1450" spc="-9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(focus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understanding</a:t>
                      </a:r>
                      <a:r>
                        <a:rPr dirty="0" sz="1450" spc="-9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the 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relationships </a:t>
                      </a:r>
                      <a:r>
                        <a:rPr dirty="0" sz="1450" spc="-3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between</a:t>
                      </a:r>
                      <a:r>
                        <a:rPr dirty="0" sz="1450" spc="-15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variables)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975994">
                        <a:lnSpc>
                          <a:spcPts val="1650"/>
                        </a:lnSpc>
                        <a:spcBef>
                          <a:spcPts val="330"/>
                        </a:spcBef>
                      </a:pPr>
                      <a:r>
                        <a:rPr dirty="0" sz="1450" spc="-3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Predictive </a:t>
                      </a:r>
                      <a:r>
                        <a:rPr dirty="0" sz="1450" spc="2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(focus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450" spc="-29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accurately predicting  </a:t>
                      </a:r>
                      <a:r>
                        <a:rPr dirty="0" sz="1450" spc="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outcomes)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761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6040">
                        <a:lnSpc>
                          <a:spcPct val="100000"/>
                        </a:lnSpc>
                      </a:pPr>
                      <a:r>
                        <a:rPr dirty="0" sz="1450" spc="-4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450" spc="-7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50" spc="-5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Handling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055" marR="221615">
                        <a:lnSpc>
                          <a:spcPts val="1650"/>
                        </a:lnSpc>
                        <a:spcBef>
                          <a:spcPts val="480"/>
                        </a:spcBef>
                      </a:pPr>
                      <a:r>
                        <a:rPr dirty="0" sz="1450" spc="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Models </a:t>
                      </a:r>
                      <a:r>
                        <a:rPr dirty="0" sz="1450" spc="-2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often </a:t>
                      </a:r>
                      <a:r>
                        <a:rPr dirty="0" sz="1450" spc="-9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fit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on </a:t>
                      </a:r>
                      <a:r>
                        <a:rPr dirty="0" sz="1450" spc="-5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entire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dataset </a:t>
                      </a:r>
                      <a:r>
                        <a:rPr dirty="0" sz="1450" spc="-3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without  </a:t>
                      </a:r>
                      <a:r>
                        <a:rPr dirty="0" sz="1450" spc="-4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explicit</a:t>
                      </a:r>
                      <a:r>
                        <a:rPr dirty="0" sz="1450" spc="-9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splitting</a:t>
                      </a:r>
                      <a:r>
                        <a:rPr dirty="0" sz="1450" spc="-9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(though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splitting</a:t>
                      </a:r>
                      <a:r>
                        <a:rPr dirty="0" sz="1450" spc="-9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dirty="0" sz="1450" spc="-9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done 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manually)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09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4610" marR="213360">
                        <a:lnSpc>
                          <a:spcPts val="1650"/>
                        </a:lnSpc>
                        <a:spcBef>
                          <a:spcPts val="48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Automatic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splitting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3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into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3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training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testing 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sets, </a:t>
                      </a:r>
                      <a:r>
                        <a:rPr dirty="0" sz="1450" spc="-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with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cross-validation </a:t>
                      </a:r>
                      <a:r>
                        <a:rPr dirty="0" sz="1450" spc="-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implemented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on </a:t>
                      </a:r>
                      <a:r>
                        <a:rPr dirty="0" sz="1450" spc="-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the  </a:t>
                      </a:r>
                      <a:r>
                        <a:rPr dirty="0" sz="1450" spc="-3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training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set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096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514349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450" spc="-4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Implications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1301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348615">
                        <a:lnSpc>
                          <a:spcPts val="1650"/>
                        </a:lnSpc>
                        <a:spcBef>
                          <a:spcPts val="330"/>
                        </a:spcBef>
                      </a:pPr>
                      <a:r>
                        <a:rPr dirty="0" sz="1450" spc="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Emphasis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3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quality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9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fit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and  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understanding </a:t>
                      </a:r>
                      <a:r>
                        <a:rPr dirty="0" sz="1450" spc="-3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variable</a:t>
                      </a:r>
                      <a:r>
                        <a:rPr dirty="0" sz="1450" spc="-17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relationships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130175">
                        <a:lnSpc>
                          <a:spcPts val="1650"/>
                        </a:lnSpc>
                        <a:spcBef>
                          <a:spcPts val="330"/>
                        </a:spcBef>
                      </a:pPr>
                      <a:r>
                        <a:rPr dirty="0" sz="1450" spc="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Emphasis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450" spc="-7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450" spc="-7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model's</a:t>
                      </a:r>
                      <a:r>
                        <a:rPr dirty="0" sz="1450" spc="-7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predictive</a:t>
                      </a:r>
                      <a:r>
                        <a:rPr dirty="0" sz="1450" spc="-7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performance</a:t>
                      </a:r>
                      <a:r>
                        <a:rPr dirty="0" sz="1450" spc="-7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on  </a:t>
                      </a:r>
                      <a:r>
                        <a:rPr dirty="0" sz="1450" spc="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unseen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761999">
                <a:tc>
                  <a:txBody>
                    <a:bodyPr/>
                    <a:lstStyle/>
                    <a:p>
                      <a:pPr marL="66040" marR="408940">
                        <a:lnSpc>
                          <a:spcPts val="1650"/>
                        </a:lnSpc>
                        <a:spcBef>
                          <a:spcPts val="1305"/>
                        </a:spcBef>
                      </a:pPr>
                      <a:r>
                        <a:rPr dirty="0" sz="1450" spc="-3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Model  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450" spc="-2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n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16573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055" marR="97790">
                        <a:lnSpc>
                          <a:spcPts val="1650"/>
                        </a:lnSpc>
                        <a:spcBef>
                          <a:spcPts val="480"/>
                        </a:spcBef>
                      </a:pPr>
                      <a:r>
                        <a:rPr dirty="0" sz="1450" spc="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Easier </a:t>
                      </a:r>
                      <a:r>
                        <a:rPr dirty="0" sz="1450" spc="-4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to </a:t>
                      </a:r>
                      <a:r>
                        <a:rPr dirty="0" sz="1450" spc="-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extract 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dirty="0" sz="1450" spc="-5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interpret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models,  </a:t>
                      </a:r>
                      <a:r>
                        <a:rPr dirty="0" sz="1450" spc="-3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facilitating </a:t>
                      </a:r>
                      <a:r>
                        <a:rPr dirty="0" sz="1450" spc="-3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detailed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analysis</a:t>
                      </a:r>
                      <a:r>
                        <a:rPr dirty="0" sz="1450" spc="-3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of </a:t>
                      </a:r>
                      <a:r>
                        <a:rPr dirty="0" sz="1450" spc="-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coefficients 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and 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statistical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tests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09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just" marL="54610" marR="196215">
                        <a:lnSpc>
                          <a:spcPts val="1650"/>
                        </a:lnSpc>
                        <a:spcBef>
                          <a:spcPts val="480"/>
                        </a:spcBef>
                      </a:pPr>
                      <a:r>
                        <a:rPr dirty="0" sz="1450" spc="3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More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complex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450" spc="-7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extract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specific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dirty="0" sz="1450" spc="-7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details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due  </a:t>
                      </a:r>
                      <a:r>
                        <a:rPr dirty="0" sz="1450" spc="-4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4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focus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prediction;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models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3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often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3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part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a  </a:t>
                      </a:r>
                      <a:r>
                        <a:rPr dirty="0" sz="1450" spc="-3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larger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3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pipeline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096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523874">
                <a:tc>
                  <a:txBody>
                    <a:bodyPr/>
                    <a:lstStyle/>
                    <a:p>
                      <a:pPr marL="66040" marR="385445">
                        <a:lnSpc>
                          <a:spcPts val="1730"/>
                        </a:lnSpc>
                        <a:spcBef>
                          <a:spcPts val="265"/>
                        </a:spcBef>
                      </a:pPr>
                      <a:r>
                        <a:rPr dirty="0" sz="1450" spc="-3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Model  </a:t>
                      </a:r>
                      <a:r>
                        <a:rPr dirty="0" sz="1450" spc="-2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450" spc="-1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n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460375">
                        <a:lnSpc>
                          <a:spcPts val="1730"/>
                        </a:lnSpc>
                        <a:spcBef>
                          <a:spcPts val="265"/>
                        </a:spcBef>
                      </a:pPr>
                      <a:r>
                        <a:rPr dirty="0" sz="1450" spc="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Emphasis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statistical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tests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450" spc="-8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dirty="0" sz="1450" spc="-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9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fit  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statistics </a:t>
                      </a:r>
                      <a:r>
                        <a:rPr dirty="0" sz="1450" spc="-9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(e.g., </a:t>
                      </a:r>
                      <a:r>
                        <a:rPr dirty="0" sz="1450" spc="-3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R-squared,</a:t>
                      </a:r>
                      <a:r>
                        <a:rPr dirty="0" sz="1450" spc="-15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p-values)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36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258445">
                        <a:lnSpc>
                          <a:spcPts val="1730"/>
                        </a:lnSpc>
                        <a:spcBef>
                          <a:spcPts val="265"/>
                        </a:spcBef>
                      </a:pPr>
                      <a:r>
                        <a:rPr dirty="0" sz="1450" spc="4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Emphasis</a:t>
                      </a:r>
                      <a:r>
                        <a:rPr dirty="0" sz="1450" spc="-3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2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on </a:t>
                      </a:r>
                      <a:r>
                        <a:rPr dirty="0" sz="1450" spc="-4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predictive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performance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metrics </a:t>
                      </a:r>
                      <a:r>
                        <a:rPr dirty="0" sz="1450" spc="-95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(e.g.,  </a:t>
                      </a:r>
                      <a:r>
                        <a:rPr dirty="0" sz="1450" spc="4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RMSE, </a:t>
                      </a:r>
                      <a:r>
                        <a:rPr dirty="0" sz="1450" spc="-3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R-squared,</a:t>
                      </a:r>
                      <a:r>
                        <a:rPr dirty="0" sz="1450" spc="-204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80">
                          <a:solidFill>
                            <a:srgbClr val="585D60"/>
                          </a:solidFill>
                          <a:latin typeface="Trebuchet MS"/>
                          <a:cs typeface="Trebuchet MS"/>
                        </a:rPr>
                        <a:t>MAE)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365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10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18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6836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0"/>
              <a:t>R </a:t>
            </a:r>
            <a:r>
              <a:rPr dirty="0" spc="-180"/>
              <a:t>and Python </a:t>
            </a:r>
            <a:r>
              <a:rPr dirty="0" spc="-204"/>
              <a:t>Implementations: </a:t>
            </a:r>
            <a:r>
              <a:rPr dirty="0" spc="-30"/>
              <a:t>A </a:t>
            </a:r>
            <a:r>
              <a:rPr dirty="0" spc="-185"/>
              <a:t>Brief</a:t>
            </a:r>
            <a:r>
              <a:rPr dirty="0" spc="-650"/>
              <a:t> </a:t>
            </a:r>
            <a:r>
              <a:rPr dirty="0" spc="-135"/>
              <a:t>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3821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5"/>
              <a:t>The </a:t>
            </a:r>
            <a:r>
              <a:rPr dirty="0" spc="-229"/>
              <a:t>Two </a:t>
            </a:r>
            <a:r>
              <a:rPr dirty="0" spc="-125"/>
              <a:t>Modeling </a:t>
            </a:r>
            <a:r>
              <a:rPr dirty="0" spc="-120"/>
              <a:t>Mindsets: </a:t>
            </a:r>
            <a:r>
              <a:rPr dirty="0" spc="-200"/>
              <a:t>Explanatory </a:t>
            </a:r>
            <a:r>
              <a:rPr dirty="0" spc="-80"/>
              <a:t>Vs.</a:t>
            </a:r>
            <a:r>
              <a:rPr dirty="0" spc="-540"/>
              <a:t> </a:t>
            </a:r>
            <a:r>
              <a:rPr dirty="0" spc="-204"/>
              <a:t>Predictive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11970" cy="452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Explanatory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Modeling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70">
                <a:solidFill>
                  <a:srgbClr val="585D60"/>
                </a:solidFill>
                <a:latin typeface="Trebuchet MS"/>
                <a:cs typeface="Trebuchet MS"/>
              </a:rPr>
              <a:t>Focuses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on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understanding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relationships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between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variables.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Emphasizes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quality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model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fit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understanding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variable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relationships.</a:t>
            </a:r>
            <a:endParaRPr sz="1800">
              <a:latin typeface="Trebuchet MS"/>
              <a:cs typeface="Trebuchet MS"/>
            </a:endParaRPr>
          </a:p>
          <a:p>
            <a:pPr lvl="1" marL="527050" marR="201295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Easier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extract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interpret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models,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facilitating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detailed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analysis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coefficients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 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statistical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tests.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Emphasis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on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statistical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tests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model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fit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statistics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10">
                <a:solidFill>
                  <a:srgbClr val="585D60"/>
                </a:solidFill>
                <a:latin typeface="Trebuchet MS"/>
                <a:cs typeface="Trebuchet MS"/>
              </a:rPr>
              <a:t>(e.g.,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R-squared,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p-values).</a:t>
            </a:r>
            <a:endParaRPr sz="18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C2132D"/>
              </a:buClr>
              <a:buFont typeface="Trebuchet MS"/>
              <a:buChar char="•"/>
            </a:pPr>
            <a:endParaRPr sz="1850">
              <a:latin typeface="Trebuchet MS"/>
              <a:cs typeface="Trebuchet MS"/>
            </a:endParaRPr>
          </a:p>
          <a:p>
            <a:pPr marL="146050" indent="-133985">
              <a:lnSpc>
                <a:spcPct val="100000"/>
              </a:lnSpc>
              <a:buFont typeface="Trebuchet MS"/>
              <a:buChar char="•"/>
              <a:tabLst>
                <a:tab pos="146685" algn="l"/>
              </a:tabLst>
            </a:pP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Predictive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Modeling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70">
                <a:solidFill>
                  <a:srgbClr val="585D60"/>
                </a:solidFill>
                <a:latin typeface="Trebuchet MS"/>
                <a:cs typeface="Trebuchet MS"/>
              </a:rPr>
              <a:t>Focuses</a:t>
            </a:r>
            <a:r>
              <a:rPr dirty="0" sz="1800" spc="-3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on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accurately predicting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outcomes.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Emphasizes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model's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predictive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performance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on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unseen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data.</a:t>
            </a:r>
            <a:endParaRPr sz="1800">
              <a:latin typeface="Trebuchet MS"/>
              <a:cs typeface="Trebuchet MS"/>
            </a:endParaRPr>
          </a:p>
          <a:p>
            <a:pPr lvl="1" marL="527050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More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complex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extract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specific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model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details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due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Trebuchet MS"/>
                <a:cs typeface="Trebuchet MS"/>
              </a:rPr>
              <a:t>focus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on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prediction;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models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are 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often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part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larger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pipeline.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9754" y="6092824"/>
            <a:ext cx="77730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Emphasis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on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predictive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performance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metrics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10">
                <a:solidFill>
                  <a:srgbClr val="585D60"/>
                </a:solidFill>
                <a:latin typeface="Trebuchet MS"/>
                <a:cs typeface="Trebuchet MS"/>
              </a:rPr>
              <a:t>(e.g.,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RMSE,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R-squared,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MAE).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11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18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56641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5"/>
              <a:t>The </a:t>
            </a:r>
            <a:r>
              <a:rPr dirty="0" spc="-204"/>
              <a:t>Predictive </a:t>
            </a:r>
            <a:r>
              <a:rPr dirty="0" spc="-125"/>
              <a:t>Modeling</a:t>
            </a:r>
            <a:r>
              <a:rPr dirty="0" spc="-285"/>
              <a:t> </a:t>
            </a:r>
            <a:r>
              <a:rPr dirty="0" spc="-114"/>
              <a:t>Mindset</a:t>
            </a:r>
          </a:p>
        </p:txBody>
      </p:sp>
      <p:sp>
        <p:nvSpPr>
          <p:cNvPr id="3" name="object 3"/>
          <p:cNvSpPr/>
          <p:nvPr/>
        </p:nvSpPr>
        <p:spPr>
          <a:xfrm>
            <a:off x="1766887" y="1433512"/>
            <a:ext cx="7991475" cy="4495800"/>
          </a:xfrm>
          <a:custGeom>
            <a:avLst/>
            <a:gdLst/>
            <a:ahLst/>
            <a:cxnLst/>
            <a:rect l="l" t="t" r="r" b="b"/>
            <a:pathLst>
              <a:path w="7991475" h="4495800">
                <a:moveTo>
                  <a:pt x="0" y="0"/>
                </a:moveTo>
                <a:lnTo>
                  <a:pt x="7991474" y="0"/>
                </a:lnTo>
                <a:lnTo>
                  <a:pt x="7991474" y="4495799"/>
                </a:lnTo>
                <a:lnTo>
                  <a:pt x="0" y="4495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62200" y="1642872"/>
            <a:ext cx="2453640" cy="214629"/>
          </a:xfrm>
          <a:prstGeom prst="rect">
            <a:avLst/>
          </a:prstGeom>
          <a:solidFill>
            <a:srgbClr val="000000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10"/>
              </a:lnSpc>
            </a:pPr>
            <a:r>
              <a:rPr dirty="0" sz="1350">
                <a:latin typeface="Trebuchet MS"/>
                <a:cs typeface="Trebuchet MS"/>
                <a:hlinkClick r:id="rId2"/>
              </a:rPr>
              <a:t>The</a:t>
            </a:r>
            <a:r>
              <a:rPr dirty="0" sz="1350" spc="-80">
                <a:latin typeface="Trebuchet MS"/>
                <a:cs typeface="Trebuchet MS"/>
                <a:hlinkClick r:id="rId2"/>
              </a:rPr>
              <a:t> </a:t>
            </a:r>
            <a:r>
              <a:rPr dirty="0" sz="1350" spc="50">
                <a:latin typeface="Trebuchet MS"/>
                <a:cs typeface="Trebuchet MS"/>
                <a:hlinkClick r:id="rId2"/>
              </a:rPr>
              <a:t>7</a:t>
            </a:r>
            <a:r>
              <a:rPr dirty="0" sz="1350" spc="-80">
                <a:latin typeface="Trebuchet MS"/>
                <a:cs typeface="Trebuchet MS"/>
                <a:hlinkClick r:id="rId2"/>
              </a:rPr>
              <a:t> </a:t>
            </a:r>
            <a:r>
              <a:rPr dirty="0" sz="1350" spc="35">
                <a:latin typeface="Trebuchet MS"/>
                <a:cs typeface="Trebuchet MS"/>
                <a:hlinkClick r:id="rId2"/>
              </a:rPr>
              <a:t>steps</a:t>
            </a:r>
            <a:r>
              <a:rPr dirty="0" sz="1350" spc="-80">
                <a:latin typeface="Trebuchet MS"/>
                <a:cs typeface="Trebuchet MS"/>
                <a:hlinkClick r:id="rId2"/>
              </a:rPr>
              <a:t> </a:t>
            </a:r>
            <a:r>
              <a:rPr dirty="0" sz="1350" spc="5">
                <a:latin typeface="Trebuchet MS"/>
                <a:cs typeface="Trebuchet MS"/>
                <a:hlinkClick r:id="rId2"/>
              </a:rPr>
              <a:t>of</a:t>
            </a:r>
            <a:r>
              <a:rPr dirty="0" sz="1350" spc="-80">
                <a:latin typeface="Trebuchet MS"/>
                <a:cs typeface="Trebuchet MS"/>
                <a:hlinkClick r:id="rId2"/>
              </a:rPr>
              <a:t> </a:t>
            </a:r>
            <a:r>
              <a:rPr dirty="0" sz="1350" spc="5">
                <a:latin typeface="Trebuchet MS"/>
                <a:cs typeface="Trebuchet MS"/>
                <a:hlinkClick r:id="rId2"/>
              </a:rPr>
              <a:t>machine</a:t>
            </a:r>
            <a:r>
              <a:rPr dirty="0" sz="1350" spc="-80">
                <a:latin typeface="Trebuchet MS"/>
                <a:cs typeface="Trebuchet MS"/>
                <a:hlinkClick r:id="rId2"/>
              </a:rPr>
              <a:t> </a:t>
            </a:r>
            <a:r>
              <a:rPr dirty="0" sz="1350" spc="-15">
                <a:latin typeface="Trebuchet MS"/>
                <a:cs typeface="Trebuchet MS"/>
                <a:hlinkClick r:id="rId2"/>
              </a:rPr>
              <a:t>learning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38774" y="3457575"/>
            <a:ext cx="647700" cy="457200"/>
          </a:xfrm>
          <a:custGeom>
            <a:avLst/>
            <a:gdLst/>
            <a:ahLst/>
            <a:cxnLst/>
            <a:rect l="l" t="t" r="r" b="b"/>
            <a:pathLst>
              <a:path w="647700" h="457200">
                <a:moveTo>
                  <a:pt x="323849" y="457199"/>
                </a:moveTo>
                <a:lnTo>
                  <a:pt x="213752" y="454890"/>
                </a:lnTo>
                <a:lnTo>
                  <a:pt x="127392" y="450449"/>
                </a:lnTo>
                <a:lnTo>
                  <a:pt x="65722" y="442436"/>
                </a:lnTo>
                <a:lnTo>
                  <a:pt x="32230" y="420635"/>
                </a:lnTo>
                <a:lnTo>
                  <a:pt x="14096" y="383476"/>
                </a:lnTo>
                <a:lnTo>
                  <a:pt x="6188" y="337939"/>
                </a:lnTo>
                <a:lnTo>
                  <a:pt x="1976" y="287071"/>
                </a:lnTo>
                <a:lnTo>
                  <a:pt x="300" y="245686"/>
                </a:lnTo>
                <a:lnTo>
                  <a:pt x="0" y="228599"/>
                </a:lnTo>
                <a:lnTo>
                  <a:pt x="300" y="211513"/>
                </a:lnTo>
                <a:lnTo>
                  <a:pt x="1976" y="170128"/>
                </a:lnTo>
                <a:lnTo>
                  <a:pt x="6188" y="119260"/>
                </a:lnTo>
                <a:lnTo>
                  <a:pt x="14096" y="73723"/>
                </a:lnTo>
                <a:lnTo>
                  <a:pt x="32265" y="36564"/>
                </a:lnTo>
                <a:lnTo>
                  <a:pt x="65722" y="14763"/>
                </a:lnTo>
                <a:lnTo>
                  <a:pt x="127392" y="6750"/>
                </a:lnTo>
                <a:lnTo>
                  <a:pt x="213752" y="2309"/>
                </a:lnTo>
                <a:lnTo>
                  <a:pt x="290630" y="404"/>
                </a:lnTo>
                <a:lnTo>
                  <a:pt x="323849" y="0"/>
                </a:lnTo>
                <a:lnTo>
                  <a:pt x="357069" y="404"/>
                </a:lnTo>
                <a:lnTo>
                  <a:pt x="433947" y="2309"/>
                </a:lnTo>
                <a:lnTo>
                  <a:pt x="520307" y="6750"/>
                </a:lnTo>
                <a:lnTo>
                  <a:pt x="581977" y="14763"/>
                </a:lnTo>
                <a:lnTo>
                  <a:pt x="615469" y="36564"/>
                </a:lnTo>
                <a:lnTo>
                  <a:pt x="633602" y="73723"/>
                </a:lnTo>
                <a:lnTo>
                  <a:pt x="641511" y="119260"/>
                </a:lnTo>
                <a:lnTo>
                  <a:pt x="645723" y="170128"/>
                </a:lnTo>
                <a:lnTo>
                  <a:pt x="647399" y="211513"/>
                </a:lnTo>
                <a:lnTo>
                  <a:pt x="647699" y="228599"/>
                </a:lnTo>
                <a:lnTo>
                  <a:pt x="647399" y="245686"/>
                </a:lnTo>
                <a:lnTo>
                  <a:pt x="645723" y="287071"/>
                </a:lnTo>
                <a:lnTo>
                  <a:pt x="641511" y="337939"/>
                </a:lnTo>
                <a:lnTo>
                  <a:pt x="633602" y="383476"/>
                </a:lnTo>
                <a:lnTo>
                  <a:pt x="615469" y="420635"/>
                </a:lnTo>
                <a:lnTo>
                  <a:pt x="581977" y="442436"/>
                </a:lnTo>
                <a:lnTo>
                  <a:pt x="520307" y="450449"/>
                </a:lnTo>
                <a:lnTo>
                  <a:pt x="433947" y="454890"/>
                </a:lnTo>
                <a:lnTo>
                  <a:pt x="357069" y="456795"/>
                </a:lnTo>
                <a:lnTo>
                  <a:pt x="323849" y="457199"/>
                </a:lnTo>
                <a:close/>
              </a:path>
            </a:pathLst>
          </a:custGeom>
          <a:solidFill>
            <a:srgbClr val="FF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95949" y="3590925"/>
            <a:ext cx="171450" cy="190500"/>
          </a:xfrm>
          <a:custGeom>
            <a:avLst/>
            <a:gdLst/>
            <a:ahLst/>
            <a:cxnLst/>
            <a:rect l="l" t="t" r="r" b="b"/>
            <a:pathLst>
              <a:path w="171450" h="190500">
                <a:moveTo>
                  <a:pt x="0" y="190499"/>
                </a:moveTo>
                <a:lnTo>
                  <a:pt x="0" y="0"/>
                </a:lnTo>
                <a:lnTo>
                  <a:pt x="171449" y="95249"/>
                </a:lnTo>
                <a:lnTo>
                  <a:pt x="0" y="190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01700" y="6077108"/>
            <a:ext cx="9333230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-10" b="1">
                <a:solidFill>
                  <a:srgbClr val="C2132D"/>
                </a:solidFill>
                <a:latin typeface="Arial"/>
                <a:cs typeface="Arial"/>
              </a:rPr>
              <a:t>Note:</a:t>
            </a:r>
            <a:r>
              <a:rPr dirty="0" sz="850" spc="-1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While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this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video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provides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classification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example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60">
                <a:solidFill>
                  <a:srgbClr val="585D60"/>
                </a:solidFill>
                <a:latin typeface="Trebuchet MS"/>
                <a:cs typeface="Trebuchet MS"/>
              </a:rPr>
              <a:t>(i.e.,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Trebuchet MS"/>
                <a:cs typeface="Trebuchet MS"/>
              </a:rPr>
              <a:t>a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Trebuchet MS"/>
                <a:cs typeface="Trebuchet MS"/>
              </a:rPr>
              <a:t>dichotomous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dependent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5">
                <a:solidFill>
                  <a:srgbClr val="585D60"/>
                </a:solidFill>
                <a:latin typeface="Trebuchet MS"/>
                <a:cs typeface="Trebuchet MS"/>
              </a:rPr>
              <a:t>variable),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0">
                <a:solidFill>
                  <a:srgbClr val="585D60"/>
                </a:solidFill>
                <a:latin typeface="Trebuchet MS"/>
                <a:cs typeface="Trebuchet MS"/>
              </a:rPr>
              <a:t>same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Trebuchet MS"/>
                <a:cs typeface="Trebuchet MS"/>
              </a:rPr>
              <a:t>steps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apply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5">
                <a:solidFill>
                  <a:srgbClr val="585D60"/>
                </a:solidFill>
                <a:latin typeface="Trebuchet MS"/>
                <a:cs typeface="Trebuchet MS"/>
              </a:rPr>
              <a:t>ML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models.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Hence,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I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0">
                <a:solidFill>
                  <a:srgbClr val="585D60"/>
                </a:solidFill>
                <a:latin typeface="Trebuchet MS"/>
                <a:cs typeface="Trebuchet MS"/>
              </a:rPr>
              <a:t>am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Trebuchet MS"/>
                <a:cs typeface="Trebuchet MS"/>
              </a:rPr>
              <a:t>sharing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585D60"/>
                </a:solidFill>
                <a:latin typeface="Trebuchet MS"/>
                <a:cs typeface="Trebuchet MS"/>
              </a:rPr>
              <a:t>it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with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you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illustrate  the predictive </a:t>
            </a:r>
            <a:r>
              <a:rPr dirty="0" sz="850" spc="20">
                <a:solidFill>
                  <a:srgbClr val="585D60"/>
                </a:solidFill>
                <a:latin typeface="Trebuchet MS"/>
                <a:cs typeface="Trebuchet MS"/>
              </a:rPr>
              <a:t>modeling</a:t>
            </a:r>
            <a:r>
              <a:rPr dirty="0" sz="85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mindset.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12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18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4479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Comments: </a:t>
            </a:r>
            <a:r>
              <a:rPr dirty="0" spc="-175"/>
              <a:t>Preparing </a:t>
            </a:r>
            <a:r>
              <a:rPr dirty="0" spc="-260"/>
              <a:t>the </a:t>
            </a:r>
            <a:r>
              <a:rPr dirty="0" spc="-190"/>
              <a:t>Data </a:t>
            </a:r>
            <a:r>
              <a:rPr dirty="0" spc="-185"/>
              <a:t>for</a:t>
            </a:r>
            <a:r>
              <a:rPr dirty="0" spc="-390"/>
              <a:t> </a:t>
            </a:r>
            <a:r>
              <a:rPr dirty="0" spc="-125"/>
              <a:t>Modeling</a:t>
            </a:r>
          </a:p>
        </p:txBody>
      </p:sp>
      <p:sp>
        <p:nvSpPr>
          <p:cNvPr id="3" name="object 3"/>
          <p:cNvSpPr/>
          <p:nvPr/>
        </p:nvSpPr>
        <p:spPr>
          <a:xfrm>
            <a:off x="1400174" y="1476102"/>
            <a:ext cx="8599135" cy="2162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3914775" cy="0"/>
          </a:xfrm>
          <a:custGeom>
            <a:avLst/>
            <a:gdLst/>
            <a:ahLst/>
            <a:cxnLst/>
            <a:rect l="l" t="t" r="r" b="b"/>
            <a:pathLst>
              <a:path w="3914775" h="0">
                <a:moveTo>
                  <a:pt x="0" y="0"/>
                </a:moveTo>
                <a:lnTo>
                  <a:pt x="39147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3914775" cy="0"/>
          </a:xfrm>
          <a:custGeom>
            <a:avLst/>
            <a:gdLst/>
            <a:ahLst/>
            <a:cxnLst/>
            <a:rect l="l" t="t" r="r" b="b"/>
            <a:pathLst>
              <a:path w="3914775" h="0">
                <a:moveTo>
                  <a:pt x="0" y="0"/>
                </a:moveTo>
                <a:lnTo>
                  <a:pt x="39147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1965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266655"/>
            <a:ext cx="394335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1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Trebuchet MS"/>
                <a:cs typeface="Trebuchet MS"/>
              </a:rPr>
              <a:t>Adi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Bronshtein.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(2017).</a:t>
            </a:r>
            <a:r>
              <a:rPr dirty="0" sz="850" spc="-4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Train/Test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Split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and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Cross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Validation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-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in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Python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13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18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4479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Comments: </a:t>
            </a:r>
            <a:r>
              <a:rPr dirty="0" spc="-175"/>
              <a:t>Preparing </a:t>
            </a:r>
            <a:r>
              <a:rPr dirty="0" spc="-260"/>
              <a:t>the </a:t>
            </a:r>
            <a:r>
              <a:rPr dirty="0" spc="-190"/>
              <a:t>Data </a:t>
            </a:r>
            <a:r>
              <a:rPr dirty="0" spc="-185"/>
              <a:t>for</a:t>
            </a:r>
            <a:r>
              <a:rPr dirty="0" spc="-390"/>
              <a:t> </a:t>
            </a:r>
            <a:r>
              <a:rPr dirty="0" spc="-125"/>
              <a:t>Modeling</a:t>
            </a:r>
          </a:p>
        </p:txBody>
      </p:sp>
      <p:sp>
        <p:nvSpPr>
          <p:cNvPr id="3" name="object 3"/>
          <p:cNvSpPr/>
          <p:nvPr/>
        </p:nvSpPr>
        <p:spPr>
          <a:xfrm>
            <a:off x="1400174" y="1428750"/>
            <a:ext cx="8724899" cy="4543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5314950" cy="0"/>
          </a:xfrm>
          <a:custGeom>
            <a:avLst/>
            <a:gdLst/>
            <a:ahLst/>
            <a:cxnLst/>
            <a:rect l="l" t="t" r="r" b="b"/>
            <a:pathLst>
              <a:path w="5314950" h="0">
                <a:moveTo>
                  <a:pt x="0" y="0"/>
                </a:moveTo>
                <a:lnTo>
                  <a:pt x="531494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5314950" cy="0"/>
          </a:xfrm>
          <a:custGeom>
            <a:avLst/>
            <a:gdLst/>
            <a:ahLst/>
            <a:cxnLst/>
            <a:rect l="l" t="t" r="r" b="b"/>
            <a:pathLst>
              <a:path w="5314950" h="0">
                <a:moveTo>
                  <a:pt x="0" y="0"/>
                </a:moveTo>
                <a:lnTo>
                  <a:pt x="531494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19824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14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533908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1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Trebuchet MS"/>
                <a:cs typeface="Trebuchet MS"/>
              </a:rPr>
              <a:t>Adi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Bronshtein.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(2017).</a:t>
            </a:r>
            <a:r>
              <a:rPr dirty="0" sz="850" spc="-5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Train/Test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Split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and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Cross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Validation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-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in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Python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Figure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by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4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Joseph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Nelson</a:t>
            </a:r>
            <a:r>
              <a:rPr dirty="0" sz="850" spc="2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4479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Comments: </a:t>
            </a:r>
            <a:r>
              <a:rPr dirty="0" spc="-175"/>
              <a:t>Preparing </a:t>
            </a:r>
            <a:r>
              <a:rPr dirty="0" spc="-260"/>
              <a:t>the </a:t>
            </a:r>
            <a:r>
              <a:rPr dirty="0" spc="-190"/>
              <a:t>Data </a:t>
            </a:r>
            <a:r>
              <a:rPr dirty="0" spc="-185"/>
              <a:t>for</a:t>
            </a:r>
            <a:r>
              <a:rPr dirty="0" spc="-390"/>
              <a:t> </a:t>
            </a:r>
            <a:r>
              <a:rPr dirty="0" spc="-125"/>
              <a:t>Modeling</a:t>
            </a:r>
          </a:p>
        </p:txBody>
      </p:sp>
      <p:sp>
        <p:nvSpPr>
          <p:cNvPr id="3" name="object 3"/>
          <p:cNvSpPr/>
          <p:nvPr/>
        </p:nvSpPr>
        <p:spPr>
          <a:xfrm>
            <a:off x="1960490" y="1576509"/>
            <a:ext cx="8046846" cy="4285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5314950" cy="0"/>
          </a:xfrm>
          <a:custGeom>
            <a:avLst/>
            <a:gdLst/>
            <a:ahLst/>
            <a:cxnLst/>
            <a:rect l="l" t="t" r="r" b="b"/>
            <a:pathLst>
              <a:path w="5314950" h="0">
                <a:moveTo>
                  <a:pt x="0" y="0"/>
                </a:moveTo>
                <a:lnTo>
                  <a:pt x="531494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5314950" cy="0"/>
          </a:xfrm>
          <a:custGeom>
            <a:avLst/>
            <a:gdLst/>
            <a:ahLst/>
            <a:cxnLst/>
            <a:rect l="l" t="t" r="r" b="b"/>
            <a:pathLst>
              <a:path w="5314950" h="0">
                <a:moveTo>
                  <a:pt x="0" y="0"/>
                </a:moveTo>
                <a:lnTo>
                  <a:pt x="531494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19824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14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533908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1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Trebuchet MS"/>
                <a:cs typeface="Trebuchet MS"/>
              </a:rPr>
              <a:t>Adi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Bronshtein.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(2017).</a:t>
            </a:r>
            <a:r>
              <a:rPr dirty="0" sz="850" spc="-5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Train/Test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Split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and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Cross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Validation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-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in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Python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Figure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by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4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Joseph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Nelson</a:t>
            </a:r>
            <a:r>
              <a:rPr dirty="0" sz="850" spc="2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1220">
                <a:solidFill>
                  <a:srgbClr val="000000"/>
                </a:solidFill>
              </a:rPr>
              <a:t>R</a:t>
            </a:r>
            <a:r>
              <a:rPr dirty="0" sz="4100" spc="-1220">
                <a:solidFill>
                  <a:srgbClr val="FFFFFF"/>
                </a:solidFill>
              </a:rPr>
              <a:t>R</a:t>
            </a:r>
            <a:r>
              <a:rPr dirty="0" sz="4100" spc="-1220">
                <a:solidFill>
                  <a:srgbClr val="000000"/>
                </a:solidFill>
              </a:rPr>
              <a:t>e</a:t>
            </a:r>
            <a:r>
              <a:rPr dirty="0" sz="4100" spc="-1220">
                <a:solidFill>
                  <a:srgbClr val="FFFFFF"/>
                </a:solidFill>
              </a:rPr>
              <a:t>e</a:t>
            </a:r>
            <a:r>
              <a:rPr dirty="0" sz="4100" spc="-1220">
                <a:solidFill>
                  <a:srgbClr val="000000"/>
                </a:solidFill>
              </a:rPr>
              <a:t>c</a:t>
            </a:r>
            <a:r>
              <a:rPr dirty="0" sz="4100" spc="-1220">
                <a:solidFill>
                  <a:srgbClr val="FFFFFF"/>
                </a:solidFill>
              </a:rPr>
              <a:t>c</a:t>
            </a:r>
            <a:r>
              <a:rPr dirty="0" sz="4100" spc="-1220">
                <a:solidFill>
                  <a:srgbClr val="000000"/>
                </a:solidFill>
              </a:rPr>
              <a:t>a</a:t>
            </a:r>
            <a:r>
              <a:rPr dirty="0" sz="4100" spc="-1220">
                <a:solidFill>
                  <a:srgbClr val="FFFFFF"/>
                </a:solidFill>
              </a:rPr>
              <a:t>a</a:t>
            </a:r>
            <a:r>
              <a:rPr dirty="0" sz="4100" spc="-1220">
                <a:solidFill>
                  <a:srgbClr val="000000"/>
                </a:solidFill>
              </a:rPr>
              <a:t>p</a:t>
            </a:r>
            <a:r>
              <a:rPr dirty="0" sz="4100" spc="-1220">
                <a:solidFill>
                  <a:srgbClr val="FFFFFF"/>
                </a:solidFill>
              </a:rPr>
              <a:t>p</a:t>
            </a:r>
            <a:endParaRPr sz="4100"/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30">
                <a:latin typeface="Cambria"/>
                <a:cs typeface="Cambria"/>
              </a:rPr>
              <a:t>1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200" spc="-330">
                <a:latin typeface="Cambria"/>
                <a:cs typeface="Cambria"/>
              </a:rPr>
              <a:t>6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45">
                <a:latin typeface="Cambria"/>
                <a:cs typeface="Cambria"/>
              </a:rPr>
              <a:t>/</a:t>
            </a:r>
            <a:r>
              <a:rPr dirty="0" sz="1200" spc="-3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30">
                <a:latin typeface="Cambria"/>
                <a:cs typeface="Cambria"/>
              </a:rPr>
              <a:t>1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200" spc="-330">
                <a:latin typeface="Cambria"/>
                <a:cs typeface="Cambria"/>
              </a:rPr>
              <a:t>8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17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Summary </a:t>
            </a:r>
            <a:r>
              <a:rPr dirty="0" spc="-140"/>
              <a:t>of </a:t>
            </a:r>
            <a:r>
              <a:rPr dirty="0" spc="-90"/>
              <a:t>Main</a:t>
            </a:r>
            <a:r>
              <a:rPr dirty="0" spc="-455"/>
              <a:t> </a:t>
            </a:r>
            <a:r>
              <a:rPr dirty="0" spc="-11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532620" cy="235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By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now,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you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should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be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able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do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following:</a:t>
            </a:r>
            <a:endParaRPr sz="1800">
              <a:latin typeface="Trebuchet MS"/>
              <a:cs typeface="Trebuchet MS"/>
            </a:endParaRPr>
          </a:p>
          <a:p>
            <a:pPr marL="393065" marR="5080" indent="-133985">
              <a:lnSpc>
                <a:spcPct val="118100"/>
              </a:lnSpc>
              <a:spcBef>
                <a:spcPts val="180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Describe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Trebuchet MS"/>
                <a:cs typeface="Trebuchet MS"/>
              </a:rPr>
              <a:t>basic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concepts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analysis,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including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roles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independent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 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dependent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variables.</a:t>
            </a:r>
            <a:endParaRPr sz="1800">
              <a:latin typeface="Trebuchet MS"/>
              <a:cs typeface="Trebuchet MS"/>
            </a:endParaRPr>
          </a:p>
          <a:p>
            <a:pPr marL="393065" marR="582930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145">
                <a:solidFill>
                  <a:srgbClr val="585D60"/>
                </a:solidFill>
                <a:latin typeface="Trebuchet MS"/>
                <a:cs typeface="Trebuchet MS"/>
              </a:rPr>
              <a:t>Assess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regression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models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using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metrics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like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R-squared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Trebuchet MS"/>
                <a:cs typeface="Trebuchet MS"/>
              </a:rPr>
              <a:t>Mean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Squared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Error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 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interpret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4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results.</a:t>
            </a: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Describe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two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modeling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mindsets: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explanatory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predictive.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45"/>
              <a:t>17</a:t>
            </a:fld>
            <a:r>
              <a:rPr dirty="0" spc="45"/>
              <a:t> </a:t>
            </a:r>
            <a:r>
              <a:rPr dirty="0" spc="-135"/>
              <a:t>/</a:t>
            </a:r>
            <a:r>
              <a:rPr dirty="0" spc="-260"/>
              <a:t> </a:t>
            </a:r>
            <a:r>
              <a:rPr dirty="0" spc="45"/>
              <a:t>18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📝</a:t>
            </a:r>
            <a:r>
              <a:rPr dirty="0" sz="3300" spc="-260">
                <a:latin typeface="Arial"/>
                <a:cs typeface="Arial"/>
              </a:rPr>
              <a:t> </a:t>
            </a:r>
            <a:r>
              <a:rPr dirty="0" spc="-229"/>
              <a:t>Review </a:t>
            </a:r>
            <a:r>
              <a:rPr dirty="0" spc="-180"/>
              <a:t>and </a:t>
            </a:r>
            <a:r>
              <a:rPr dirty="0" spc="-195"/>
              <a:t>Clarification </a:t>
            </a:r>
            <a:r>
              <a:rPr dirty="0" sz="3300" spc="2155"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512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-70" b="1">
                <a:solidFill>
                  <a:srgbClr val="C2132D"/>
                </a:solidFill>
                <a:latin typeface="Arial"/>
                <a:cs typeface="Arial"/>
              </a:rPr>
              <a:t>Class</a:t>
            </a:r>
            <a:r>
              <a:rPr dirty="0" spc="-5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pc="-75" b="1">
                <a:solidFill>
                  <a:srgbClr val="C2132D"/>
                </a:solidFill>
                <a:latin typeface="Arial"/>
                <a:cs typeface="Arial"/>
              </a:rPr>
              <a:t>Notes</a:t>
            </a:r>
            <a:r>
              <a:rPr dirty="0" spc="-75"/>
              <a:t>:</a:t>
            </a:r>
            <a:r>
              <a:rPr dirty="0" spc="-135"/>
              <a:t> </a:t>
            </a:r>
            <a:r>
              <a:rPr dirty="0" spc="-25"/>
              <a:t>Take</a:t>
            </a:r>
            <a:r>
              <a:rPr dirty="0" spc="-90"/>
              <a:t> </a:t>
            </a:r>
            <a:r>
              <a:rPr dirty="0" spc="75"/>
              <a:t>some</a:t>
            </a:r>
            <a:r>
              <a:rPr dirty="0" spc="-95"/>
              <a:t> </a:t>
            </a:r>
            <a:r>
              <a:rPr dirty="0" spc="-40"/>
              <a:t>time</a:t>
            </a:r>
            <a:r>
              <a:rPr dirty="0" spc="-95"/>
              <a:t> </a:t>
            </a:r>
            <a:r>
              <a:rPr dirty="0" spc="-45"/>
              <a:t>to</a:t>
            </a:r>
            <a:r>
              <a:rPr dirty="0" spc="-95"/>
              <a:t> </a:t>
            </a:r>
            <a:r>
              <a:rPr dirty="0" spc="-35"/>
              <a:t>revisit</a:t>
            </a:r>
            <a:r>
              <a:rPr dirty="0" spc="-95"/>
              <a:t> </a:t>
            </a:r>
            <a:r>
              <a:rPr dirty="0" spc="-20"/>
              <a:t>your</a:t>
            </a:r>
            <a:r>
              <a:rPr dirty="0" spc="-95"/>
              <a:t> </a:t>
            </a:r>
            <a:r>
              <a:rPr dirty="0" spc="75"/>
              <a:t>class</a:t>
            </a:r>
            <a:r>
              <a:rPr dirty="0" spc="-95"/>
              <a:t> </a:t>
            </a:r>
            <a:r>
              <a:rPr dirty="0" spc="20"/>
              <a:t>notes</a:t>
            </a:r>
            <a:r>
              <a:rPr dirty="0" spc="-95"/>
              <a:t> </a:t>
            </a:r>
            <a:r>
              <a:rPr dirty="0" spc="-25"/>
              <a:t>for</a:t>
            </a:r>
            <a:r>
              <a:rPr dirty="0" spc="-95"/>
              <a:t> </a:t>
            </a:r>
            <a:r>
              <a:rPr dirty="0" spc="-35"/>
              <a:t>key</a:t>
            </a:r>
            <a:r>
              <a:rPr dirty="0" spc="-95"/>
              <a:t> </a:t>
            </a:r>
            <a:r>
              <a:rPr dirty="0" spc="30"/>
              <a:t>insights</a:t>
            </a:r>
            <a:r>
              <a:rPr dirty="0" spc="-95"/>
              <a:t> </a:t>
            </a:r>
            <a:r>
              <a:rPr dirty="0" spc="15"/>
              <a:t>and</a:t>
            </a:r>
            <a:r>
              <a:rPr dirty="0" spc="-95"/>
              <a:t> </a:t>
            </a:r>
            <a:r>
              <a:rPr dirty="0"/>
              <a:t>concepts.</a:t>
            </a:r>
          </a:p>
          <a:p>
            <a:pPr marL="325120" marR="1016635" indent="-133985">
              <a:lnSpc>
                <a:spcPct val="118100"/>
              </a:lnSpc>
              <a:spcBef>
                <a:spcPts val="9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-60" b="1">
                <a:solidFill>
                  <a:srgbClr val="C2132D"/>
                </a:solidFill>
                <a:latin typeface="Arial"/>
                <a:cs typeface="Arial"/>
              </a:rPr>
              <a:t>Zoom</a:t>
            </a:r>
            <a:r>
              <a:rPr dirty="0" spc="-5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pc="-90" b="1">
                <a:solidFill>
                  <a:srgbClr val="C2132D"/>
                </a:solidFill>
                <a:latin typeface="Arial"/>
                <a:cs typeface="Arial"/>
              </a:rPr>
              <a:t>Recording</a:t>
            </a:r>
            <a:r>
              <a:rPr dirty="0" spc="-90"/>
              <a:t>:</a:t>
            </a:r>
            <a:r>
              <a:rPr dirty="0" spc="-135"/>
              <a:t> </a:t>
            </a:r>
            <a:r>
              <a:rPr dirty="0"/>
              <a:t>The</a:t>
            </a:r>
            <a:r>
              <a:rPr dirty="0" spc="-100"/>
              <a:t> </a:t>
            </a:r>
            <a:r>
              <a:rPr dirty="0" spc="-10"/>
              <a:t>recording</a:t>
            </a:r>
            <a:r>
              <a:rPr dirty="0" spc="-100"/>
              <a:t> </a:t>
            </a:r>
            <a:r>
              <a:rPr dirty="0" spc="10"/>
              <a:t>of</a:t>
            </a:r>
            <a:r>
              <a:rPr dirty="0" spc="-100"/>
              <a:t> </a:t>
            </a:r>
            <a:r>
              <a:rPr dirty="0" spc="10"/>
              <a:t>today's</a:t>
            </a:r>
            <a:r>
              <a:rPr dirty="0" spc="-100"/>
              <a:t> </a:t>
            </a:r>
            <a:r>
              <a:rPr dirty="0" spc="75"/>
              <a:t>class</a:t>
            </a:r>
            <a:r>
              <a:rPr dirty="0" spc="-100"/>
              <a:t> </a:t>
            </a:r>
            <a:r>
              <a:rPr dirty="0" spc="-65"/>
              <a:t>will</a:t>
            </a:r>
            <a:r>
              <a:rPr dirty="0" spc="-100"/>
              <a:t> </a:t>
            </a:r>
            <a:r>
              <a:rPr dirty="0" spc="-10"/>
              <a:t>be</a:t>
            </a:r>
            <a:r>
              <a:rPr dirty="0" spc="-100"/>
              <a:t> </a:t>
            </a:r>
            <a:r>
              <a:rPr dirty="0" spc="25"/>
              <a:t>made</a:t>
            </a:r>
            <a:r>
              <a:rPr dirty="0" spc="-100"/>
              <a:t> </a:t>
            </a:r>
            <a:r>
              <a:rPr dirty="0" spc="-25"/>
              <a:t>available</a:t>
            </a:r>
            <a:r>
              <a:rPr dirty="0" spc="-100"/>
              <a:t> </a:t>
            </a:r>
            <a:r>
              <a:rPr dirty="0" spc="35"/>
              <a:t>on</a:t>
            </a:r>
            <a:r>
              <a:rPr dirty="0" spc="-100"/>
              <a:t> </a:t>
            </a:r>
            <a:r>
              <a:rPr dirty="0" spc="55"/>
              <a:t>Canvas  </a:t>
            </a:r>
            <a:r>
              <a:rPr dirty="0" spc="-25"/>
              <a:t>approximately</a:t>
            </a:r>
            <a:r>
              <a:rPr dirty="0" spc="-100"/>
              <a:t> </a:t>
            </a:r>
            <a:r>
              <a:rPr dirty="0" spc="-10"/>
              <a:t>3-4</a:t>
            </a:r>
            <a:r>
              <a:rPr dirty="0" spc="-100"/>
              <a:t> </a:t>
            </a:r>
            <a:r>
              <a:rPr dirty="0" spc="35"/>
              <a:t>hours</a:t>
            </a:r>
            <a:r>
              <a:rPr dirty="0" spc="-100"/>
              <a:t> </a:t>
            </a:r>
            <a:r>
              <a:rPr dirty="0" spc="-50"/>
              <a:t>after</a:t>
            </a:r>
            <a:r>
              <a:rPr dirty="0" spc="-100"/>
              <a:t> </a:t>
            </a:r>
            <a:r>
              <a:rPr dirty="0" spc="-50"/>
              <a:t>the</a:t>
            </a:r>
            <a:r>
              <a:rPr dirty="0" spc="-100"/>
              <a:t> </a:t>
            </a:r>
            <a:r>
              <a:rPr dirty="0" spc="-5"/>
              <a:t>end</a:t>
            </a:r>
            <a:r>
              <a:rPr dirty="0" spc="-100"/>
              <a:t> </a:t>
            </a:r>
            <a:r>
              <a:rPr dirty="0" spc="10"/>
              <a:t>of</a:t>
            </a:r>
            <a:r>
              <a:rPr dirty="0" spc="-100"/>
              <a:t> </a:t>
            </a:r>
            <a:r>
              <a:rPr dirty="0" spc="30"/>
              <a:t>class.</a:t>
            </a:r>
          </a:p>
          <a:p>
            <a:pPr marL="325120" marR="5080" indent="-133985">
              <a:lnSpc>
                <a:spcPct val="118100"/>
              </a:lnSpc>
              <a:spcBef>
                <a:spcPts val="819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-85" b="1">
                <a:solidFill>
                  <a:srgbClr val="C2132D"/>
                </a:solidFill>
                <a:latin typeface="Arial"/>
                <a:cs typeface="Arial"/>
              </a:rPr>
              <a:t>Questions</a:t>
            </a:r>
            <a:r>
              <a:rPr dirty="0" spc="-85"/>
              <a:t>:</a:t>
            </a:r>
            <a:r>
              <a:rPr dirty="0" spc="-95"/>
              <a:t> </a:t>
            </a:r>
            <a:r>
              <a:rPr dirty="0" spc="35"/>
              <a:t>Please</a:t>
            </a:r>
            <a:r>
              <a:rPr dirty="0" spc="-90"/>
              <a:t> </a:t>
            </a:r>
            <a:r>
              <a:rPr dirty="0" spc="-25"/>
              <a:t>don't</a:t>
            </a:r>
            <a:r>
              <a:rPr dirty="0" spc="-90"/>
              <a:t> </a:t>
            </a:r>
            <a:r>
              <a:rPr dirty="0" spc="-20"/>
              <a:t>hesitate</a:t>
            </a:r>
            <a:r>
              <a:rPr dirty="0" spc="-90"/>
              <a:t> </a:t>
            </a:r>
            <a:r>
              <a:rPr dirty="0" spc="-45"/>
              <a:t>to</a:t>
            </a:r>
            <a:r>
              <a:rPr dirty="0" spc="-90"/>
              <a:t> </a:t>
            </a:r>
            <a:r>
              <a:rPr dirty="0" spc="75"/>
              <a:t>ask</a:t>
            </a:r>
            <a:r>
              <a:rPr dirty="0" spc="-90"/>
              <a:t> </a:t>
            </a:r>
            <a:r>
              <a:rPr dirty="0" spc="-25"/>
              <a:t>for</a:t>
            </a:r>
            <a:r>
              <a:rPr dirty="0" spc="-90"/>
              <a:t> </a:t>
            </a:r>
            <a:r>
              <a:rPr dirty="0" spc="-35"/>
              <a:t>clarification</a:t>
            </a:r>
            <a:r>
              <a:rPr dirty="0" spc="-90"/>
              <a:t> </a:t>
            </a:r>
            <a:r>
              <a:rPr dirty="0" spc="35"/>
              <a:t>on</a:t>
            </a:r>
            <a:r>
              <a:rPr dirty="0" spc="-90"/>
              <a:t> </a:t>
            </a:r>
            <a:r>
              <a:rPr dirty="0"/>
              <a:t>any</a:t>
            </a:r>
            <a:r>
              <a:rPr dirty="0" spc="-90"/>
              <a:t> </a:t>
            </a:r>
            <a:r>
              <a:rPr dirty="0" spc="15"/>
              <a:t>topics</a:t>
            </a:r>
            <a:r>
              <a:rPr dirty="0" spc="-90"/>
              <a:t> </a:t>
            </a:r>
            <a:r>
              <a:rPr dirty="0" spc="60"/>
              <a:t>discussed</a:t>
            </a:r>
            <a:r>
              <a:rPr dirty="0" spc="-90"/>
              <a:t> </a:t>
            </a:r>
            <a:r>
              <a:rPr dirty="0" spc="-35"/>
              <a:t>in</a:t>
            </a:r>
            <a:r>
              <a:rPr dirty="0" spc="-90"/>
              <a:t> </a:t>
            </a:r>
            <a:r>
              <a:rPr dirty="0" spc="30"/>
              <a:t>class.</a:t>
            </a:r>
            <a:r>
              <a:rPr dirty="0" spc="-90"/>
              <a:t> </a:t>
            </a:r>
            <a:r>
              <a:rPr dirty="0"/>
              <a:t>It's  </a:t>
            </a:r>
            <a:r>
              <a:rPr dirty="0" spc="-20"/>
              <a:t>crucial not </a:t>
            </a:r>
            <a:r>
              <a:rPr dirty="0" spc="-45"/>
              <a:t>to </a:t>
            </a:r>
            <a:r>
              <a:rPr dirty="0" spc="-85"/>
              <a:t>let </a:t>
            </a:r>
            <a:r>
              <a:rPr dirty="0" spc="30"/>
              <a:t>questions</a:t>
            </a:r>
            <a:r>
              <a:rPr dirty="0" spc="-335"/>
              <a:t> </a:t>
            </a:r>
            <a:r>
              <a:rPr dirty="0" spc="-15"/>
              <a:t>accumulate.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419: Data-Driven Security</dc:title>
  <dcterms:created xsi:type="dcterms:W3CDTF">2025-03-13T14:40:02Z</dcterms:created>
  <dcterms:modified xsi:type="dcterms:W3CDTF">2025-03-13T14:40:02Z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2025-03-13T00:00:00Z</vt:filetime>
  </property>
  <property fmtid="{D5CDD505-2E9C-101B-9397-08002B2CF9AE}" pid="3" name="Creator">
    <vt:lpwstr>Mozilla/5.0 (Windows NT 10.0; Win64; x64) AppleWebKit/537.36 (KHTML, like Gecko) Chrome/134.0.0.0 Safari/537.36</vt:lpwstr>
  </property>
  <property fmtid="{D5CDD505-2E9C-101B-9397-08002B2CF9AE}" pid="4" name="LastSaved">
    <vt:filetime>2025-03-13T00:00:00Z</vt:filetime>
  </property>
</Properties>
</file>