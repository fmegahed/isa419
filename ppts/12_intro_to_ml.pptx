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jpg" ContentType="image/jp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x="11531600" cy="6489700"/>
  <p:notesSz cx="11531600" cy="64897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64870" y="2011807"/>
            <a:ext cx="9801860" cy="1362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729740" y="3634232"/>
            <a:ext cx="8072120" cy="16224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31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C2132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31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6580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938774" y="1492631"/>
            <a:ext cx="5016246" cy="428320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31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31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31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1426" y="2625725"/>
            <a:ext cx="9348747" cy="11779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48754" y="2528570"/>
            <a:ext cx="8686800" cy="17589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rgbClr val="C2132D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920744" y="6035421"/>
            <a:ext cx="3690112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6580" y="6035421"/>
            <a:ext cx="2652268" cy="3244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0853587" y="6218137"/>
            <a:ext cx="532129" cy="2044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585D60"/>
                </a:solidFill>
                <a:latin typeface="Calibri"/>
                <a:cs typeface="Calibri"/>
              </a:defRPr>
            </a:lvl1pPr>
          </a:lstStyle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#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31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witter.com/FadelMegahed" TargetMode="External"/><Relationship Id="rId3" Type="http://schemas.openxmlformats.org/officeDocument/2006/relationships/hyperlink" Target="https://github.com/fmegahed/" TargetMode="External"/><Relationship Id="rId4" Type="http://schemas.openxmlformats.org/officeDocument/2006/relationships/hyperlink" Target="mailto:fmegahed@miamioh.edu" TargetMode="External"/><Relationship Id="rId5" Type="http://schemas.openxmlformats.org/officeDocument/2006/relationships/hyperlink" Target="https://calendly.com/fmegahed" TargetMode="Externa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ra.adm.cs.cmu.edu/anon/usr0/ftp/anon/ml/CMU-ML-06-108.pdf" TargetMode="Externa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Relationship Id="rId3" Type="http://schemas.openxmlformats.org/officeDocument/2006/relationships/hyperlink" Target="https://subscription.packtpub.com/book/data/9781789616729/1" TargetMode="Externa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hyperlink" Target="https://ieeexplore.ieee.org/stamp/stamp.jsp?tp&amp;arnumber=5392560&amp;tag=1" TargetMode="External"/><Relationship Id="rId4" Type="http://schemas.openxmlformats.org/officeDocument/2006/relationships/hyperlink" Target="https://en.wikipedia.org/wiki/Checkers" TargetMode="Externa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openai.com/research/whisper" TargetMode="Externa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Relationship Id="rId3" Type="http://schemas.openxmlformats.org/officeDocument/2006/relationships/hyperlink" Target="https://towardsdatascience.com/applied-text-classification-on-email-spam-filtering-part-1-1861e1a83246" TargetMode="Externa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medium.com/%40marizombie/evolution-of-artificial-intelligence-and-machine-learning-a-visual-journey-through-key-milestones-3b2f63bb2ed7" TargetMode="Externa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hyperlink" Target="https://scikit-learn.org/stable/tutorial/machine_learning_map/index.html" TargetMode="Externa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eachablemachine.withgoogle.com/v1/" TargetMode="Externa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9.png"/><Relationship Id="rId11" Type="http://schemas.openxmlformats.org/officeDocument/2006/relationships/image" Target="../media/image20.png"/><Relationship Id="rId12" Type="http://schemas.openxmlformats.org/officeDocument/2006/relationships/image" Target="../media/image21.png"/><Relationship Id="rId13" Type="http://schemas.openxmlformats.org/officeDocument/2006/relationships/image" Target="../media/image22.png"/><Relationship Id="rId14" Type="http://schemas.openxmlformats.org/officeDocument/2006/relationships/image" Target="../media/image23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Relationship Id="rId22" Type="http://schemas.openxmlformats.org/officeDocument/2006/relationships/image" Target="../media/image31.png"/><Relationship Id="rId23" Type="http://schemas.openxmlformats.org/officeDocument/2006/relationships/image" Target="../media/image32.png"/><Relationship Id="rId24" Type="http://schemas.openxmlformats.org/officeDocument/2006/relationships/image" Target="../media/image33.png"/><Relationship Id="rId25" Type="http://schemas.openxmlformats.org/officeDocument/2006/relationships/image" Target="../media/image34.png"/><Relationship Id="rId26" Type="http://schemas.openxmlformats.org/officeDocument/2006/relationships/image" Target="../media/image35.png"/><Relationship Id="rId27" Type="http://schemas.openxmlformats.org/officeDocument/2006/relationships/image" Target="../media/image36.png"/><Relationship Id="rId28" Type="http://schemas.openxmlformats.org/officeDocument/2006/relationships/image" Target="../media/image37.png"/><Relationship Id="rId29" Type="http://schemas.openxmlformats.org/officeDocument/2006/relationships/image" Target="../media/image38.png"/><Relationship Id="rId30" Type="http://schemas.openxmlformats.org/officeDocument/2006/relationships/image" Target="../media/image39.png"/><Relationship Id="rId31" Type="http://schemas.openxmlformats.org/officeDocument/2006/relationships/image" Target="../media/image40.png"/><Relationship Id="rId32" Type="http://schemas.openxmlformats.org/officeDocument/2006/relationships/image" Target="../media/image41.png"/><Relationship Id="rId33" Type="http://schemas.openxmlformats.org/officeDocument/2006/relationships/hyperlink" Target="https://www.google.com/policies/" TargetMode="Externa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2.jpg"/><Relationship Id="rId3" Type="http://schemas.openxmlformats.org/officeDocument/2006/relationships/image" Target="../media/image4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1198165"/>
            <a:ext cx="5781675" cy="1139190"/>
          </a:xfrm>
          <a:prstGeom prst="rect"/>
        </p:spPr>
        <p:txBody>
          <a:bodyPr wrap="square" lIns="0" tIns="908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dirty="0" sz="3350" spc="5"/>
              <a:t>ISA </a:t>
            </a:r>
            <a:r>
              <a:rPr dirty="0" sz="3350" spc="-180"/>
              <a:t>419: </a:t>
            </a:r>
            <a:r>
              <a:rPr dirty="0" sz="3350" spc="-220"/>
              <a:t>Data-Driven</a:t>
            </a:r>
            <a:r>
              <a:rPr dirty="0" sz="3350" spc="-545"/>
              <a:t> </a:t>
            </a:r>
            <a:r>
              <a:rPr dirty="0" sz="3350" spc="-180"/>
              <a:t>Security</a:t>
            </a:r>
            <a:endParaRPr sz="3350"/>
          </a:p>
          <a:p>
            <a:pPr marL="12700">
              <a:lnSpc>
                <a:spcPct val="100000"/>
              </a:lnSpc>
              <a:spcBef>
                <a:spcPts val="530"/>
              </a:spcBef>
            </a:pPr>
            <a:r>
              <a:rPr dirty="0" sz="3000">
                <a:latin typeface="Times New Roman"/>
                <a:cs typeface="Times New Roman"/>
              </a:rPr>
              <a:t>12: Introduction to Machine</a:t>
            </a:r>
            <a:r>
              <a:rPr dirty="0" sz="3000" spc="-100">
                <a:latin typeface="Times New Roman"/>
                <a:cs typeface="Times New Roman"/>
              </a:rPr>
              <a:t> </a:t>
            </a:r>
            <a:r>
              <a:rPr dirty="0" sz="3000">
                <a:latin typeface="Times New Roman"/>
                <a:cs typeface="Times New Roman"/>
              </a:rPr>
              <a:t>Learning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1700" y="2873375"/>
            <a:ext cx="4276725" cy="3311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Fadel M. Megahed,</a:t>
            </a:r>
            <a:r>
              <a:rPr dirty="0" sz="1850" spc="-1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5">
                <a:solidFill>
                  <a:srgbClr val="FFFFFF"/>
                </a:solidFill>
                <a:latin typeface="Arial"/>
                <a:cs typeface="Arial"/>
              </a:rPr>
              <a:t>PhD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ts val="216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Professor</a:t>
            </a:r>
            <a:endParaRPr sz="1850">
              <a:latin typeface="Arial"/>
              <a:cs typeface="Arial"/>
            </a:endParaRPr>
          </a:p>
          <a:p>
            <a:pPr marL="12700" marR="1397000">
              <a:lnSpc>
                <a:spcPts val="2030"/>
              </a:lnSpc>
              <a:spcBef>
                <a:spcPts val="165"/>
              </a:spcBef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Farmer School of</a:t>
            </a:r>
            <a:r>
              <a:rPr dirty="0" sz="1850" spc="-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Business  Miami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University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750">
              <a:latin typeface="Arial"/>
              <a:cs typeface="Arial"/>
            </a:endParaRPr>
          </a:p>
          <a:p>
            <a:pPr marL="309245" marR="1287145" indent="6985">
              <a:lnSpc>
                <a:spcPct val="103000"/>
              </a:lnSpc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2"/>
              </a:rPr>
              <a:t>@FadelMegahed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3"/>
              </a:rPr>
              <a:t>fmegahed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4"/>
              </a:rPr>
              <a:t>fmegahed@miamioh.edu</a:t>
            </a:r>
            <a:endParaRPr sz="1850">
              <a:latin typeface="Arial"/>
              <a:cs typeface="Arial"/>
            </a:endParaRPr>
          </a:p>
          <a:p>
            <a:pPr marL="243840">
              <a:lnSpc>
                <a:spcPct val="100000"/>
              </a:lnSpc>
              <a:spcBef>
                <a:spcPts val="105"/>
              </a:spcBef>
            </a:pP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Automated Scheduler </a:t>
            </a:r>
            <a:r>
              <a:rPr dirty="0" sz="1850" spc="5">
                <a:solidFill>
                  <a:srgbClr val="83D5D3"/>
                </a:solidFill>
                <a:latin typeface="Arial"/>
                <a:cs typeface="Arial"/>
                <a:hlinkClick r:id="rId5"/>
              </a:rPr>
              <a:t>for Office</a:t>
            </a:r>
            <a:r>
              <a:rPr dirty="0" sz="1850" spc="-2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 </a:t>
            </a:r>
            <a:r>
              <a:rPr dirty="0" sz="1850" spc="10">
                <a:solidFill>
                  <a:srgbClr val="83D5D3"/>
                </a:solidFill>
                <a:latin typeface="Arial"/>
                <a:cs typeface="Arial"/>
                <a:hlinkClick r:id="rId5"/>
              </a:rPr>
              <a:t>Hours</a:t>
            </a:r>
            <a:endParaRPr sz="18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Spring</a:t>
            </a:r>
            <a:r>
              <a:rPr dirty="0" sz="185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850" spc="10">
                <a:solidFill>
                  <a:srgbClr val="FFFFFF"/>
                </a:solidFill>
                <a:latin typeface="Arial"/>
                <a:cs typeface="Arial"/>
              </a:rPr>
              <a:t>2025</a:t>
            </a:r>
            <a:endParaRPr sz="185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4537212"/>
            <a:ext cx="238124" cy="1934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4804320"/>
            <a:ext cx="230683" cy="2258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29" y="5095881"/>
            <a:ext cx="237909" cy="2378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24888" y="5381624"/>
            <a:ext cx="165083" cy="238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01904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80">
                <a:solidFill>
                  <a:srgbClr val="C2132D"/>
                </a:solidFill>
              </a:rPr>
              <a:t>Quick </a:t>
            </a:r>
            <a:r>
              <a:rPr dirty="0" sz="3350" spc="-185">
                <a:solidFill>
                  <a:srgbClr val="C2132D"/>
                </a:solidFill>
              </a:rPr>
              <a:t>Refresher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100">
                <a:solidFill>
                  <a:srgbClr val="C2132D"/>
                </a:solidFill>
              </a:rPr>
              <a:t>Last</a:t>
            </a:r>
            <a:r>
              <a:rPr dirty="0" sz="3350" spc="-475">
                <a:solidFill>
                  <a:srgbClr val="C2132D"/>
                </a:solidFill>
              </a:rPr>
              <a:t> </a:t>
            </a:r>
            <a:r>
              <a:rPr dirty="0" sz="3350" spc="-20">
                <a:solidFill>
                  <a:srgbClr val="C2132D"/>
                </a:solidFill>
              </a:rPr>
              <a:t>Class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8393430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Utilize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standalone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viz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packages</a:t>
            </a:r>
            <a:r>
              <a:rPr dirty="0" sz="1800" spc="-229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construct and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tailor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your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graphs.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90"/>
              </a:spcBef>
            </a:pPr>
            <a:r>
              <a:rPr dirty="0" sz="1750" spc="65">
                <a:solidFill>
                  <a:srgbClr val="585D60"/>
                </a:solidFill>
                <a:latin typeface="Segoe UI Emoji"/>
                <a:cs typeface="Segoe UI Emoji"/>
              </a:rPr>
              <a:t>✅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Examine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network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and/or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spatial plots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context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network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123825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100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3290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70">
                <a:solidFill>
                  <a:srgbClr val="C2132D"/>
                </a:solidFill>
              </a:rPr>
              <a:t>Learning </a:t>
            </a:r>
            <a:r>
              <a:rPr dirty="0" sz="3350" spc="-204">
                <a:solidFill>
                  <a:srgbClr val="C2132D"/>
                </a:solidFill>
              </a:rPr>
              <a:t>Objectives </a:t>
            </a:r>
            <a:r>
              <a:rPr dirty="0" sz="3350" spc="-185">
                <a:solidFill>
                  <a:srgbClr val="C2132D"/>
                </a:solidFill>
              </a:rPr>
              <a:t>for </a:t>
            </a:r>
            <a:r>
              <a:rPr dirty="0" sz="3350" spc="-135">
                <a:solidFill>
                  <a:srgbClr val="C2132D"/>
                </a:solidFill>
              </a:rPr>
              <a:t>Today's</a:t>
            </a:r>
            <a:r>
              <a:rPr dirty="0" sz="3350" spc="-495">
                <a:solidFill>
                  <a:srgbClr val="C2132D"/>
                </a:solidFill>
              </a:rPr>
              <a:t> </a:t>
            </a:r>
            <a:r>
              <a:rPr dirty="0" sz="3350" spc="-20">
                <a:solidFill>
                  <a:srgbClr val="C2132D"/>
                </a:solidFill>
              </a:rPr>
              <a:t>Class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57995" cy="1490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Explain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difference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supervised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unsupervised</a:t>
            </a:r>
            <a:r>
              <a:rPr dirty="0" sz="1800" spc="-10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learning.</a:t>
            </a:r>
            <a:endParaRPr sz="1800">
              <a:latin typeface="Calibri"/>
              <a:cs typeface="Calibri"/>
            </a:endParaRPr>
          </a:p>
          <a:p>
            <a:pPr marL="146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Understand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importance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different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preprocessing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steps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they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should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used 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ML.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Explain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typical </a:t>
            </a: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error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measures used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supervised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unsupervised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learning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tasks.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7104" y="2758440"/>
            <a:ext cx="6047740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49554">
              <a:lnSpc>
                <a:spcPct val="100000"/>
              </a:lnSpc>
              <a:spcBef>
                <a:spcPts val="1105"/>
              </a:spcBef>
            </a:pPr>
            <a:r>
              <a:rPr dirty="0" spc="-1340">
                <a:solidFill>
                  <a:srgbClr val="000000"/>
                </a:solidFill>
              </a:rPr>
              <a:t>W</a:t>
            </a:r>
            <a:r>
              <a:rPr dirty="0" spc="-1340"/>
              <a:t>W</a:t>
            </a:r>
            <a:r>
              <a:rPr dirty="0" spc="-1340">
                <a:solidFill>
                  <a:srgbClr val="000000"/>
                </a:solidFill>
              </a:rPr>
              <a:t>h</a:t>
            </a:r>
            <a:r>
              <a:rPr dirty="0" spc="-1340"/>
              <a:t>h</a:t>
            </a:r>
            <a:r>
              <a:rPr dirty="0" spc="-1340">
                <a:solidFill>
                  <a:srgbClr val="000000"/>
                </a:solidFill>
              </a:rPr>
              <a:t>a</a:t>
            </a:r>
            <a:r>
              <a:rPr dirty="0" spc="-1340"/>
              <a:t>a</a:t>
            </a:r>
            <a:r>
              <a:rPr dirty="0" spc="-1340">
                <a:solidFill>
                  <a:srgbClr val="000000"/>
                </a:solidFill>
              </a:rPr>
              <a:t>t</a:t>
            </a:r>
            <a:r>
              <a:rPr dirty="0" spc="-1340"/>
              <a:t>t</a:t>
            </a:r>
            <a:r>
              <a:rPr dirty="0" spc="-285"/>
              <a:t> </a:t>
            </a:r>
            <a:r>
              <a:rPr dirty="0" spc="-710">
                <a:solidFill>
                  <a:srgbClr val="000000"/>
                </a:solidFill>
              </a:rPr>
              <a:t>i</a:t>
            </a:r>
            <a:r>
              <a:rPr dirty="0" spc="-710"/>
              <a:t>i</a:t>
            </a:r>
            <a:r>
              <a:rPr dirty="0" spc="-710">
                <a:solidFill>
                  <a:srgbClr val="000000"/>
                </a:solidFill>
              </a:rPr>
              <a:t>s</a:t>
            </a:r>
            <a:r>
              <a:rPr dirty="0" spc="-710"/>
              <a:t>s </a:t>
            </a:r>
            <a:r>
              <a:rPr dirty="0" spc="-1155">
                <a:solidFill>
                  <a:srgbClr val="000000"/>
                </a:solidFill>
              </a:rPr>
              <a:t>M</a:t>
            </a:r>
            <a:r>
              <a:rPr dirty="0" spc="-1155"/>
              <a:t>M</a:t>
            </a:r>
            <a:r>
              <a:rPr dirty="0" spc="-1155">
                <a:solidFill>
                  <a:srgbClr val="000000"/>
                </a:solidFill>
              </a:rPr>
              <a:t>a</a:t>
            </a:r>
            <a:r>
              <a:rPr dirty="0" spc="-1155"/>
              <a:t>a</a:t>
            </a:r>
            <a:r>
              <a:rPr dirty="0" spc="-1155">
                <a:solidFill>
                  <a:srgbClr val="000000"/>
                </a:solidFill>
              </a:rPr>
              <a:t>c</a:t>
            </a:r>
            <a:r>
              <a:rPr dirty="0" spc="-1155"/>
              <a:t>c</a:t>
            </a:r>
            <a:r>
              <a:rPr dirty="0" spc="-1155">
                <a:solidFill>
                  <a:srgbClr val="000000"/>
                </a:solidFill>
              </a:rPr>
              <a:t>h</a:t>
            </a:r>
            <a:r>
              <a:rPr dirty="0" spc="-1155"/>
              <a:t>h</a:t>
            </a:r>
            <a:r>
              <a:rPr dirty="0" spc="-1155">
                <a:solidFill>
                  <a:srgbClr val="000000"/>
                </a:solidFill>
              </a:rPr>
              <a:t>i</a:t>
            </a:r>
            <a:r>
              <a:rPr dirty="0" spc="-1155"/>
              <a:t>i</a:t>
            </a:r>
            <a:r>
              <a:rPr dirty="0" spc="-1155">
                <a:solidFill>
                  <a:srgbClr val="000000"/>
                </a:solidFill>
              </a:rPr>
              <a:t>n</a:t>
            </a:r>
            <a:r>
              <a:rPr dirty="0" spc="-1155"/>
              <a:t>n</a:t>
            </a:r>
            <a:r>
              <a:rPr dirty="0" spc="-1155">
                <a:solidFill>
                  <a:srgbClr val="000000"/>
                </a:solidFill>
              </a:rPr>
              <a:t>e</a:t>
            </a:r>
            <a:r>
              <a:rPr dirty="0" spc="-1155"/>
              <a:t>e</a:t>
            </a:r>
            <a:r>
              <a:rPr dirty="0" spc="-1105"/>
              <a:t> </a:t>
            </a:r>
            <a:r>
              <a:rPr dirty="0" spc="-1040">
                <a:solidFill>
                  <a:srgbClr val="000000"/>
                </a:solidFill>
              </a:rPr>
              <a:t>L</a:t>
            </a:r>
            <a:r>
              <a:rPr dirty="0" spc="-1040"/>
              <a:t>L</a:t>
            </a:r>
            <a:r>
              <a:rPr dirty="0" spc="-1040">
                <a:solidFill>
                  <a:srgbClr val="000000"/>
                </a:solidFill>
              </a:rPr>
              <a:t>e</a:t>
            </a:r>
            <a:r>
              <a:rPr dirty="0" spc="-1040"/>
              <a:t>e</a:t>
            </a:r>
            <a:r>
              <a:rPr dirty="0" spc="-1040">
                <a:solidFill>
                  <a:srgbClr val="000000"/>
                </a:solidFill>
              </a:rPr>
              <a:t>a</a:t>
            </a:r>
            <a:r>
              <a:rPr dirty="0" spc="-1040"/>
              <a:t>a</a:t>
            </a:r>
            <a:r>
              <a:rPr dirty="0" spc="-1040">
                <a:solidFill>
                  <a:srgbClr val="000000"/>
                </a:solidFill>
              </a:rPr>
              <a:t>r</a:t>
            </a:r>
            <a:r>
              <a:rPr dirty="0" spc="-1040"/>
              <a:t>r</a:t>
            </a:r>
            <a:r>
              <a:rPr dirty="0" spc="-1040">
                <a:solidFill>
                  <a:srgbClr val="000000"/>
                </a:solidFill>
              </a:rPr>
              <a:t>n</a:t>
            </a:r>
            <a:r>
              <a:rPr dirty="0" spc="-1040"/>
              <a:t>n</a:t>
            </a:r>
            <a:r>
              <a:rPr dirty="0" spc="-1040">
                <a:solidFill>
                  <a:srgbClr val="000000"/>
                </a:solidFill>
              </a:rPr>
              <a:t>i</a:t>
            </a:r>
            <a:r>
              <a:rPr dirty="0" spc="-1040"/>
              <a:t>i</a:t>
            </a:r>
            <a:r>
              <a:rPr dirty="0" spc="-1040">
                <a:solidFill>
                  <a:srgbClr val="000000"/>
                </a:solidFill>
              </a:rPr>
              <a:t>n</a:t>
            </a:r>
            <a:r>
              <a:rPr dirty="0" spc="-1040"/>
              <a:t>n</a:t>
            </a:r>
            <a:r>
              <a:rPr dirty="0" spc="-1040">
                <a:solidFill>
                  <a:srgbClr val="000000"/>
                </a:solidFill>
              </a:rPr>
              <a:t>g</a:t>
            </a:r>
            <a:r>
              <a:rPr dirty="0" spc="-1040"/>
              <a:t>g</a:t>
            </a:r>
            <a:r>
              <a:rPr dirty="0" spc="-1040">
                <a:solidFill>
                  <a:srgbClr val="000000"/>
                </a:solidFill>
              </a:rPr>
              <a:t>?</a:t>
            </a:r>
            <a:r>
              <a:rPr dirty="0" spc="-1040"/>
              <a:t>?</a:t>
            </a:r>
          </a:p>
        </p:txBody>
      </p:sp>
      <p:sp>
        <p:nvSpPr>
          <p:cNvPr id="3" name="object 3"/>
          <p:cNvSpPr/>
          <p:nvPr/>
        </p:nvSpPr>
        <p:spPr>
          <a:xfrm>
            <a:off x="10713719" y="5995415"/>
            <a:ext cx="811530" cy="491490"/>
          </a:xfrm>
          <a:custGeom>
            <a:avLst/>
            <a:gdLst/>
            <a:ahLst/>
            <a:cxnLst/>
            <a:rect l="l" t="t" r="r" b="b"/>
            <a:pathLst>
              <a:path w="811529" h="491489">
                <a:moveTo>
                  <a:pt x="0" y="0"/>
                </a:moveTo>
                <a:lnTo>
                  <a:pt x="811529" y="0"/>
                </a:lnTo>
                <a:lnTo>
                  <a:pt x="8115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4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r>
              <a:rPr dirty="0" sz="1200" spc="-23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19212" y="2305050"/>
            <a:ext cx="0" cy="638175"/>
          </a:xfrm>
          <a:custGeom>
            <a:avLst/>
            <a:gdLst/>
            <a:ahLst/>
            <a:cxnLst/>
            <a:rect l="l" t="t" r="r" b="b"/>
            <a:pathLst>
              <a:path w="0" h="638175">
                <a:moveTo>
                  <a:pt x="0" y="0"/>
                </a:moveTo>
                <a:lnTo>
                  <a:pt x="0" y="638174"/>
                </a:lnTo>
              </a:path>
            </a:pathLst>
          </a:custGeom>
          <a:ln w="47624">
            <a:solidFill>
              <a:srgbClr val="C213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163512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10">
                <a:solidFill>
                  <a:srgbClr val="C2132D"/>
                </a:solidFill>
              </a:rPr>
              <a:t>Definition</a:t>
            </a:r>
            <a:endParaRPr sz="3350"/>
          </a:p>
        </p:txBody>
      </p:sp>
      <p:sp>
        <p:nvSpPr>
          <p:cNvPr id="7" name="object 7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5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8754" y="1376044"/>
            <a:ext cx="9166860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marR="5080" indent="-133985">
              <a:lnSpc>
                <a:spcPct val="118100"/>
              </a:lnSpc>
              <a:spcBef>
                <a:spcPts val="100"/>
              </a:spcBef>
              <a:buClr>
                <a:srgbClr val="C2132D"/>
              </a:buClr>
              <a:buChar char="•"/>
              <a:tabLst>
                <a:tab pos="146685" algn="l"/>
              </a:tabLst>
            </a:pPr>
            <a:r>
              <a:rPr dirty="0" sz="1800" spc="-10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Mitchell </a:t>
            </a:r>
            <a:r>
              <a:rPr dirty="0" sz="1800" spc="6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2006</a:t>
            </a:r>
            <a:r>
              <a:rPr dirty="0" sz="1800" spc="-36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has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elegantly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defined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scientific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field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machine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learning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centered  around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answering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following</a:t>
            </a:r>
            <a:r>
              <a:rPr dirty="0" sz="1800" spc="-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question: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3024" y="2305050"/>
            <a:ext cx="8886825" cy="638175"/>
          </a:xfrm>
          <a:prstGeom prst="rect">
            <a:avLst/>
          </a:prstGeom>
          <a:solidFill>
            <a:srgbClr val="F9F9F9"/>
          </a:solidFill>
        </p:spPr>
        <p:txBody>
          <a:bodyPr wrap="square" lIns="0" tIns="9525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75"/>
              </a:spcBef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How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build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computer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systems</a:t>
            </a:r>
            <a:r>
              <a:rPr dirty="0" sz="1800" spc="-21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automatically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improve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experience,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endParaRPr sz="1800">
              <a:latin typeface="Calibri"/>
              <a:cs typeface="Calibri"/>
            </a:endParaRPr>
          </a:p>
          <a:p>
            <a:pPr marL="227965">
              <a:lnSpc>
                <a:spcPct val="100000"/>
              </a:lnSpc>
              <a:spcBef>
                <a:spcPts val="315"/>
              </a:spcBef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what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fundamental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laws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govern all learning</a:t>
            </a:r>
            <a:r>
              <a:rPr dirty="0" sz="1800" spc="-1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processes?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01700" y="3168649"/>
            <a:ext cx="6066790" cy="1718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his </a:t>
            </a:r>
            <a:r>
              <a:rPr dirty="0" sz="1800">
                <a:solidFill>
                  <a:srgbClr val="585D60"/>
                </a:solidFill>
                <a:latin typeface="Calibri"/>
                <a:cs typeface="Calibri"/>
              </a:rPr>
              <a:t>view,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machine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learning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study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algorithms</a:t>
            </a:r>
            <a:r>
              <a:rPr dirty="0" sz="1800" spc="-18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that: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7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Improve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their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performance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85" i="1">
                <a:solidFill>
                  <a:srgbClr val="585D60"/>
                </a:solidFill>
                <a:latin typeface="Arial"/>
                <a:cs typeface="Arial"/>
              </a:rPr>
              <a:t>P</a:t>
            </a:r>
            <a:endParaRPr sz="16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at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some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task</a:t>
            </a:r>
            <a:r>
              <a:rPr dirty="0" sz="1800" spc="-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70" i="1">
                <a:solidFill>
                  <a:srgbClr val="585D60"/>
                </a:solidFill>
                <a:latin typeface="Arial"/>
                <a:cs typeface="Arial"/>
              </a:rPr>
              <a:t>T</a:t>
            </a:r>
            <a:endParaRPr sz="1600">
              <a:latin typeface="Arial"/>
              <a:cs typeface="Arial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experience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600" spc="160" i="1">
                <a:solidFill>
                  <a:srgbClr val="585D60"/>
                </a:solidFill>
                <a:latin typeface="Arial"/>
                <a:cs typeface="Arial"/>
              </a:rPr>
              <a:t>E</a:t>
            </a:r>
            <a:r>
              <a:rPr dirty="0" sz="1800" spc="160">
                <a:solidFill>
                  <a:srgbClr val="585D60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6565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30">
                <a:solidFill>
                  <a:srgbClr val="C2132D"/>
                </a:solidFill>
              </a:rPr>
              <a:t>A </a:t>
            </a:r>
            <a:r>
              <a:rPr dirty="0" sz="3350" spc="-160">
                <a:solidFill>
                  <a:srgbClr val="C2132D"/>
                </a:solidFill>
              </a:rPr>
              <a:t>Paradigm </a:t>
            </a:r>
            <a:r>
              <a:rPr dirty="0" sz="3350" spc="-150">
                <a:solidFill>
                  <a:srgbClr val="C2132D"/>
                </a:solidFill>
              </a:rPr>
              <a:t>Shift </a:t>
            </a:r>
            <a:r>
              <a:rPr dirty="0" sz="3350" spc="-190">
                <a:solidFill>
                  <a:srgbClr val="C2132D"/>
                </a:solidFill>
              </a:rPr>
              <a:t>in</a:t>
            </a:r>
            <a:r>
              <a:rPr dirty="0" sz="3350" spc="-660">
                <a:solidFill>
                  <a:srgbClr val="C2132D"/>
                </a:solidFill>
              </a:rPr>
              <a:t> </a:t>
            </a:r>
            <a:r>
              <a:rPr dirty="0" sz="3350" spc="-165">
                <a:solidFill>
                  <a:srgbClr val="C2132D"/>
                </a:solidFill>
              </a:rPr>
              <a:t>Programming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2219122" y="1500035"/>
            <a:ext cx="7098885" cy="43127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4333875" cy="0"/>
          </a:xfrm>
          <a:custGeom>
            <a:avLst/>
            <a:gdLst/>
            <a:ahLst/>
            <a:cxnLst/>
            <a:rect l="l" t="t" r="r" b="b"/>
            <a:pathLst>
              <a:path w="4333875" h="0">
                <a:moveTo>
                  <a:pt x="0" y="0"/>
                </a:moveTo>
                <a:lnTo>
                  <a:pt x="43338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4333875" cy="0"/>
          </a:xfrm>
          <a:custGeom>
            <a:avLst/>
            <a:gdLst/>
            <a:ahLst/>
            <a:cxnLst/>
            <a:rect l="l" t="t" r="r" b="b"/>
            <a:pathLst>
              <a:path w="4333875" h="0">
                <a:moveTo>
                  <a:pt x="0" y="0"/>
                </a:moveTo>
                <a:lnTo>
                  <a:pt x="43338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238749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6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01700" y="6274743"/>
            <a:ext cx="4361180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b="1">
                <a:solidFill>
                  <a:srgbClr val="C2132D"/>
                </a:solidFill>
                <a:latin typeface="Arial"/>
                <a:cs typeface="Arial"/>
              </a:rPr>
              <a:t>Image</a:t>
            </a:r>
            <a:r>
              <a:rPr dirty="0" sz="850" spc="-1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1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Yuxi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Lui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(2019).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Python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Machine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Learning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by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Example.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Packt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Publishers</a:t>
            </a:r>
            <a:r>
              <a:rPr dirty="0" sz="850" spc="25">
                <a:solidFill>
                  <a:srgbClr val="585D60"/>
                </a:solidFill>
                <a:latin typeface="Calibri"/>
                <a:cs typeface="Calibri"/>
              </a:rPr>
              <a:t>.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34250" y="1981200"/>
            <a:ext cx="2181224" cy="2181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220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0">
                <a:solidFill>
                  <a:srgbClr val="C2132D"/>
                </a:solidFill>
              </a:rPr>
              <a:t>Examples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145">
                <a:solidFill>
                  <a:srgbClr val="C2132D"/>
                </a:solidFill>
              </a:rPr>
              <a:t>a </a:t>
            </a:r>
            <a:r>
              <a:rPr dirty="0" sz="3350" spc="-215">
                <a:solidFill>
                  <a:srgbClr val="C2132D"/>
                </a:solidFill>
              </a:rPr>
              <a:t>Task, Performance, </a:t>
            </a:r>
            <a:r>
              <a:rPr dirty="0" sz="3350" spc="-180">
                <a:solidFill>
                  <a:srgbClr val="C2132D"/>
                </a:solidFill>
              </a:rPr>
              <a:t>and</a:t>
            </a:r>
            <a:r>
              <a:rPr dirty="0" sz="3350" spc="-605">
                <a:solidFill>
                  <a:srgbClr val="C2132D"/>
                </a:solidFill>
              </a:rPr>
              <a:t> </a:t>
            </a:r>
            <a:r>
              <a:rPr dirty="0" sz="3350" spc="-204">
                <a:solidFill>
                  <a:srgbClr val="C2132D"/>
                </a:solidFill>
              </a:rPr>
              <a:t>Experience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1148754" y="1425575"/>
            <a:ext cx="9140190" cy="2157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0"/>
              </a:spcBef>
            </a:pP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Improve </a:t>
            </a: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on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task </a:t>
            </a:r>
            <a:r>
              <a:rPr dirty="0" sz="1700" spc="-10" b="1">
                <a:solidFill>
                  <a:srgbClr val="C2132D"/>
                </a:solidFill>
                <a:latin typeface="Courier New"/>
                <a:cs typeface="Courier New"/>
              </a:rPr>
              <a:t>(T)</a:t>
            </a:r>
            <a:r>
              <a:rPr dirty="0" sz="1800" spc="-10" b="1">
                <a:solidFill>
                  <a:srgbClr val="C2132D"/>
                </a:solidFill>
                <a:latin typeface="Arial"/>
                <a:cs typeface="Arial"/>
              </a:rPr>
              <a:t>, 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with respect to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performance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metric </a:t>
            </a:r>
            <a:r>
              <a:rPr dirty="0" sz="1700" spc="-10" b="1">
                <a:solidFill>
                  <a:srgbClr val="C2132D"/>
                </a:solidFill>
                <a:latin typeface="Courier New"/>
                <a:cs typeface="Courier New"/>
              </a:rPr>
              <a:t>(P)</a:t>
            </a:r>
            <a:r>
              <a:rPr dirty="0" sz="1800" spc="-10" b="1">
                <a:solidFill>
                  <a:srgbClr val="C2132D"/>
                </a:solidFill>
                <a:latin typeface="Arial"/>
                <a:cs typeface="Arial"/>
              </a:rPr>
              <a:t>,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based </a:t>
            </a: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on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experience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700" spc="5" b="1">
                <a:solidFill>
                  <a:srgbClr val="C2132D"/>
                </a:solidFill>
                <a:latin typeface="Courier New"/>
                <a:cs typeface="Courier New"/>
              </a:rPr>
              <a:t>(E)</a:t>
            </a:r>
            <a:r>
              <a:rPr dirty="0" sz="1800" spc="5" b="1">
                <a:solidFill>
                  <a:srgbClr val="C2132D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650">
              <a:latin typeface="Arial"/>
              <a:cs typeface="Arial"/>
            </a:endParaRPr>
          </a:p>
          <a:p>
            <a:pPr marL="14605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T: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Playing</a:t>
            </a:r>
            <a:r>
              <a:rPr dirty="0" sz="1800" spc="-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checkers</a:t>
            </a:r>
            <a:endParaRPr sz="1800">
              <a:latin typeface="Calibri"/>
              <a:cs typeface="Calibri"/>
            </a:endParaRPr>
          </a:p>
          <a:p>
            <a:pPr marL="146050" marR="5594985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P: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Winning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percentage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against</a:t>
            </a:r>
            <a:r>
              <a:rPr dirty="0" sz="1800" spc="-1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 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arbitrary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opponent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E: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Playing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practice </a:t>
            </a:r>
            <a:r>
              <a:rPr dirty="0" sz="1800" spc="140">
                <a:solidFill>
                  <a:srgbClr val="585D60"/>
                </a:solidFill>
                <a:latin typeface="Calibri"/>
                <a:cs typeface="Calibri"/>
              </a:rPr>
              <a:t>games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against</a:t>
            </a:r>
            <a:r>
              <a:rPr dirty="0" sz="1800" spc="-16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itself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1700" y="4273550"/>
            <a:ext cx="79692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Note: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idea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Samuel (1959)</a:t>
            </a:r>
            <a:r>
              <a:rPr dirty="0" sz="1800" spc="-36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led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popularization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machine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learning.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14400" y="6176962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 h="0">
                <a:moveTo>
                  <a:pt x="0" y="0"/>
                </a:moveTo>
                <a:lnTo>
                  <a:pt x="123824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86487"/>
            <a:ext cx="1238250" cy="0"/>
          </a:xfrm>
          <a:custGeom>
            <a:avLst/>
            <a:gdLst/>
            <a:ahLst/>
            <a:cxnLst/>
            <a:rect l="l" t="t" r="r" b="b"/>
            <a:pathLst>
              <a:path w="1238250" h="0">
                <a:moveTo>
                  <a:pt x="0" y="0"/>
                </a:moveTo>
                <a:lnTo>
                  <a:pt x="123824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143125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0964712" y="6218137"/>
            <a:ext cx="421005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7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01700" y="6274743"/>
            <a:ext cx="1264285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b="1">
                <a:solidFill>
                  <a:srgbClr val="C2132D"/>
                </a:solidFill>
                <a:latin typeface="Arial"/>
                <a:cs typeface="Arial"/>
              </a:rPr>
              <a:t>Image </a:t>
            </a: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8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Wikipedia</a:t>
            </a:r>
            <a:endParaRPr sz="8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8754" y="2092325"/>
            <a:ext cx="4117340" cy="14903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T: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Recognizing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spoken</a:t>
            </a:r>
            <a:r>
              <a:rPr dirty="0" sz="1800" spc="-8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P: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Accuracy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recognizing</a:t>
            </a:r>
            <a:r>
              <a:rPr dirty="0" sz="1800" spc="-1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words</a:t>
            </a:r>
            <a:endParaRPr sz="1800">
              <a:latin typeface="Calibri"/>
              <a:cs typeface="Calibri"/>
            </a:endParaRPr>
          </a:p>
          <a:p>
            <a:pPr marL="146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E: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Listening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large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-18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words 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their</a:t>
            </a:r>
            <a:r>
              <a:rPr dirty="0" sz="1800" spc="-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pronunciations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653212" y="2667000"/>
            <a:ext cx="0" cy="2876550"/>
          </a:xfrm>
          <a:custGeom>
            <a:avLst/>
            <a:gdLst/>
            <a:ahLst/>
            <a:cxnLst/>
            <a:rect l="l" t="t" r="r" b="b"/>
            <a:pathLst>
              <a:path w="0" h="2876550">
                <a:moveTo>
                  <a:pt x="0" y="0"/>
                </a:moveTo>
                <a:lnTo>
                  <a:pt x="0" y="2876549"/>
                </a:lnTo>
              </a:path>
            </a:pathLst>
          </a:custGeom>
          <a:ln w="47624">
            <a:solidFill>
              <a:srgbClr val="C2132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677025" y="2667000"/>
            <a:ext cx="3552825" cy="2876550"/>
          </a:xfrm>
          <a:prstGeom prst="rect">
            <a:avLst/>
          </a:prstGeom>
          <a:solidFill>
            <a:srgbClr val="F9F9F9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550">
              <a:latin typeface="Times New Roman"/>
              <a:cs typeface="Times New Roman"/>
            </a:endParaRPr>
          </a:p>
          <a:p>
            <a:pPr marL="227329">
              <a:lnSpc>
                <a:spcPct val="100000"/>
              </a:lnSpc>
            </a:pPr>
            <a:r>
              <a:rPr dirty="0" sz="500" spc="50">
                <a:solidFill>
                  <a:srgbClr val="585D60"/>
                </a:solidFill>
                <a:latin typeface="Calibri"/>
                <a:cs typeface="Calibri"/>
              </a:rPr>
              <a:t>This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the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Micro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Machine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Man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presenting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the </a:t>
            </a:r>
            <a:r>
              <a:rPr dirty="0" sz="500" spc="50">
                <a:solidFill>
                  <a:srgbClr val="585D60"/>
                </a:solidFill>
                <a:latin typeface="Calibri"/>
                <a:cs typeface="Calibri"/>
              </a:rPr>
              <a:t>most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midget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miniature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motorcade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Micro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Machines.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55">
                <a:solidFill>
                  <a:srgbClr val="585D60"/>
                </a:solidFill>
                <a:latin typeface="Calibri"/>
                <a:cs typeface="Calibri"/>
              </a:rPr>
              <a:t>Each</a:t>
            </a:r>
            <a:endParaRPr sz="500">
              <a:latin typeface="Calibri"/>
              <a:cs typeface="Calibri"/>
            </a:endParaRPr>
          </a:p>
          <a:p>
            <a:pPr marL="227329" marR="6985">
              <a:lnSpc>
                <a:spcPct val="419600"/>
              </a:lnSpc>
              <a:spcBef>
                <a:spcPts val="35"/>
              </a:spcBef>
            </a:pP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one </a:t>
            </a:r>
            <a:r>
              <a:rPr dirty="0" sz="500" spc="55">
                <a:solidFill>
                  <a:srgbClr val="585D60"/>
                </a:solidFill>
                <a:latin typeface="Calibri"/>
                <a:cs typeface="Calibri"/>
              </a:rPr>
              <a:t>has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dramatic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details, 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terrific </a:t>
            </a:r>
            <a:r>
              <a:rPr dirty="0" sz="500" spc="15">
                <a:solidFill>
                  <a:srgbClr val="585D60"/>
                </a:solidFill>
                <a:latin typeface="Calibri"/>
                <a:cs typeface="Calibri"/>
              </a:rPr>
              <a:t>trim,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precision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paint jobs,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plus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incredible Micro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Machine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Pocket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Play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Sets. 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There’s </a:t>
            </a:r>
            <a:r>
              <a:rPr dirty="0" sz="500" spc="50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police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station, </a:t>
            </a:r>
            <a:r>
              <a:rPr dirty="0" sz="500" spc="15">
                <a:solidFill>
                  <a:srgbClr val="585D60"/>
                </a:solidFill>
                <a:latin typeface="Calibri"/>
                <a:cs typeface="Calibri"/>
              </a:rPr>
              <a:t>fire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station, restaurant,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service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station,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more. Perfect pocket portables 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take 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any place.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there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many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miniature play </a:t>
            </a:r>
            <a:r>
              <a:rPr dirty="0" sz="500" spc="50">
                <a:solidFill>
                  <a:srgbClr val="585D60"/>
                </a:solidFill>
                <a:latin typeface="Calibri"/>
                <a:cs typeface="Calibri"/>
              </a:rPr>
              <a:t>sets 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play </a:t>
            </a:r>
            <a:r>
              <a:rPr dirty="0" sz="500" spc="15">
                <a:solidFill>
                  <a:srgbClr val="585D60"/>
                </a:solidFill>
                <a:latin typeface="Calibri"/>
                <a:cs typeface="Calibri"/>
              </a:rPr>
              <a:t>with,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each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one </a:t>
            </a:r>
            <a:r>
              <a:rPr dirty="0" sz="500" spc="60">
                <a:solidFill>
                  <a:srgbClr val="585D60"/>
                </a:solidFill>
                <a:latin typeface="Calibri"/>
                <a:cs typeface="Calibri"/>
              </a:rPr>
              <a:t>comes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with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its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own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special 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edition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Micro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Machine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vehicle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fun,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fantastic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features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miraculously move. </a:t>
            </a:r>
            <a:r>
              <a:rPr dirty="0" sz="500" spc="50">
                <a:solidFill>
                  <a:srgbClr val="585D60"/>
                </a:solidFill>
                <a:latin typeface="Calibri"/>
                <a:cs typeface="Calibri"/>
              </a:rPr>
              <a:t>Raise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the boatlift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at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the  airport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marina.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Man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the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gun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15">
                <a:solidFill>
                  <a:srgbClr val="585D60"/>
                </a:solidFill>
                <a:latin typeface="Calibri"/>
                <a:cs typeface="Calibri"/>
              </a:rPr>
              <a:t>turret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at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the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army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base.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Clean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your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car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at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the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car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wash.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50">
                <a:solidFill>
                  <a:srgbClr val="585D60"/>
                </a:solidFill>
                <a:latin typeface="Calibri"/>
                <a:cs typeface="Calibri"/>
              </a:rPr>
              <a:t>Raise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the </a:t>
            </a:r>
            <a:r>
              <a:rPr dirty="0" sz="500" spc="15">
                <a:solidFill>
                  <a:srgbClr val="585D60"/>
                </a:solidFill>
                <a:latin typeface="Calibri"/>
                <a:cs typeface="Calibri"/>
              </a:rPr>
              <a:t>toll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bridge.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And 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these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play </a:t>
            </a:r>
            <a:r>
              <a:rPr dirty="0" sz="500" spc="50">
                <a:solidFill>
                  <a:srgbClr val="585D60"/>
                </a:solidFill>
                <a:latin typeface="Calibri"/>
                <a:cs typeface="Calibri"/>
              </a:rPr>
              <a:t>sets </a:t>
            </a:r>
            <a:r>
              <a:rPr dirty="0" sz="500" spc="10">
                <a:solidFill>
                  <a:srgbClr val="585D60"/>
                </a:solidFill>
                <a:latin typeface="Calibri"/>
                <a:cs typeface="Calibri"/>
              </a:rPr>
              <a:t>fit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together 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form </a:t>
            </a:r>
            <a:r>
              <a:rPr dirty="0" sz="500" spc="50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Micro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Machine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world.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Micro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Machine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Pocket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Play Sets, </a:t>
            </a:r>
            <a:r>
              <a:rPr dirty="0" sz="500" spc="60">
                <a:solidFill>
                  <a:srgbClr val="585D60"/>
                </a:solidFill>
                <a:latin typeface="Calibri"/>
                <a:cs typeface="Calibri"/>
              </a:rPr>
              <a:t>so</a:t>
            </a:r>
            <a:r>
              <a:rPr dirty="0" sz="500" spc="-6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tremendously  </a:t>
            </a:r>
            <a:r>
              <a:rPr dirty="0" sz="500" spc="5">
                <a:solidFill>
                  <a:srgbClr val="585D60"/>
                </a:solidFill>
                <a:latin typeface="Calibri"/>
                <a:cs typeface="Calibri"/>
              </a:rPr>
              <a:t>tiny, </a:t>
            </a:r>
            <a:r>
              <a:rPr dirty="0" sz="500" spc="60">
                <a:solidFill>
                  <a:srgbClr val="585D60"/>
                </a:solidFill>
                <a:latin typeface="Calibri"/>
                <a:cs typeface="Calibri"/>
              </a:rPr>
              <a:t>so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perfectly precise, </a:t>
            </a:r>
            <a:r>
              <a:rPr dirty="0" sz="500" spc="60">
                <a:solidFill>
                  <a:srgbClr val="585D60"/>
                </a:solidFill>
                <a:latin typeface="Calibri"/>
                <a:cs typeface="Calibri"/>
              </a:rPr>
              <a:t>so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dazzlingly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detailed, 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you’ll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want 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pocket them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all.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Micro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Machines </a:t>
            </a:r>
            <a:r>
              <a:rPr dirty="0" sz="500" spc="30">
                <a:solidFill>
                  <a:srgbClr val="585D60"/>
                </a:solidFill>
                <a:latin typeface="Calibri"/>
                <a:cs typeface="Calibri"/>
              </a:rPr>
              <a:t>are Micro 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Machine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Pocket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Play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55">
                <a:solidFill>
                  <a:srgbClr val="585D60"/>
                </a:solidFill>
                <a:latin typeface="Calibri"/>
                <a:cs typeface="Calibri"/>
              </a:rPr>
              <a:t>Sets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5">
                <a:solidFill>
                  <a:srgbClr val="585D60"/>
                </a:solidFill>
                <a:latin typeface="Calibri"/>
                <a:cs typeface="Calibri"/>
              </a:rPr>
              <a:t>sold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separately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from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35">
                <a:solidFill>
                  <a:srgbClr val="585D60"/>
                </a:solidFill>
                <a:latin typeface="Calibri"/>
                <a:cs typeface="Calibri"/>
              </a:rPr>
              <a:t>Galoob.</a:t>
            </a:r>
            <a:r>
              <a:rPr dirty="0" sz="500" spc="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5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40">
                <a:solidFill>
                  <a:srgbClr val="585D60"/>
                </a:solidFill>
                <a:latin typeface="Calibri"/>
                <a:cs typeface="Calibri"/>
              </a:rPr>
              <a:t>smaller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they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500" spc="15">
                <a:solidFill>
                  <a:srgbClr val="585D60"/>
                </a:solidFill>
                <a:latin typeface="Calibri"/>
                <a:cs typeface="Calibri"/>
              </a:rPr>
              <a:t>are,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 the</a:t>
            </a:r>
            <a:r>
              <a:rPr dirty="0" sz="500" spc="20">
                <a:solidFill>
                  <a:srgbClr val="585D60"/>
                </a:solidFill>
                <a:latin typeface="Calibri"/>
                <a:cs typeface="Calibri"/>
              </a:rPr>
              <a:t> better </a:t>
            </a:r>
            <a:r>
              <a:rPr dirty="0" sz="500" spc="25">
                <a:solidFill>
                  <a:srgbClr val="585D60"/>
                </a:solidFill>
                <a:latin typeface="Calibri"/>
                <a:cs typeface="Calibri"/>
              </a:rPr>
              <a:t>they are.</a:t>
            </a:r>
            <a:endParaRPr sz="500">
              <a:latin typeface="Calibri"/>
              <a:cs typeface="Calibri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220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0">
                <a:solidFill>
                  <a:srgbClr val="C2132D"/>
                </a:solidFill>
              </a:rPr>
              <a:t>Examples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145">
                <a:solidFill>
                  <a:srgbClr val="C2132D"/>
                </a:solidFill>
              </a:rPr>
              <a:t>a </a:t>
            </a:r>
            <a:r>
              <a:rPr dirty="0" sz="3350" spc="-215">
                <a:solidFill>
                  <a:srgbClr val="C2132D"/>
                </a:solidFill>
              </a:rPr>
              <a:t>Task, Performance, </a:t>
            </a:r>
            <a:r>
              <a:rPr dirty="0" sz="3350" spc="-180">
                <a:solidFill>
                  <a:srgbClr val="C2132D"/>
                </a:solidFill>
              </a:rPr>
              <a:t>and</a:t>
            </a:r>
            <a:r>
              <a:rPr dirty="0" sz="3350" spc="-605">
                <a:solidFill>
                  <a:srgbClr val="C2132D"/>
                </a:solidFill>
              </a:rPr>
              <a:t> </a:t>
            </a:r>
            <a:r>
              <a:rPr dirty="0" sz="3350" spc="-204">
                <a:solidFill>
                  <a:srgbClr val="C2132D"/>
                </a:solidFill>
              </a:rPr>
              <a:t>Experience</a:t>
            </a:r>
            <a:endParaRPr sz="3350"/>
          </a:p>
        </p:txBody>
      </p:sp>
      <p:sp>
        <p:nvSpPr>
          <p:cNvPr id="6" name="object 6"/>
          <p:cNvSpPr txBox="1"/>
          <p:nvPr/>
        </p:nvSpPr>
        <p:spPr>
          <a:xfrm>
            <a:off x="1236265" y="1425575"/>
            <a:ext cx="905256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Improve </a:t>
            </a: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on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task </a:t>
            </a:r>
            <a:r>
              <a:rPr dirty="0" sz="1700" spc="-10" b="1">
                <a:solidFill>
                  <a:srgbClr val="C2132D"/>
                </a:solidFill>
                <a:latin typeface="Courier New"/>
                <a:cs typeface="Courier New"/>
              </a:rPr>
              <a:t>(T)</a:t>
            </a:r>
            <a:r>
              <a:rPr dirty="0" sz="1800" spc="-10" b="1">
                <a:solidFill>
                  <a:srgbClr val="C2132D"/>
                </a:solidFill>
                <a:latin typeface="Arial"/>
                <a:cs typeface="Arial"/>
              </a:rPr>
              <a:t>, 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with respect to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performance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metric </a:t>
            </a:r>
            <a:r>
              <a:rPr dirty="0" sz="1700" spc="-10" b="1">
                <a:solidFill>
                  <a:srgbClr val="C2132D"/>
                </a:solidFill>
                <a:latin typeface="Courier New"/>
                <a:cs typeface="Courier New"/>
              </a:rPr>
              <a:t>(P)</a:t>
            </a:r>
            <a:r>
              <a:rPr dirty="0" sz="1800" spc="-10" b="1">
                <a:solidFill>
                  <a:srgbClr val="C2132D"/>
                </a:solidFill>
                <a:latin typeface="Arial"/>
                <a:cs typeface="Arial"/>
              </a:rPr>
              <a:t>,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based </a:t>
            </a: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on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experience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700" spc="5" b="1">
                <a:solidFill>
                  <a:srgbClr val="C2132D"/>
                </a:solidFill>
                <a:latin typeface="Courier New"/>
                <a:cs typeface="Courier New"/>
              </a:rPr>
              <a:t>(E)</a:t>
            </a:r>
            <a:r>
              <a:rPr dirty="0" sz="1800" spc="5" b="1">
                <a:solidFill>
                  <a:srgbClr val="C2132D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000875" y="1866900"/>
            <a:ext cx="2857500" cy="514350"/>
          </a:xfrm>
          <a:custGeom>
            <a:avLst/>
            <a:gdLst/>
            <a:ahLst/>
            <a:cxnLst/>
            <a:rect l="l" t="t" r="r" b="b"/>
            <a:pathLst>
              <a:path w="2857500" h="514350">
                <a:moveTo>
                  <a:pt x="2608747" y="514349"/>
                </a:moveTo>
                <a:lnTo>
                  <a:pt x="248752" y="514349"/>
                </a:lnTo>
                <a:lnTo>
                  <a:pt x="240349" y="513937"/>
                </a:lnTo>
                <a:lnTo>
                  <a:pt x="198741" y="507765"/>
                </a:lnTo>
                <a:lnTo>
                  <a:pt x="150976" y="491550"/>
                </a:lnTo>
                <a:lnTo>
                  <a:pt x="107292" y="466328"/>
                </a:lnTo>
                <a:lnTo>
                  <a:pt x="69368" y="433069"/>
                </a:lnTo>
                <a:lnTo>
                  <a:pt x="38662" y="393050"/>
                </a:lnTo>
                <a:lnTo>
                  <a:pt x="16353" y="347809"/>
                </a:lnTo>
                <a:lnTo>
                  <a:pt x="3298" y="299086"/>
                </a:lnTo>
                <a:lnTo>
                  <a:pt x="0" y="265597"/>
                </a:lnTo>
                <a:lnTo>
                  <a:pt x="0" y="248752"/>
                </a:lnTo>
                <a:lnTo>
                  <a:pt x="6584" y="198741"/>
                </a:lnTo>
                <a:lnTo>
                  <a:pt x="22799" y="150976"/>
                </a:lnTo>
                <a:lnTo>
                  <a:pt x="48021" y="107292"/>
                </a:lnTo>
                <a:lnTo>
                  <a:pt x="81280" y="69368"/>
                </a:lnTo>
                <a:lnTo>
                  <a:pt x="121299" y="38662"/>
                </a:lnTo>
                <a:lnTo>
                  <a:pt x="166540" y="16353"/>
                </a:lnTo>
                <a:lnTo>
                  <a:pt x="215263" y="3298"/>
                </a:lnTo>
                <a:lnTo>
                  <a:pt x="248752" y="0"/>
                </a:lnTo>
                <a:lnTo>
                  <a:pt x="2608747" y="0"/>
                </a:lnTo>
                <a:lnTo>
                  <a:pt x="2658757" y="6584"/>
                </a:lnTo>
                <a:lnTo>
                  <a:pt x="2706522" y="22799"/>
                </a:lnTo>
                <a:lnTo>
                  <a:pt x="2750206" y="48021"/>
                </a:lnTo>
                <a:lnTo>
                  <a:pt x="2788130" y="81280"/>
                </a:lnTo>
                <a:lnTo>
                  <a:pt x="2818837" y="121299"/>
                </a:lnTo>
                <a:lnTo>
                  <a:pt x="2841146" y="166540"/>
                </a:lnTo>
                <a:lnTo>
                  <a:pt x="2854201" y="215263"/>
                </a:lnTo>
                <a:lnTo>
                  <a:pt x="2857500" y="248752"/>
                </a:lnTo>
                <a:lnTo>
                  <a:pt x="2857500" y="265597"/>
                </a:lnTo>
                <a:lnTo>
                  <a:pt x="2850914" y="315608"/>
                </a:lnTo>
                <a:lnTo>
                  <a:pt x="2834700" y="363373"/>
                </a:lnTo>
                <a:lnTo>
                  <a:pt x="2809478" y="407057"/>
                </a:lnTo>
                <a:lnTo>
                  <a:pt x="2776219" y="444980"/>
                </a:lnTo>
                <a:lnTo>
                  <a:pt x="2736200" y="475687"/>
                </a:lnTo>
                <a:lnTo>
                  <a:pt x="2690959" y="497996"/>
                </a:lnTo>
                <a:lnTo>
                  <a:pt x="2642236" y="511051"/>
                </a:lnTo>
                <a:lnTo>
                  <a:pt x="2608747" y="514349"/>
                </a:lnTo>
                <a:close/>
              </a:path>
            </a:pathLst>
          </a:custGeom>
          <a:solidFill>
            <a:srgbClr val="F1F2F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248525" y="2124075"/>
            <a:ext cx="2057400" cy="0"/>
          </a:xfrm>
          <a:custGeom>
            <a:avLst/>
            <a:gdLst/>
            <a:ahLst/>
            <a:cxnLst/>
            <a:rect l="l" t="t" r="r" b="b"/>
            <a:pathLst>
              <a:path w="2057400" h="0">
                <a:moveTo>
                  <a:pt x="0" y="0"/>
                </a:moveTo>
                <a:lnTo>
                  <a:pt x="2057399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9594849" y="206057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7980" y="31749"/>
                </a:moveTo>
                <a:lnTo>
                  <a:pt x="13769" y="31749"/>
                </a:lnTo>
                <a:lnTo>
                  <a:pt x="11744" y="31347"/>
                </a:lnTo>
                <a:lnTo>
                  <a:pt x="0" y="17980"/>
                </a:lnTo>
                <a:lnTo>
                  <a:pt x="0" y="13769"/>
                </a:lnTo>
                <a:lnTo>
                  <a:pt x="13769" y="0"/>
                </a:lnTo>
                <a:lnTo>
                  <a:pt x="17980" y="0"/>
                </a:lnTo>
                <a:lnTo>
                  <a:pt x="31749" y="13769"/>
                </a:lnTo>
                <a:lnTo>
                  <a:pt x="31749" y="17980"/>
                </a:lnTo>
                <a:lnTo>
                  <a:pt x="1798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594849" y="2108200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7980" y="31749"/>
                </a:moveTo>
                <a:lnTo>
                  <a:pt x="13769" y="31749"/>
                </a:lnTo>
                <a:lnTo>
                  <a:pt x="11744" y="31347"/>
                </a:lnTo>
                <a:lnTo>
                  <a:pt x="0" y="17980"/>
                </a:lnTo>
                <a:lnTo>
                  <a:pt x="0" y="13769"/>
                </a:lnTo>
                <a:lnTo>
                  <a:pt x="13769" y="0"/>
                </a:lnTo>
                <a:lnTo>
                  <a:pt x="17980" y="0"/>
                </a:lnTo>
                <a:lnTo>
                  <a:pt x="31749" y="13769"/>
                </a:lnTo>
                <a:lnTo>
                  <a:pt x="31749" y="17980"/>
                </a:lnTo>
                <a:lnTo>
                  <a:pt x="1798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9594849" y="2155825"/>
            <a:ext cx="31750" cy="31750"/>
          </a:xfrm>
          <a:custGeom>
            <a:avLst/>
            <a:gdLst/>
            <a:ahLst/>
            <a:cxnLst/>
            <a:rect l="l" t="t" r="r" b="b"/>
            <a:pathLst>
              <a:path w="31750" h="31750">
                <a:moveTo>
                  <a:pt x="17980" y="31749"/>
                </a:moveTo>
                <a:lnTo>
                  <a:pt x="13769" y="31749"/>
                </a:lnTo>
                <a:lnTo>
                  <a:pt x="11744" y="31347"/>
                </a:lnTo>
                <a:lnTo>
                  <a:pt x="0" y="17980"/>
                </a:lnTo>
                <a:lnTo>
                  <a:pt x="0" y="13769"/>
                </a:lnTo>
                <a:lnTo>
                  <a:pt x="13769" y="0"/>
                </a:lnTo>
                <a:lnTo>
                  <a:pt x="17980" y="0"/>
                </a:lnTo>
                <a:lnTo>
                  <a:pt x="31749" y="13769"/>
                </a:lnTo>
                <a:lnTo>
                  <a:pt x="31749" y="17980"/>
                </a:lnTo>
                <a:lnTo>
                  <a:pt x="17980" y="31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14400" y="6176962"/>
            <a:ext cx="1095375" cy="0"/>
          </a:xfrm>
          <a:custGeom>
            <a:avLst/>
            <a:gdLst/>
            <a:ahLst/>
            <a:cxnLst/>
            <a:rect l="l" t="t" r="r" b="b"/>
            <a:pathLst>
              <a:path w="1095375" h="0">
                <a:moveTo>
                  <a:pt x="0" y="0"/>
                </a:moveTo>
                <a:lnTo>
                  <a:pt x="109537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14400" y="6186487"/>
            <a:ext cx="1095375" cy="0"/>
          </a:xfrm>
          <a:custGeom>
            <a:avLst/>
            <a:gdLst/>
            <a:ahLst/>
            <a:cxnLst/>
            <a:rect l="l" t="t" r="r" b="b"/>
            <a:pathLst>
              <a:path w="1095375" h="0">
                <a:moveTo>
                  <a:pt x="0" y="0"/>
                </a:moveTo>
                <a:lnTo>
                  <a:pt x="109537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00025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901700" y="6266655"/>
            <a:ext cx="112395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Audio Source:</a:t>
            </a:r>
            <a:r>
              <a:rPr dirty="0" sz="850" spc="-9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OpenAI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8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55428" y="2116094"/>
            <a:ext cx="1979259" cy="22392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42200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0">
                <a:solidFill>
                  <a:srgbClr val="C2132D"/>
                </a:solidFill>
              </a:rPr>
              <a:t>Examples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145">
                <a:solidFill>
                  <a:srgbClr val="C2132D"/>
                </a:solidFill>
              </a:rPr>
              <a:t>a </a:t>
            </a:r>
            <a:r>
              <a:rPr dirty="0" sz="3350" spc="-215">
                <a:solidFill>
                  <a:srgbClr val="C2132D"/>
                </a:solidFill>
              </a:rPr>
              <a:t>Task, Performance, </a:t>
            </a:r>
            <a:r>
              <a:rPr dirty="0" sz="3350" spc="-180">
                <a:solidFill>
                  <a:srgbClr val="C2132D"/>
                </a:solidFill>
              </a:rPr>
              <a:t>and</a:t>
            </a:r>
            <a:r>
              <a:rPr dirty="0" sz="3350" spc="-605">
                <a:solidFill>
                  <a:srgbClr val="C2132D"/>
                </a:solidFill>
              </a:rPr>
              <a:t> </a:t>
            </a:r>
            <a:r>
              <a:rPr dirty="0" sz="3350" spc="-204">
                <a:solidFill>
                  <a:srgbClr val="C2132D"/>
                </a:solidFill>
              </a:rPr>
              <a:t>Experience</a:t>
            </a:r>
            <a:endParaRPr sz="3350"/>
          </a:p>
        </p:txBody>
      </p:sp>
      <p:sp>
        <p:nvSpPr>
          <p:cNvPr id="4" name="object 4"/>
          <p:cNvSpPr txBox="1"/>
          <p:nvPr/>
        </p:nvSpPr>
        <p:spPr>
          <a:xfrm>
            <a:off x="1148754" y="1425575"/>
            <a:ext cx="9140190" cy="24809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0"/>
              </a:spcBef>
            </a:pP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Improve </a:t>
            </a: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on </a:t>
            </a: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task </a:t>
            </a:r>
            <a:r>
              <a:rPr dirty="0" sz="1700" spc="-10" b="1">
                <a:solidFill>
                  <a:srgbClr val="C2132D"/>
                </a:solidFill>
                <a:latin typeface="Courier New"/>
                <a:cs typeface="Courier New"/>
              </a:rPr>
              <a:t>(T)</a:t>
            </a:r>
            <a:r>
              <a:rPr dirty="0" sz="1800" spc="-10" b="1">
                <a:solidFill>
                  <a:srgbClr val="C2132D"/>
                </a:solidFill>
                <a:latin typeface="Arial"/>
                <a:cs typeface="Arial"/>
              </a:rPr>
              <a:t>, 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with respect to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performance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metric </a:t>
            </a:r>
            <a:r>
              <a:rPr dirty="0" sz="1700" spc="-10" b="1">
                <a:solidFill>
                  <a:srgbClr val="C2132D"/>
                </a:solidFill>
                <a:latin typeface="Courier New"/>
                <a:cs typeface="Courier New"/>
              </a:rPr>
              <a:t>(P)</a:t>
            </a:r>
            <a:r>
              <a:rPr dirty="0" sz="1800" spc="-10" b="1">
                <a:solidFill>
                  <a:srgbClr val="C2132D"/>
                </a:solidFill>
                <a:latin typeface="Arial"/>
                <a:cs typeface="Arial"/>
              </a:rPr>
              <a:t>,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based </a:t>
            </a: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on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experience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700" spc="5" b="1">
                <a:solidFill>
                  <a:srgbClr val="C2132D"/>
                </a:solidFill>
                <a:latin typeface="Courier New"/>
                <a:cs typeface="Courier New"/>
              </a:rPr>
              <a:t>(E)</a:t>
            </a:r>
            <a:r>
              <a:rPr dirty="0" sz="1800" spc="5" b="1">
                <a:solidFill>
                  <a:srgbClr val="C2132D"/>
                </a:solidFill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300">
              <a:latin typeface="Arial"/>
              <a:cs typeface="Arial"/>
            </a:endParaRPr>
          </a:p>
          <a:p>
            <a:pPr marL="146050" marR="5307330" indent="-133985">
              <a:lnSpc>
                <a:spcPct val="118100"/>
              </a:lnSpc>
              <a:spcBef>
                <a:spcPts val="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T: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Classifying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emails </a:t>
            </a:r>
            <a:r>
              <a:rPr dirty="0" sz="1800" spc="170">
                <a:solidFill>
                  <a:srgbClr val="585D60"/>
                </a:solidFill>
                <a:latin typeface="Calibri"/>
                <a:cs typeface="Calibri"/>
              </a:rPr>
              <a:t>as</a:t>
            </a:r>
            <a:r>
              <a:rPr dirty="0" sz="1800" spc="-254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spam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or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not  </a:t>
            </a: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spam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P: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Accuracy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classifying</a:t>
            </a:r>
            <a:r>
              <a:rPr dirty="0" sz="1800" spc="-1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emails</a:t>
            </a:r>
            <a:endParaRPr sz="1800">
              <a:latin typeface="Calibri"/>
              <a:cs typeface="Calibri"/>
            </a:endParaRPr>
          </a:p>
          <a:p>
            <a:pPr marL="146050" marR="5275580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E: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Reading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large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emails 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identifying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which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ones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</a:t>
            </a:r>
            <a:r>
              <a:rPr dirty="0" sz="1800" spc="-16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spam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14400" y="6176962"/>
            <a:ext cx="5257800" cy="0"/>
          </a:xfrm>
          <a:custGeom>
            <a:avLst/>
            <a:gdLst/>
            <a:ahLst/>
            <a:cxnLst/>
            <a:rect l="l" t="t" r="r" b="b"/>
            <a:pathLst>
              <a:path w="5257800" h="0">
                <a:moveTo>
                  <a:pt x="0" y="0"/>
                </a:moveTo>
                <a:lnTo>
                  <a:pt x="5257799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186487"/>
            <a:ext cx="5257800" cy="0"/>
          </a:xfrm>
          <a:custGeom>
            <a:avLst/>
            <a:gdLst/>
            <a:ahLst/>
            <a:cxnLst/>
            <a:rect l="l" t="t" r="r" b="b"/>
            <a:pathLst>
              <a:path w="5257800" h="0">
                <a:moveTo>
                  <a:pt x="0" y="0"/>
                </a:moveTo>
                <a:lnTo>
                  <a:pt x="5257799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162674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266655"/>
            <a:ext cx="528383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b="1">
                <a:solidFill>
                  <a:srgbClr val="C2132D"/>
                </a:solidFill>
                <a:latin typeface="Arial"/>
                <a:cs typeface="Arial"/>
              </a:rPr>
              <a:t>Image</a:t>
            </a:r>
            <a:r>
              <a:rPr dirty="0" sz="850" spc="-1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1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Sarah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Mestiri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(2017).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Applied</a:t>
            </a:r>
            <a:r>
              <a:rPr dirty="0" sz="850" spc="-5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Text-Classification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on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Email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5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Spam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-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Filtering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-7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-</a:t>
            </a:r>
            <a:r>
              <a:rPr dirty="0" sz="850" spc="-3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Part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-2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1.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Medium.</a:t>
            </a:r>
            <a:r>
              <a:rPr dirty="0" sz="850" spc="20">
                <a:solidFill>
                  <a:srgbClr val="585D60"/>
                </a:solidFill>
                <a:latin typeface="Calibri"/>
                <a:cs typeface="Calibri"/>
              </a:rPr>
              <a:t>.</a:t>
            </a:r>
            <a:endParaRPr sz="85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64712" y="6207124"/>
            <a:ext cx="42100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9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1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7885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5">
                <a:solidFill>
                  <a:srgbClr val="C2132D"/>
                </a:solidFill>
              </a:rPr>
              <a:t>History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130">
                <a:solidFill>
                  <a:srgbClr val="C2132D"/>
                </a:solidFill>
              </a:rPr>
              <a:t>Machine</a:t>
            </a:r>
            <a:r>
              <a:rPr dirty="0" sz="3350" spc="-445">
                <a:solidFill>
                  <a:srgbClr val="C2132D"/>
                </a:solidFill>
              </a:rPr>
              <a:t> </a:t>
            </a:r>
            <a:r>
              <a:rPr dirty="0" sz="3350" spc="-170">
                <a:solidFill>
                  <a:srgbClr val="C2132D"/>
                </a:solidFill>
              </a:rPr>
              <a:t>Learning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327784" y="1693925"/>
            <a:ext cx="8817863" cy="41940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62224" y="6229349"/>
            <a:ext cx="6400799" cy="2571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76962"/>
            <a:ext cx="8429625" cy="0"/>
          </a:xfrm>
          <a:custGeom>
            <a:avLst/>
            <a:gdLst/>
            <a:ahLst/>
            <a:cxnLst/>
            <a:rect l="l" t="t" r="r" b="b"/>
            <a:pathLst>
              <a:path w="8429625" h="0">
                <a:moveTo>
                  <a:pt x="0" y="0"/>
                </a:moveTo>
                <a:lnTo>
                  <a:pt x="84296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186487"/>
            <a:ext cx="8429625" cy="0"/>
          </a:xfrm>
          <a:custGeom>
            <a:avLst/>
            <a:gdLst/>
            <a:ahLst/>
            <a:cxnLst/>
            <a:rect l="l" t="t" r="r" b="b"/>
            <a:pathLst>
              <a:path w="8429625" h="0">
                <a:moveTo>
                  <a:pt x="0" y="0"/>
                </a:moveTo>
                <a:lnTo>
                  <a:pt x="84296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3345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901700" y="6266655"/>
            <a:ext cx="8455660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spc="-10" b="1">
                <a:solidFill>
                  <a:srgbClr val="C2132D"/>
                </a:solidFill>
                <a:latin typeface="Arial"/>
                <a:cs typeface="Arial"/>
              </a:rPr>
              <a:t>Created </a:t>
            </a:r>
            <a:r>
              <a:rPr dirty="0" sz="850" spc="-40" b="1">
                <a:solidFill>
                  <a:srgbClr val="C2132D"/>
                </a:solidFill>
                <a:latin typeface="Arial"/>
                <a:cs typeface="Arial"/>
              </a:rPr>
              <a:t>By:</a:t>
            </a:r>
            <a:r>
              <a:rPr dirty="0" sz="850" spc="-1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Calibri"/>
                <a:cs typeface="Calibri"/>
              </a:rPr>
              <a:t>Fadel</a:t>
            </a:r>
            <a:r>
              <a:rPr dirty="0" sz="85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850" spc="55">
                <a:solidFill>
                  <a:srgbClr val="585D60"/>
                </a:solidFill>
                <a:latin typeface="Calibri"/>
                <a:cs typeface="Calibri"/>
              </a:rPr>
              <a:t>Megahed</a:t>
            </a:r>
            <a:r>
              <a:rPr dirty="0" sz="85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850" spc="30">
                <a:solidFill>
                  <a:srgbClr val="585D60"/>
                </a:solidFill>
                <a:latin typeface="Calibri"/>
                <a:cs typeface="Calibri"/>
              </a:rPr>
              <a:t>for</a:t>
            </a:r>
            <a:r>
              <a:rPr dirty="0" sz="85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850" spc="80">
                <a:solidFill>
                  <a:srgbClr val="585D60"/>
                </a:solidFill>
                <a:latin typeface="Calibri"/>
                <a:cs typeface="Calibri"/>
              </a:rPr>
              <a:t>ISA</a:t>
            </a:r>
            <a:r>
              <a:rPr dirty="0" sz="85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Calibri"/>
                <a:cs typeface="Calibri"/>
              </a:rPr>
              <a:t>419.</a:t>
            </a:r>
            <a:r>
              <a:rPr dirty="0" sz="85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850" spc="-10" b="1">
                <a:solidFill>
                  <a:srgbClr val="C2132D"/>
                </a:solidFill>
                <a:latin typeface="Arial"/>
                <a:cs typeface="Arial"/>
              </a:rPr>
              <a:t>Data </a:t>
            </a: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1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40">
                <a:solidFill>
                  <a:srgbClr val="585D60"/>
                </a:solidFill>
                <a:latin typeface="Calibri"/>
                <a:cs typeface="Calibri"/>
              </a:rPr>
              <a:t>Maryna</a:t>
            </a:r>
            <a:r>
              <a:rPr dirty="0" sz="85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850" spc="55">
                <a:solidFill>
                  <a:srgbClr val="585D60"/>
                </a:solidFill>
                <a:latin typeface="Calibri"/>
                <a:cs typeface="Calibri"/>
              </a:rPr>
              <a:t>Klokova</a:t>
            </a:r>
            <a:r>
              <a:rPr dirty="0" sz="85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Calibri"/>
                <a:cs typeface="Calibri"/>
              </a:rPr>
              <a:t>(2023).</a:t>
            </a:r>
            <a:r>
              <a:rPr dirty="0" sz="85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Evolution</a:t>
            </a:r>
            <a:r>
              <a:rPr dirty="0" sz="850" spc="-2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of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-1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Artificial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Intelligence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2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and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3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Machine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Learning: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7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A</a:t>
            </a:r>
            <a:r>
              <a:rPr dirty="0" sz="850" spc="-2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Journey</a:t>
            </a:r>
            <a:r>
              <a:rPr dirty="0" sz="850" spc="-45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2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Through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1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Key</a:t>
            </a:r>
            <a:r>
              <a:rPr dirty="0" sz="850" spc="-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 </a:t>
            </a:r>
            <a:r>
              <a:rPr dirty="0" sz="850" spc="30">
                <a:solidFill>
                  <a:srgbClr val="83D5D3"/>
                </a:solidFill>
                <a:latin typeface="Trebuchet MS"/>
                <a:cs typeface="Trebuchet MS"/>
                <a:hlinkClick r:id="rId4"/>
              </a:rPr>
              <a:t>Milestones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10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9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5726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65">
                <a:solidFill>
                  <a:srgbClr val="C2132D"/>
                </a:solidFill>
              </a:rPr>
              <a:t>Types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130">
                <a:solidFill>
                  <a:srgbClr val="C2132D"/>
                </a:solidFill>
              </a:rPr>
              <a:t>Machine</a:t>
            </a:r>
            <a:r>
              <a:rPr dirty="0" sz="3350" spc="-455">
                <a:solidFill>
                  <a:srgbClr val="C2132D"/>
                </a:solidFill>
              </a:rPr>
              <a:t> </a:t>
            </a:r>
            <a:r>
              <a:rPr dirty="0" sz="3350" spc="-170">
                <a:solidFill>
                  <a:srgbClr val="C2132D"/>
                </a:solidFill>
              </a:rPr>
              <a:t>Learning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165721" y="1506491"/>
            <a:ext cx="9330890" cy="498003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14400" y="6176962"/>
            <a:ext cx="1343025" cy="0"/>
          </a:xfrm>
          <a:custGeom>
            <a:avLst/>
            <a:gdLst/>
            <a:ahLst/>
            <a:cxnLst/>
            <a:rect l="l" t="t" r="r" b="b"/>
            <a:pathLst>
              <a:path w="1343025" h="0">
                <a:moveTo>
                  <a:pt x="0" y="0"/>
                </a:moveTo>
                <a:lnTo>
                  <a:pt x="13430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86487"/>
            <a:ext cx="1343025" cy="0"/>
          </a:xfrm>
          <a:custGeom>
            <a:avLst/>
            <a:gdLst/>
            <a:ahLst/>
            <a:cxnLst/>
            <a:rect l="l" t="t" r="r" b="b"/>
            <a:pathLst>
              <a:path w="1343025" h="0">
                <a:moveTo>
                  <a:pt x="0" y="0"/>
                </a:moveTo>
                <a:lnTo>
                  <a:pt x="13430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479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901700" y="6266655"/>
            <a:ext cx="1364615" cy="160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850" b="1">
                <a:solidFill>
                  <a:srgbClr val="C2132D"/>
                </a:solidFill>
                <a:latin typeface="Arial"/>
                <a:cs typeface="Arial"/>
              </a:rPr>
              <a:t>Image </a:t>
            </a:r>
            <a:r>
              <a:rPr dirty="0" sz="850" spc="-20" b="1">
                <a:solidFill>
                  <a:srgbClr val="C2132D"/>
                </a:solidFill>
                <a:latin typeface="Arial"/>
                <a:cs typeface="Arial"/>
              </a:rPr>
              <a:t>Source:</a:t>
            </a:r>
            <a:r>
              <a:rPr dirty="0" sz="850" spc="-9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850" spc="5">
                <a:solidFill>
                  <a:srgbClr val="83D5D3"/>
                </a:solidFill>
                <a:latin typeface="Trebuchet MS"/>
                <a:cs typeface="Trebuchet MS"/>
                <a:hlinkClick r:id="rId3"/>
              </a:rPr>
              <a:t>Scikit-Learn</a:t>
            </a:r>
            <a:endParaRPr sz="8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11 </a:t>
            </a:r>
            <a:r>
              <a:rPr dirty="0" sz="1200" spc="30">
                <a:solidFill>
                  <a:srgbClr val="585D60"/>
                </a:solidFill>
                <a:latin typeface="Calibri"/>
                <a:cs typeface="Calibri"/>
              </a:rPr>
              <a:t>/</a:t>
            </a:r>
            <a:r>
              <a:rPr dirty="0" sz="1200" spc="-9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200" spc="65">
                <a:solidFill>
                  <a:srgbClr val="585D60"/>
                </a:solidFill>
                <a:latin typeface="Calibri"/>
                <a:cs typeface="Calibri"/>
              </a:rPr>
              <a:t>31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1525250" cy="6486525"/>
          </a:xfrm>
          <a:custGeom>
            <a:avLst/>
            <a:gdLst/>
            <a:ahLst/>
            <a:cxnLst/>
            <a:rect l="l" t="t" r="r" b="b"/>
            <a:pathLst>
              <a:path w="11525250" h="6486525">
                <a:moveTo>
                  <a:pt x="0" y="0"/>
                </a:moveTo>
                <a:lnTo>
                  <a:pt x="11525249" y="0"/>
                </a:lnTo>
                <a:lnTo>
                  <a:pt x="11525249" y="6486524"/>
                </a:lnTo>
                <a:lnTo>
                  <a:pt x="0" y="6486524"/>
                </a:lnTo>
                <a:lnTo>
                  <a:pt x="0" y="0"/>
                </a:lnTo>
                <a:close/>
              </a:path>
            </a:pathLst>
          </a:custGeom>
          <a:solidFill>
            <a:srgbClr val="C2132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868680" y="2496312"/>
            <a:ext cx="9790430" cy="1039494"/>
          </a:xfrm>
          <a:custGeom>
            <a:avLst/>
            <a:gdLst/>
            <a:ahLst/>
            <a:cxnLst/>
            <a:rect l="l" t="t" r="r" b="b"/>
            <a:pathLst>
              <a:path w="9790430" h="1039495">
                <a:moveTo>
                  <a:pt x="0" y="0"/>
                </a:moveTo>
                <a:lnTo>
                  <a:pt x="9790176" y="0"/>
                </a:lnTo>
                <a:lnTo>
                  <a:pt x="9790176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913888" y="3023616"/>
            <a:ext cx="5681980" cy="1039494"/>
          </a:xfrm>
          <a:custGeom>
            <a:avLst/>
            <a:gdLst/>
            <a:ahLst/>
            <a:cxnLst/>
            <a:rect l="l" t="t" r="r" b="b"/>
            <a:pathLst>
              <a:path w="5681980" h="1039495">
                <a:moveTo>
                  <a:pt x="0" y="0"/>
                </a:moveTo>
                <a:lnTo>
                  <a:pt x="5681472" y="0"/>
                </a:lnTo>
                <a:lnTo>
                  <a:pt x="5681472" y="1039368"/>
                </a:lnTo>
                <a:lnTo>
                  <a:pt x="0" y="1039368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7475" rIns="0" bIns="0" rtlCol="0" vert="horz">
            <a:spAutoFit/>
          </a:bodyPr>
          <a:lstStyle/>
          <a:p>
            <a:pPr marL="2062480" marR="5080" indent="-2056764">
              <a:lnSpc>
                <a:spcPts val="4120"/>
              </a:lnSpc>
              <a:spcBef>
                <a:spcPts val="925"/>
              </a:spcBef>
            </a:pPr>
            <a:r>
              <a:rPr dirty="0" spc="-1065">
                <a:solidFill>
                  <a:srgbClr val="000000"/>
                </a:solidFill>
              </a:rPr>
              <a:t>E</a:t>
            </a:r>
            <a:r>
              <a:rPr dirty="0" spc="-1065"/>
              <a:t>E</a:t>
            </a:r>
            <a:r>
              <a:rPr dirty="0" spc="-1065">
                <a:solidFill>
                  <a:srgbClr val="000000"/>
                </a:solidFill>
              </a:rPr>
              <a:t>x</a:t>
            </a:r>
            <a:r>
              <a:rPr dirty="0" spc="-1065"/>
              <a:t>x</a:t>
            </a:r>
            <a:r>
              <a:rPr dirty="0" spc="-1065">
                <a:solidFill>
                  <a:srgbClr val="000000"/>
                </a:solidFill>
              </a:rPr>
              <a:t>p</a:t>
            </a:r>
            <a:r>
              <a:rPr dirty="0" spc="-1065"/>
              <a:t>p</a:t>
            </a:r>
            <a:r>
              <a:rPr dirty="0" spc="-1065">
                <a:solidFill>
                  <a:srgbClr val="000000"/>
                </a:solidFill>
              </a:rPr>
              <a:t>l</a:t>
            </a:r>
            <a:r>
              <a:rPr dirty="0" spc="-1065"/>
              <a:t>l</a:t>
            </a:r>
            <a:r>
              <a:rPr dirty="0" spc="-1065">
                <a:solidFill>
                  <a:srgbClr val="000000"/>
                </a:solidFill>
              </a:rPr>
              <a:t>a</a:t>
            </a:r>
            <a:r>
              <a:rPr dirty="0" spc="-1065"/>
              <a:t>a</a:t>
            </a:r>
            <a:r>
              <a:rPr dirty="0" spc="-1065">
                <a:solidFill>
                  <a:srgbClr val="000000"/>
                </a:solidFill>
              </a:rPr>
              <a:t>i</a:t>
            </a:r>
            <a:r>
              <a:rPr dirty="0" spc="-1065"/>
              <a:t>i</a:t>
            </a:r>
            <a:r>
              <a:rPr dirty="0" spc="-1065">
                <a:solidFill>
                  <a:srgbClr val="000000"/>
                </a:solidFill>
              </a:rPr>
              <a:t>n</a:t>
            </a:r>
            <a:r>
              <a:rPr dirty="0" spc="-1065"/>
              <a:t>n </a:t>
            </a:r>
            <a:r>
              <a:rPr dirty="0" spc="-1180">
                <a:solidFill>
                  <a:srgbClr val="000000"/>
                </a:solidFill>
              </a:rPr>
              <a:t>t</a:t>
            </a:r>
            <a:r>
              <a:rPr dirty="0" spc="-1180"/>
              <a:t>t</a:t>
            </a:r>
            <a:r>
              <a:rPr dirty="0" spc="-1180">
                <a:solidFill>
                  <a:srgbClr val="000000"/>
                </a:solidFill>
              </a:rPr>
              <a:t>h</a:t>
            </a:r>
            <a:r>
              <a:rPr dirty="0" spc="-1180"/>
              <a:t>h</a:t>
            </a:r>
            <a:r>
              <a:rPr dirty="0" spc="-1180">
                <a:solidFill>
                  <a:srgbClr val="000000"/>
                </a:solidFill>
              </a:rPr>
              <a:t>e</a:t>
            </a:r>
            <a:r>
              <a:rPr dirty="0" spc="-1180"/>
              <a:t>e </a:t>
            </a:r>
            <a:r>
              <a:rPr dirty="0" spc="-1095">
                <a:solidFill>
                  <a:srgbClr val="000000"/>
                </a:solidFill>
              </a:rPr>
              <a:t>D</a:t>
            </a:r>
            <a:r>
              <a:rPr dirty="0" spc="-1095"/>
              <a:t>D</a:t>
            </a:r>
            <a:r>
              <a:rPr dirty="0" spc="-1095">
                <a:solidFill>
                  <a:srgbClr val="000000"/>
                </a:solidFill>
              </a:rPr>
              <a:t>i</a:t>
            </a:r>
            <a:r>
              <a:rPr dirty="0" spc="-1095"/>
              <a:t>i</a:t>
            </a:r>
            <a:r>
              <a:rPr dirty="0" spc="-1095">
                <a:solidFill>
                  <a:srgbClr val="000000"/>
                </a:solidFill>
              </a:rPr>
              <a:t>f</a:t>
            </a:r>
            <a:r>
              <a:rPr dirty="0" spc="-1095"/>
              <a:t>f</a:t>
            </a:r>
            <a:r>
              <a:rPr dirty="0" spc="-1095">
                <a:solidFill>
                  <a:srgbClr val="000000"/>
                </a:solidFill>
              </a:rPr>
              <a:t>f</a:t>
            </a:r>
            <a:r>
              <a:rPr dirty="0" spc="-1095"/>
              <a:t>f</a:t>
            </a:r>
            <a:r>
              <a:rPr dirty="0" spc="-1095">
                <a:solidFill>
                  <a:srgbClr val="000000"/>
                </a:solidFill>
              </a:rPr>
              <a:t>e</a:t>
            </a:r>
            <a:r>
              <a:rPr dirty="0" spc="-1095"/>
              <a:t>e</a:t>
            </a:r>
            <a:r>
              <a:rPr dirty="0" spc="-1095">
                <a:solidFill>
                  <a:srgbClr val="000000"/>
                </a:solidFill>
              </a:rPr>
              <a:t>r</a:t>
            </a:r>
            <a:r>
              <a:rPr dirty="0" spc="-1095"/>
              <a:t>r</a:t>
            </a:r>
            <a:r>
              <a:rPr dirty="0" spc="-1095">
                <a:solidFill>
                  <a:srgbClr val="000000"/>
                </a:solidFill>
              </a:rPr>
              <a:t>e</a:t>
            </a:r>
            <a:r>
              <a:rPr dirty="0" spc="-1095"/>
              <a:t>e</a:t>
            </a:r>
            <a:r>
              <a:rPr dirty="0" spc="-1095">
                <a:solidFill>
                  <a:srgbClr val="000000"/>
                </a:solidFill>
              </a:rPr>
              <a:t>n</a:t>
            </a:r>
            <a:r>
              <a:rPr dirty="0" spc="-1095"/>
              <a:t>n</a:t>
            </a:r>
            <a:r>
              <a:rPr dirty="0" spc="-1095">
                <a:solidFill>
                  <a:srgbClr val="000000"/>
                </a:solidFill>
              </a:rPr>
              <a:t>c</a:t>
            </a:r>
            <a:r>
              <a:rPr dirty="0" spc="-1095"/>
              <a:t>c</a:t>
            </a:r>
            <a:r>
              <a:rPr dirty="0" spc="-1095">
                <a:solidFill>
                  <a:srgbClr val="000000"/>
                </a:solidFill>
              </a:rPr>
              <a:t>e</a:t>
            </a:r>
            <a:r>
              <a:rPr dirty="0" spc="-1095"/>
              <a:t>e </a:t>
            </a:r>
            <a:r>
              <a:rPr dirty="0" spc="-1285">
                <a:solidFill>
                  <a:srgbClr val="000000"/>
                </a:solidFill>
              </a:rPr>
              <a:t>B</a:t>
            </a:r>
            <a:r>
              <a:rPr dirty="0" spc="-1285"/>
              <a:t>B</a:t>
            </a:r>
            <a:r>
              <a:rPr dirty="0" spc="-1285">
                <a:solidFill>
                  <a:srgbClr val="000000"/>
                </a:solidFill>
              </a:rPr>
              <a:t>e</a:t>
            </a:r>
            <a:r>
              <a:rPr dirty="0" spc="-1285"/>
              <a:t>e</a:t>
            </a:r>
            <a:r>
              <a:rPr dirty="0" spc="-1285">
                <a:solidFill>
                  <a:srgbClr val="000000"/>
                </a:solidFill>
              </a:rPr>
              <a:t>t</a:t>
            </a:r>
            <a:r>
              <a:rPr dirty="0" spc="-1285"/>
              <a:t>t</a:t>
            </a:r>
            <a:r>
              <a:rPr dirty="0" spc="-1285">
                <a:solidFill>
                  <a:srgbClr val="000000"/>
                </a:solidFill>
              </a:rPr>
              <a:t>w</a:t>
            </a:r>
            <a:r>
              <a:rPr dirty="0" spc="-1285"/>
              <a:t>we</a:t>
            </a:r>
            <a:r>
              <a:rPr dirty="0" spc="-1285">
                <a:solidFill>
                  <a:srgbClr val="000000"/>
                </a:solidFill>
              </a:rPr>
              <a:t>ee</a:t>
            </a:r>
            <a:r>
              <a:rPr dirty="0" spc="-1285"/>
              <a:t>en</a:t>
            </a:r>
            <a:r>
              <a:rPr dirty="0" spc="-1285">
                <a:solidFill>
                  <a:srgbClr val="000000"/>
                </a:solidFill>
              </a:rPr>
              <a:t>n</a:t>
            </a:r>
            <a:r>
              <a:rPr dirty="0" spc="-225">
                <a:solidFill>
                  <a:srgbClr val="000000"/>
                </a:solidFill>
              </a:rPr>
              <a:t> </a:t>
            </a:r>
            <a:r>
              <a:rPr dirty="0" spc="-1110"/>
              <a:t>U</a:t>
            </a:r>
            <a:r>
              <a:rPr dirty="0" spc="-1110">
                <a:solidFill>
                  <a:srgbClr val="000000"/>
                </a:solidFill>
              </a:rPr>
              <a:t>U</a:t>
            </a:r>
            <a:r>
              <a:rPr dirty="0" spc="-1110"/>
              <a:t>n</a:t>
            </a:r>
            <a:r>
              <a:rPr dirty="0" spc="-1110">
                <a:solidFill>
                  <a:srgbClr val="000000"/>
                </a:solidFill>
              </a:rPr>
              <a:t>n</a:t>
            </a:r>
            <a:r>
              <a:rPr dirty="0" spc="-1110"/>
              <a:t>s</a:t>
            </a:r>
            <a:r>
              <a:rPr dirty="0" spc="-1110">
                <a:solidFill>
                  <a:srgbClr val="000000"/>
                </a:solidFill>
              </a:rPr>
              <a:t>su</a:t>
            </a:r>
            <a:r>
              <a:rPr dirty="0" spc="-1110"/>
              <a:t>u</a:t>
            </a:r>
            <a:r>
              <a:rPr dirty="0" spc="-1110">
                <a:solidFill>
                  <a:srgbClr val="000000"/>
                </a:solidFill>
              </a:rPr>
              <a:t>p</a:t>
            </a:r>
            <a:r>
              <a:rPr dirty="0" spc="-1110"/>
              <a:t>pe</a:t>
            </a:r>
            <a:r>
              <a:rPr dirty="0" spc="-1110">
                <a:solidFill>
                  <a:srgbClr val="000000"/>
                </a:solidFill>
              </a:rPr>
              <a:t>e</a:t>
            </a:r>
            <a:r>
              <a:rPr dirty="0" spc="-1110"/>
              <a:t>r</a:t>
            </a:r>
            <a:r>
              <a:rPr dirty="0" spc="-1110">
                <a:solidFill>
                  <a:srgbClr val="000000"/>
                </a:solidFill>
              </a:rPr>
              <a:t>r</a:t>
            </a:r>
            <a:r>
              <a:rPr dirty="0" spc="-1110"/>
              <a:t>v</a:t>
            </a:r>
            <a:r>
              <a:rPr dirty="0" spc="-1110">
                <a:solidFill>
                  <a:srgbClr val="000000"/>
                </a:solidFill>
              </a:rPr>
              <a:t>vi</a:t>
            </a:r>
            <a:r>
              <a:rPr dirty="0" spc="-1110"/>
              <a:t>is</a:t>
            </a:r>
            <a:r>
              <a:rPr dirty="0" spc="-1110">
                <a:solidFill>
                  <a:srgbClr val="000000"/>
                </a:solidFill>
              </a:rPr>
              <a:t>se</a:t>
            </a:r>
            <a:r>
              <a:rPr dirty="0" spc="-1110"/>
              <a:t>e</a:t>
            </a:r>
            <a:r>
              <a:rPr dirty="0" spc="-1110">
                <a:solidFill>
                  <a:srgbClr val="000000"/>
                </a:solidFill>
              </a:rPr>
              <a:t>d</a:t>
            </a:r>
            <a:r>
              <a:rPr dirty="0" spc="-1110"/>
              <a:t>d  </a:t>
            </a:r>
            <a:r>
              <a:rPr dirty="0" spc="-1225">
                <a:solidFill>
                  <a:srgbClr val="000000"/>
                </a:solidFill>
              </a:rPr>
              <a:t>a</a:t>
            </a:r>
            <a:r>
              <a:rPr dirty="0" spc="-1225"/>
              <a:t>a</a:t>
            </a:r>
            <a:r>
              <a:rPr dirty="0" spc="-1225">
                <a:solidFill>
                  <a:srgbClr val="000000"/>
                </a:solidFill>
              </a:rPr>
              <a:t>n</a:t>
            </a:r>
            <a:r>
              <a:rPr dirty="0" spc="-1225"/>
              <a:t>nd</a:t>
            </a:r>
            <a:r>
              <a:rPr dirty="0" spc="-1225">
                <a:solidFill>
                  <a:srgbClr val="000000"/>
                </a:solidFill>
              </a:rPr>
              <a:t>d </a:t>
            </a:r>
            <a:r>
              <a:rPr dirty="0" spc="-1075"/>
              <a:t>S</a:t>
            </a:r>
            <a:r>
              <a:rPr dirty="0" spc="-1075">
                <a:solidFill>
                  <a:srgbClr val="000000"/>
                </a:solidFill>
              </a:rPr>
              <a:t>Su</a:t>
            </a:r>
            <a:r>
              <a:rPr dirty="0" spc="-1075"/>
              <a:t>up</a:t>
            </a:r>
            <a:r>
              <a:rPr dirty="0" spc="-1075">
                <a:solidFill>
                  <a:srgbClr val="000000"/>
                </a:solidFill>
              </a:rPr>
              <a:t>pe</a:t>
            </a:r>
            <a:r>
              <a:rPr dirty="0" spc="-1075"/>
              <a:t>e</a:t>
            </a:r>
            <a:r>
              <a:rPr dirty="0" spc="-1075">
                <a:solidFill>
                  <a:srgbClr val="000000"/>
                </a:solidFill>
              </a:rPr>
              <a:t>r</a:t>
            </a:r>
            <a:r>
              <a:rPr dirty="0" spc="-1075"/>
              <a:t>r</a:t>
            </a:r>
            <a:r>
              <a:rPr dirty="0" spc="-1075">
                <a:solidFill>
                  <a:srgbClr val="000000"/>
                </a:solidFill>
              </a:rPr>
              <a:t>v</a:t>
            </a:r>
            <a:r>
              <a:rPr dirty="0" spc="-1075"/>
              <a:t>v</a:t>
            </a:r>
            <a:r>
              <a:rPr dirty="0" spc="-1075">
                <a:solidFill>
                  <a:srgbClr val="000000"/>
                </a:solidFill>
              </a:rPr>
              <a:t>i</a:t>
            </a:r>
            <a:r>
              <a:rPr dirty="0" spc="-1075"/>
              <a:t>i</a:t>
            </a:r>
            <a:r>
              <a:rPr dirty="0" spc="-1075">
                <a:solidFill>
                  <a:srgbClr val="000000"/>
                </a:solidFill>
              </a:rPr>
              <a:t>s</a:t>
            </a:r>
            <a:r>
              <a:rPr dirty="0" spc="-1075"/>
              <a:t>s</a:t>
            </a:r>
            <a:r>
              <a:rPr dirty="0" spc="-1075">
                <a:solidFill>
                  <a:srgbClr val="000000"/>
                </a:solidFill>
              </a:rPr>
              <a:t>e</a:t>
            </a:r>
            <a:r>
              <a:rPr dirty="0" spc="-1075"/>
              <a:t>e</a:t>
            </a:r>
            <a:r>
              <a:rPr dirty="0" spc="-1075">
                <a:solidFill>
                  <a:srgbClr val="000000"/>
                </a:solidFill>
              </a:rPr>
              <a:t>d</a:t>
            </a:r>
            <a:r>
              <a:rPr dirty="0" spc="-1075"/>
              <a:t>d</a:t>
            </a:r>
            <a:r>
              <a:rPr dirty="0" spc="-925"/>
              <a:t> </a:t>
            </a:r>
            <a:r>
              <a:rPr dirty="0" spc="-1080">
                <a:solidFill>
                  <a:srgbClr val="000000"/>
                </a:solidFill>
              </a:rPr>
              <a:t>L</a:t>
            </a:r>
            <a:r>
              <a:rPr dirty="0" spc="-1080"/>
              <a:t>L</a:t>
            </a:r>
            <a:r>
              <a:rPr dirty="0" spc="-1080">
                <a:solidFill>
                  <a:srgbClr val="000000"/>
                </a:solidFill>
              </a:rPr>
              <a:t>e</a:t>
            </a:r>
            <a:r>
              <a:rPr dirty="0" spc="-1080"/>
              <a:t>ea</a:t>
            </a:r>
            <a:r>
              <a:rPr dirty="0" spc="-1080">
                <a:solidFill>
                  <a:srgbClr val="000000"/>
                </a:solidFill>
              </a:rPr>
              <a:t>a</a:t>
            </a:r>
            <a:r>
              <a:rPr dirty="0" spc="-1080"/>
              <a:t>r</a:t>
            </a:r>
            <a:r>
              <a:rPr dirty="0" spc="-1080">
                <a:solidFill>
                  <a:srgbClr val="000000"/>
                </a:solidFill>
              </a:rPr>
              <a:t>r</a:t>
            </a:r>
            <a:r>
              <a:rPr dirty="0" spc="-1080"/>
              <a:t>n</a:t>
            </a:r>
            <a:r>
              <a:rPr dirty="0" spc="-1080">
                <a:solidFill>
                  <a:srgbClr val="000000"/>
                </a:solidFill>
              </a:rPr>
              <a:t>n</a:t>
            </a:r>
            <a:r>
              <a:rPr dirty="0" spc="-1080"/>
              <a:t>i</a:t>
            </a:r>
            <a:r>
              <a:rPr dirty="0" spc="-1080">
                <a:solidFill>
                  <a:srgbClr val="000000"/>
                </a:solidFill>
              </a:rPr>
              <a:t>in</a:t>
            </a:r>
            <a:r>
              <a:rPr dirty="0" spc="-1080"/>
              <a:t>n</a:t>
            </a:r>
            <a:r>
              <a:rPr dirty="0" spc="-1080">
                <a:solidFill>
                  <a:srgbClr val="000000"/>
                </a:solidFill>
              </a:rPr>
              <a:t>g</a:t>
            </a:r>
            <a:r>
              <a:rPr dirty="0" spc="-1080"/>
              <a:t>g</a:t>
            </a:r>
            <a:r>
              <a:rPr dirty="0" spc="-1080">
                <a:solidFill>
                  <a:srgbClr val="000000"/>
                </a:solidFill>
              </a:rPr>
              <a:t>.</a:t>
            </a:r>
            <a:r>
              <a:rPr dirty="0" spc="-1080"/>
              <a:t>.</a:t>
            </a:r>
          </a:p>
        </p:txBody>
      </p:sp>
      <p:sp>
        <p:nvSpPr>
          <p:cNvPr id="6" name="object 6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1433512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14400" y="3890962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1457325"/>
          <a:ext cx="9696450" cy="2409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28775"/>
                <a:gridCol w="4124325"/>
                <a:gridCol w="3943350"/>
              </a:tblGrid>
              <a:tr h="366712">
                <a:tc>
                  <a:txBody>
                    <a:bodyPr/>
                    <a:lstStyle/>
                    <a:p>
                      <a:pPr marL="45656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6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Aspect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87503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7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Unsupervised</a:t>
                      </a:r>
                      <a:r>
                        <a:rPr dirty="0" sz="1800" spc="-6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90995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6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Supervised</a:t>
                      </a:r>
                      <a:r>
                        <a:rPr dirty="0" sz="1800" spc="-6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Learning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L w="19050">
                      <a:solidFill>
                        <a:srgbClr val="FFFFFF"/>
                      </a:solidFill>
                      <a:prstDash val="solid"/>
                    </a:lnL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404812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 spc="-6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Labels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 spc="114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Labels </a:t>
                      </a:r>
                      <a:r>
                        <a:rPr dirty="0" sz="1800" spc="4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are </a:t>
                      </a:r>
                      <a:r>
                        <a:rPr dirty="0" sz="1800" spc="-8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NOT</a:t>
                      </a:r>
                      <a:r>
                        <a:rPr dirty="0" sz="1800" spc="-1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6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known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dirty="0" sz="1800" spc="114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Labels </a:t>
                      </a:r>
                      <a:r>
                        <a:rPr dirty="0" sz="1800" spc="4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are</a:t>
                      </a:r>
                      <a:r>
                        <a:rPr dirty="0" sz="1800" spc="-5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6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known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52069">
                    <a:lnL w="19050">
                      <a:solidFill>
                        <a:srgbClr val="FFFFFF"/>
                      </a:solidFill>
                      <a:prstDash val="solid"/>
                    </a:lnL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619124">
                <a:tc>
                  <a:txBody>
                    <a:bodyPr/>
                    <a:lstStyle/>
                    <a:p>
                      <a:pPr marL="66040" marR="590550">
                        <a:lnSpc>
                          <a:spcPts val="2030"/>
                        </a:lnSpc>
                        <a:spcBef>
                          <a:spcPts val="400"/>
                        </a:spcBef>
                      </a:pPr>
                      <a:r>
                        <a:rPr dirty="0" sz="1800" spc="-6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Learning  </a:t>
                      </a:r>
                      <a:r>
                        <a:rPr dirty="0" sz="180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Objecti</a:t>
                      </a:r>
                      <a:r>
                        <a:rPr dirty="0" sz="1800" spc="-1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v</a:t>
                      </a:r>
                      <a:r>
                        <a:rPr dirty="0" sz="180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0800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 marR="829944">
                        <a:lnSpc>
                          <a:spcPts val="2030"/>
                        </a:lnSpc>
                        <a:spcBef>
                          <a:spcPts val="400"/>
                        </a:spcBef>
                      </a:pPr>
                      <a:r>
                        <a:rPr dirty="0" sz="1800" spc="10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algorithm </a:t>
                      </a:r>
                      <a:r>
                        <a:rPr dirty="0" sz="1800" spc="5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tries </a:t>
                      </a:r>
                      <a:r>
                        <a:rPr dirty="0" sz="1800" spc="2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00" spc="-4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learn </a:t>
                      </a:r>
                      <a:r>
                        <a:rPr dirty="0" sz="1800" spc="-4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the  </a:t>
                      </a:r>
                      <a:r>
                        <a:rPr dirty="0" sz="1800" spc="-6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underlying </a:t>
                      </a:r>
                      <a:r>
                        <a:rPr dirty="0" sz="180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structure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6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744220">
                        <a:lnSpc>
                          <a:spcPts val="2030"/>
                        </a:lnSpc>
                        <a:spcBef>
                          <a:spcPts val="400"/>
                        </a:spcBef>
                      </a:pPr>
                      <a:r>
                        <a:rPr dirty="0" sz="1800" spc="10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algorithm </a:t>
                      </a:r>
                      <a:r>
                        <a:rPr dirty="0" sz="1800" spc="5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tries </a:t>
                      </a:r>
                      <a:r>
                        <a:rPr dirty="0" sz="1800" spc="2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to </a:t>
                      </a:r>
                      <a:r>
                        <a:rPr dirty="0" sz="1800" spc="-4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learn</a:t>
                      </a:r>
                      <a:r>
                        <a:rPr dirty="0" sz="1800" spc="-204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4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the  </a:t>
                      </a:r>
                      <a:r>
                        <a:rPr dirty="0" sz="1800" spc="-6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mapping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from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input </a:t>
                      </a:r>
                      <a:r>
                        <a:rPr dirty="0" sz="1800" spc="2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to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output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50800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  <a:tr h="390524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7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Examples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6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Clustering</a:t>
                      </a:r>
                      <a:r>
                        <a:rPr dirty="0" sz="1800" spc="-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, </a:t>
                      </a:r>
                      <a:r>
                        <a:rPr dirty="0" sz="1800" spc="-5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Dimensionality</a:t>
                      </a:r>
                      <a:r>
                        <a:rPr dirty="0" sz="1800" spc="2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7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Reduction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533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7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Regression</a:t>
                      </a:r>
                      <a:r>
                        <a:rPr dirty="0" sz="1800" spc="-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,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Classification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7625">
                    <a:lnL w="19050">
                      <a:solidFill>
                        <a:srgbClr val="FFFFFF"/>
                      </a:solidFill>
                      <a:prstDash val="solid"/>
                    </a:lnL>
                  </a:tcPr>
                </a:tc>
              </a:tr>
              <a:tr h="62864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800" spc="-7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Evaluation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61925"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800" spc="8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Cannot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be </a:t>
                      </a:r>
                      <a:r>
                        <a:rPr dirty="0" sz="1800" spc="5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evaluated</a:t>
                      </a:r>
                      <a:r>
                        <a:rPr dirty="0" sz="1800" spc="-4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8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easily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161925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3340" marR="967105">
                        <a:lnSpc>
                          <a:spcPts val="2100"/>
                        </a:lnSpc>
                        <a:spcBef>
                          <a:spcPts val="345"/>
                        </a:spcBef>
                      </a:pPr>
                      <a:r>
                        <a:rPr dirty="0" sz="1800" spc="12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Can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be </a:t>
                      </a:r>
                      <a:r>
                        <a:rPr dirty="0" sz="1800" spc="5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evaluated </a:t>
                      </a:r>
                      <a:r>
                        <a:rPr dirty="0" sz="1800" spc="10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using</a:t>
                      </a:r>
                      <a:r>
                        <a:rPr dirty="0" sz="1800" spc="-1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-5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error  </a:t>
                      </a:r>
                      <a:r>
                        <a:rPr dirty="0" sz="1800" spc="-6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measures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3815">
                    <a:lnL w="19050">
                      <a:solidFill>
                        <a:srgbClr val="FFFFFF"/>
                      </a:solidFill>
                      <a:prstDash val="solid"/>
                    </a:lnL>
                    <a:solidFill>
                      <a:srgbClr val="EDEDED"/>
                    </a:solidFill>
                  </a:tcPr>
                </a:tc>
              </a:tr>
            </a:tbl>
          </a:graphicData>
        </a:graphic>
      </p:graphicFrame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649033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5">
                <a:solidFill>
                  <a:srgbClr val="C2132D"/>
                </a:solidFill>
              </a:rPr>
              <a:t>Unsupervised </a:t>
            </a:r>
            <a:r>
              <a:rPr dirty="0" sz="3350" spc="-80">
                <a:solidFill>
                  <a:srgbClr val="C2132D"/>
                </a:solidFill>
              </a:rPr>
              <a:t>Vs. </a:t>
            </a:r>
            <a:r>
              <a:rPr dirty="0" sz="3350" spc="-140">
                <a:solidFill>
                  <a:srgbClr val="C2132D"/>
                </a:solidFill>
              </a:rPr>
              <a:t>Supervised</a:t>
            </a:r>
            <a:r>
              <a:rPr dirty="0" sz="3350" spc="-490">
                <a:solidFill>
                  <a:srgbClr val="C2132D"/>
                </a:solidFill>
              </a:rPr>
              <a:t> </a:t>
            </a:r>
            <a:r>
              <a:rPr dirty="0" sz="3350" spc="-170">
                <a:solidFill>
                  <a:srgbClr val="C2132D"/>
                </a:solidFill>
              </a:rPr>
              <a:t>Learning</a:t>
            </a:r>
            <a:endParaRPr sz="3350"/>
          </a:p>
        </p:txBody>
      </p:sp>
      <p:sp>
        <p:nvSpPr>
          <p:cNvPr id="6" name="object 6"/>
          <p:cNvSpPr/>
          <p:nvPr/>
        </p:nvSpPr>
        <p:spPr>
          <a:xfrm>
            <a:off x="1040992" y="4125616"/>
            <a:ext cx="9456731" cy="21478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87794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55">
                <a:solidFill>
                  <a:srgbClr val="C2132D"/>
                </a:solidFill>
              </a:rPr>
              <a:t>Unsupervised</a:t>
            </a:r>
            <a:r>
              <a:rPr dirty="0" sz="3350" spc="-270">
                <a:solidFill>
                  <a:srgbClr val="C2132D"/>
                </a:solidFill>
              </a:rPr>
              <a:t> </a:t>
            </a:r>
            <a:r>
              <a:rPr dirty="0" sz="3350" spc="-170">
                <a:solidFill>
                  <a:srgbClr val="C2132D"/>
                </a:solidFill>
              </a:rPr>
              <a:t>Learning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82125" cy="3985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retroactively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try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understand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structure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do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not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have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any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labels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guide</a:t>
            </a:r>
            <a:r>
              <a:rPr dirty="0" sz="1800" spc="-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us.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55">
                <a:solidFill>
                  <a:srgbClr val="585D60"/>
                </a:solidFill>
                <a:latin typeface="Calibri"/>
                <a:cs typeface="Calibri"/>
              </a:rPr>
              <a:t>So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try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find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patterns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(and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then,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try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make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sense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these</a:t>
            </a:r>
            <a:r>
              <a:rPr dirty="0" sz="1800" spc="-229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patterns).</a:t>
            </a:r>
            <a:endParaRPr sz="1800">
              <a:latin typeface="Calibri"/>
              <a:cs typeface="Calibri"/>
            </a:endParaRPr>
          </a:p>
          <a:p>
            <a:pPr marL="146050" marR="473075" indent="-133985">
              <a:lnSpc>
                <a:spcPct val="118100"/>
              </a:lnSpc>
              <a:spcBef>
                <a:spcPts val="825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Once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make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sense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these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patterns,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them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guide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our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decision-making 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process.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Cybersecurity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applications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include: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Anomaly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Detection</a:t>
            </a:r>
            <a:r>
              <a:rPr dirty="0" sz="1800" spc="-55">
                <a:solidFill>
                  <a:srgbClr val="585D60"/>
                </a:solidFill>
                <a:latin typeface="Calibri"/>
                <a:cs typeface="Calibri"/>
              </a:rPr>
              <a:t>,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where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try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find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patterns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different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1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norm.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Clustering</a:t>
            </a:r>
            <a:r>
              <a:rPr dirty="0" sz="1800" spc="-60">
                <a:solidFill>
                  <a:srgbClr val="585D60"/>
                </a:solidFill>
                <a:latin typeface="Calibri"/>
                <a:cs typeface="Calibri"/>
              </a:rPr>
              <a:t>,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where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try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group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similar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entities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together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(e.g.,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similar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network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traffic).</a:t>
            </a:r>
            <a:endParaRPr sz="1800">
              <a:latin typeface="Calibri"/>
              <a:cs typeface="Calibri"/>
            </a:endParaRPr>
          </a:p>
          <a:p>
            <a:pPr lvl="1" marL="527050" marR="5080" indent="-133985">
              <a:lnSpc>
                <a:spcPct val="118100"/>
              </a:lnSpc>
              <a:spcBef>
                <a:spcPts val="819"/>
              </a:spcBef>
              <a:buFont typeface="Trebuchet MS"/>
              <a:buChar char="•"/>
              <a:tabLst>
                <a:tab pos="527685" algn="l"/>
              </a:tabLst>
            </a:pP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Dimensionality </a:t>
            </a: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Reduction</a:t>
            </a:r>
            <a:r>
              <a:rPr dirty="0" sz="1800" spc="-70">
                <a:solidFill>
                  <a:srgbClr val="585D60"/>
                </a:solidFill>
                <a:latin typeface="Calibri"/>
                <a:cs typeface="Calibri"/>
              </a:rPr>
              <a:t>,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where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try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reduce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features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our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150">
                <a:solidFill>
                  <a:srgbClr val="585D60"/>
                </a:solidFill>
                <a:latin typeface="Calibri"/>
                <a:cs typeface="Calibri"/>
              </a:rPr>
              <a:t>so 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better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understand/visualize/model</a:t>
            </a:r>
            <a:r>
              <a:rPr dirty="0" sz="1800" spc="-5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3456304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40">
                <a:solidFill>
                  <a:srgbClr val="C2132D"/>
                </a:solidFill>
              </a:rPr>
              <a:t>Supervised</a:t>
            </a:r>
            <a:r>
              <a:rPr dirty="0" sz="3350" spc="-300">
                <a:solidFill>
                  <a:srgbClr val="C2132D"/>
                </a:solidFill>
              </a:rPr>
              <a:t> </a:t>
            </a:r>
            <a:r>
              <a:rPr dirty="0" sz="3350" spc="-170">
                <a:solidFill>
                  <a:srgbClr val="C2132D"/>
                </a:solidFill>
              </a:rPr>
              <a:t>Learning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241790" cy="36620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have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labels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guide</a:t>
            </a:r>
            <a:r>
              <a:rPr dirty="0" sz="1800" spc="-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us.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build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model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allows </a:t>
            </a:r>
            <a:r>
              <a:rPr dirty="0" sz="1800" spc="135">
                <a:solidFill>
                  <a:srgbClr val="585D60"/>
                </a:solidFill>
                <a:latin typeface="Calibri"/>
                <a:cs typeface="Calibri"/>
              </a:rPr>
              <a:t>us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-21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see: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How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input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related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output</a:t>
            </a:r>
            <a:r>
              <a:rPr dirty="0" sz="1800" spc="-1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How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we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this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relationship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make</a:t>
            </a:r>
            <a:r>
              <a:rPr dirty="0" sz="1800" spc="-2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predictions.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Cybersecurity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applications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include: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Classification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network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traffic </a:t>
            </a:r>
            <a:r>
              <a:rPr dirty="0" sz="1800" spc="170">
                <a:solidFill>
                  <a:srgbClr val="585D60"/>
                </a:solidFill>
                <a:latin typeface="Calibri"/>
                <a:cs typeface="Calibri"/>
              </a:rPr>
              <a:t>as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benign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or</a:t>
            </a:r>
            <a:r>
              <a:rPr dirty="0" sz="1800" spc="-229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malicious.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Regression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predict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attacks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-16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network.</a:t>
            </a:r>
            <a:endParaRPr sz="1800">
              <a:latin typeface="Calibri"/>
              <a:cs typeface="Calibri"/>
            </a:endParaRPr>
          </a:p>
          <a:p>
            <a:pPr lvl="1" marL="527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Time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series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forecasting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predict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future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network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traffic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(technically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not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ML</a:t>
            </a:r>
            <a:r>
              <a:rPr dirty="0" sz="1800" spc="-1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problem, 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but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it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modeled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sometimes using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ML-type</a:t>
            </a:r>
            <a:r>
              <a:rPr dirty="0" sz="1800" spc="-20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models).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01700" y="530225"/>
            <a:ext cx="7893684" cy="5397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0">
                <a:solidFill>
                  <a:srgbClr val="C2132D"/>
                </a:solidFill>
                <a:latin typeface="Trebuchet MS"/>
                <a:cs typeface="Trebuchet MS"/>
              </a:rPr>
              <a:t>Class </a:t>
            </a:r>
            <a:r>
              <a:rPr dirty="0" sz="3350" spc="-229">
                <a:solidFill>
                  <a:srgbClr val="C2132D"/>
                </a:solidFill>
                <a:latin typeface="Trebuchet MS"/>
                <a:cs typeface="Trebuchet MS"/>
              </a:rPr>
              <a:t>Activity: </a:t>
            </a:r>
            <a:r>
              <a:rPr dirty="0" sz="3350" spc="-170">
                <a:solidFill>
                  <a:srgbClr val="C2132D"/>
                </a:solidFill>
                <a:latin typeface="Trebuchet MS"/>
                <a:cs typeface="Trebuchet MS"/>
              </a:rPr>
              <a:t>Build </a:t>
            </a:r>
            <a:r>
              <a:rPr dirty="0" sz="3350" spc="-145">
                <a:solidFill>
                  <a:srgbClr val="C2132D"/>
                </a:solidFill>
                <a:latin typeface="Trebuchet MS"/>
                <a:cs typeface="Trebuchet MS"/>
              </a:rPr>
              <a:t>a </a:t>
            </a:r>
            <a:r>
              <a:rPr dirty="0" sz="3350" spc="-190">
                <a:solidFill>
                  <a:srgbClr val="C2132D"/>
                </a:solidFill>
                <a:latin typeface="Trebuchet MS"/>
                <a:cs typeface="Trebuchet MS"/>
              </a:rPr>
              <a:t>Fun </a:t>
            </a:r>
            <a:r>
              <a:rPr dirty="0" sz="3350" spc="-120">
                <a:solidFill>
                  <a:srgbClr val="C2132D"/>
                </a:solidFill>
                <a:latin typeface="Trebuchet MS"/>
                <a:cs typeface="Trebuchet MS"/>
              </a:rPr>
              <a:t>Model </a:t>
            </a:r>
            <a:r>
              <a:rPr dirty="0" sz="3350" spc="-254">
                <a:solidFill>
                  <a:srgbClr val="C2132D"/>
                </a:solidFill>
                <a:latin typeface="Trebuchet MS"/>
                <a:cs typeface="Trebuchet MS"/>
              </a:rPr>
              <a:t>with </a:t>
            </a:r>
            <a:r>
              <a:rPr dirty="0" sz="3350" spc="-80">
                <a:solidFill>
                  <a:srgbClr val="C2132D"/>
                </a:solidFill>
                <a:latin typeface="Trebuchet MS"/>
                <a:cs typeface="Trebuchet MS"/>
              </a:rPr>
              <a:t>No</a:t>
            </a:r>
            <a:r>
              <a:rPr dirty="0" sz="3350" spc="-740">
                <a:solidFill>
                  <a:srgbClr val="C2132D"/>
                </a:solidFill>
                <a:latin typeface="Trebuchet MS"/>
                <a:cs typeface="Trebuchet MS"/>
              </a:rPr>
              <a:t> </a:t>
            </a:r>
            <a:r>
              <a:rPr dirty="0" sz="3350" spc="-160">
                <a:solidFill>
                  <a:srgbClr val="C2132D"/>
                </a:solidFill>
                <a:latin typeface="Trebuchet MS"/>
                <a:cs typeface="Trebuchet MS"/>
              </a:rPr>
              <a:t>Code</a:t>
            </a:r>
            <a:endParaRPr sz="335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1700" y="1376044"/>
            <a:ext cx="9051925" cy="6731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8100"/>
              </a:lnSpc>
              <a:spcBef>
                <a:spcPts val="100"/>
              </a:spcBef>
            </a:pP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Go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-35">
                <a:solidFill>
                  <a:srgbClr val="83D5D3"/>
                </a:solidFill>
                <a:latin typeface="Trebuchet MS"/>
                <a:cs typeface="Trebuchet MS"/>
                <a:hlinkClick r:id="rId2"/>
              </a:rPr>
              <a:t>https://teachablemachine.withgoogle.com/v1/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build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simple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model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-16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classify 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images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by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following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instructions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-1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page.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14400" y="2200275"/>
            <a:ext cx="9734550" cy="0"/>
          </a:xfrm>
          <a:custGeom>
            <a:avLst/>
            <a:gdLst/>
            <a:ahLst/>
            <a:cxnLst/>
            <a:rect l="l" t="t" r="r" b="b"/>
            <a:pathLst>
              <a:path w="9734550" h="0">
                <a:moveTo>
                  <a:pt x="0" y="0"/>
                </a:moveTo>
                <a:lnTo>
                  <a:pt x="9734549" y="0"/>
                </a:lnTo>
              </a:path>
            </a:pathLst>
          </a:custGeom>
          <a:ln w="19049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029324"/>
            <a:ext cx="9734550" cy="0"/>
          </a:xfrm>
          <a:custGeom>
            <a:avLst/>
            <a:gdLst/>
            <a:ahLst/>
            <a:cxnLst/>
            <a:rect l="l" t="t" r="r" b="b"/>
            <a:pathLst>
              <a:path w="9734550" h="0">
                <a:moveTo>
                  <a:pt x="0" y="0"/>
                </a:moveTo>
                <a:lnTo>
                  <a:pt x="9734549" y="0"/>
                </a:lnTo>
              </a:path>
            </a:pathLst>
          </a:custGeom>
          <a:ln w="19049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39424" y="2190750"/>
            <a:ext cx="0" cy="3848100"/>
          </a:xfrm>
          <a:custGeom>
            <a:avLst/>
            <a:gdLst/>
            <a:ahLst/>
            <a:cxnLst/>
            <a:rect l="l" t="t" r="r" b="b"/>
            <a:pathLst>
              <a:path w="0" h="3848100">
                <a:moveTo>
                  <a:pt x="0" y="0"/>
                </a:moveTo>
                <a:lnTo>
                  <a:pt x="0" y="3848099"/>
                </a:lnTo>
              </a:path>
            </a:pathLst>
          </a:custGeom>
          <a:ln w="19049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23925" y="2190750"/>
            <a:ext cx="0" cy="3848100"/>
          </a:xfrm>
          <a:custGeom>
            <a:avLst/>
            <a:gdLst/>
            <a:ahLst/>
            <a:cxnLst/>
            <a:rect l="l" t="t" r="r" b="b"/>
            <a:pathLst>
              <a:path w="0" h="3848100">
                <a:moveTo>
                  <a:pt x="0" y="0"/>
                </a:moveTo>
                <a:lnTo>
                  <a:pt x="0" y="3848099"/>
                </a:lnTo>
              </a:path>
            </a:pathLst>
          </a:custGeom>
          <a:ln w="19049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76650" y="3257550"/>
            <a:ext cx="438149" cy="276224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391149" y="4486275"/>
            <a:ext cx="1752600" cy="76200"/>
          </a:xfrm>
          <a:custGeom>
            <a:avLst/>
            <a:gdLst/>
            <a:ahLst/>
            <a:cxnLst/>
            <a:rect l="l" t="t" r="r" b="b"/>
            <a:pathLst>
              <a:path w="1752600" h="76200">
                <a:moveTo>
                  <a:pt x="1676399" y="76199"/>
                </a:moveTo>
                <a:lnTo>
                  <a:pt x="0" y="76199"/>
                </a:lnTo>
                <a:lnTo>
                  <a:pt x="76199" y="0"/>
                </a:lnTo>
                <a:lnTo>
                  <a:pt x="1752599" y="0"/>
                </a:lnTo>
                <a:lnTo>
                  <a:pt x="1676399" y="76199"/>
                </a:lnTo>
                <a:close/>
              </a:path>
            </a:pathLst>
          </a:custGeom>
          <a:solidFill>
            <a:srgbClr val="1A86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391149" y="3971925"/>
            <a:ext cx="76200" cy="590550"/>
          </a:xfrm>
          <a:custGeom>
            <a:avLst/>
            <a:gdLst/>
            <a:ahLst/>
            <a:cxnLst/>
            <a:rect l="l" t="t" r="r" b="b"/>
            <a:pathLst>
              <a:path w="76200" h="590550">
                <a:moveTo>
                  <a:pt x="0" y="590549"/>
                </a:moveTo>
                <a:lnTo>
                  <a:pt x="0" y="76199"/>
                </a:lnTo>
                <a:lnTo>
                  <a:pt x="76199" y="0"/>
                </a:lnTo>
                <a:lnTo>
                  <a:pt x="76199" y="514349"/>
                </a:lnTo>
                <a:lnTo>
                  <a:pt x="0" y="590549"/>
                </a:lnTo>
                <a:close/>
              </a:path>
            </a:pathLst>
          </a:custGeom>
          <a:solidFill>
            <a:srgbClr val="249A5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391149" y="5934074"/>
            <a:ext cx="1752600" cy="76200"/>
          </a:xfrm>
          <a:custGeom>
            <a:avLst/>
            <a:gdLst/>
            <a:ahLst/>
            <a:cxnLst/>
            <a:rect l="l" t="t" r="r" b="b"/>
            <a:pathLst>
              <a:path w="1752600" h="76200">
                <a:moveTo>
                  <a:pt x="1676399" y="76199"/>
                </a:moveTo>
                <a:lnTo>
                  <a:pt x="0" y="76199"/>
                </a:lnTo>
                <a:lnTo>
                  <a:pt x="76199" y="0"/>
                </a:lnTo>
                <a:lnTo>
                  <a:pt x="1752599" y="0"/>
                </a:lnTo>
                <a:lnTo>
                  <a:pt x="1676399" y="76199"/>
                </a:lnTo>
                <a:close/>
              </a:path>
            </a:pathLst>
          </a:custGeom>
          <a:solidFill>
            <a:srgbClr val="A53FA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391149" y="5419724"/>
            <a:ext cx="76200" cy="590550"/>
          </a:xfrm>
          <a:custGeom>
            <a:avLst/>
            <a:gdLst/>
            <a:ahLst/>
            <a:cxnLst/>
            <a:rect l="l" t="t" r="r" b="b"/>
            <a:pathLst>
              <a:path w="76200" h="590550">
                <a:moveTo>
                  <a:pt x="0" y="590549"/>
                </a:moveTo>
                <a:lnTo>
                  <a:pt x="0" y="76199"/>
                </a:lnTo>
                <a:lnTo>
                  <a:pt x="76199" y="0"/>
                </a:lnTo>
                <a:lnTo>
                  <a:pt x="76199" y="514349"/>
                </a:lnTo>
                <a:lnTo>
                  <a:pt x="0" y="590549"/>
                </a:lnTo>
                <a:close/>
              </a:path>
            </a:pathLst>
          </a:custGeom>
          <a:solidFill>
            <a:srgbClr val="B64EB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864125" y="5565457"/>
            <a:ext cx="888365" cy="18669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dirty="0" sz="1050" spc="-30">
                <a:solidFill>
                  <a:srgbClr val="ABABAB"/>
                </a:solidFill>
                <a:latin typeface="Lucida Sans Unicode"/>
                <a:cs typeface="Lucida Sans Unicode"/>
              </a:rPr>
              <a:t>TRAIN</a:t>
            </a:r>
            <a:r>
              <a:rPr dirty="0" sz="1050" spc="-90">
                <a:solidFill>
                  <a:srgbClr val="ABABAB"/>
                </a:solidFill>
                <a:latin typeface="Lucida Sans Unicode"/>
                <a:cs typeface="Lucida Sans Unicode"/>
              </a:rPr>
              <a:t> </a:t>
            </a:r>
            <a:r>
              <a:rPr dirty="0" sz="1050" spc="-5">
                <a:solidFill>
                  <a:srgbClr val="ABABAB"/>
                </a:solidFill>
                <a:latin typeface="Lucida Sans Unicode"/>
                <a:cs typeface="Lucida Sans Unicode"/>
              </a:rPr>
              <a:t>PURPLE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10450" y="3257550"/>
            <a:ext cx="666749" cy="27622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886700" y="3448050"/>
            <a:ext cx="2743200" cy="2571750"/>
          </a:xfrm>
          <a:custGeom>
            <a:avLst/>
            <a:gdLst/>
            <a:ahLst/>
            <a:cxnLst/>
            <a:rect l="l" t="t" r="r" b="b"/>
            <a:pathLst>
              <a:path w="2743200" h="2571750">
                <a:moveTo>
                  <a:pt x="2743199" y="2571749"/>
                </a:moveTo>
                <a:lnTo>
                  <a:pt x="0" y="2571749"/>
                </a:lnTo>
                <a:lnTo>
                  <a:pt x="0" y="41309"/>
                </a:lnTo>
                <a:lnTo>
                  <a:pt x="23563" y="6041"/>
                </a:lnTo>
                <a:lnTo>
                  <a:pt x="41308" y="0"/>
                </a:lnTo>
                <a:lnTo>
                  <a:pt x="2701889" y="0"/>
                </a:lnTo>
                <a:lnTo>
                  <a:pt x="2737156" y="23564"/>
                </a:lnTo>
                <a:lnTo>
                  <a:pt x="2743199" y="257174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106662" y="2927032"/>
            <a:ext cx="8237855" cy="2755900"/>
          </a:xfrm>
          <a:prstGeom prst="rect">
            <a:avLst/>
          </a:prstGeom>
        </p:spPr>
        <p:txBody>
          <a:bodyPr wrap="square" lIns="0" tIns="6350" rIns="0" bIns="0" rtlCol="0" vert="horz">
            <a:spAutoFit/>
          </a:bodyPr>
          <a:lstStyle/>
          <a:p>
            <a:pPr algn="ctr" marR="902335">
              <a:lnSpc>
                <a:spcPct val="100000"/>
              </a:lnSpc>
              <a:spcBef>
                <a:spcPts val="50"/>
              </a:spcBef>
            </a:pPr>
            <a:r>
              <a:rPr dirty="0" sz="1050">
                <a:solidFill>
                  <a:srgbClr val="525353"/>
                </a:solidFill>
                <a:latin typeface="Lucida Sans Unicode"/>
                <a:cs typeface="Lucida Sans Unicode"/>
              </a:rPr>
              <a:t>LEARNING</a:t>
            </a:r>
            <a:endParaRPr sz="10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100">
              <a:latin typeface="Lucida Sans Unicode"/>
              <a:cs typeface="Lucida Sans Unicode"/>
            </a:endParaRPr>
          </a:p>
          <a:p>
            <a:pPr marL="2164715">
              <a:lnSpc>
                <a:spcPct val="100000"/>
              </a:lnSpc>
              <a:tabLst>
                <a:tab pos="3288665" algn="l"/>
                <a:tab pos="6885940" algn="l"/>
              </a:tabLst>
            </a:pPr>
            <a:r>
              <a:rPr dirty="0" sz="1050" spc="-5">
                <a:solidFill>
                  <a:srgbClr val="2AAA5D"/>
                </a:solidFill>
                <a:latin typeface="Lucida Sans Unicode"/>
                <a:cs typeface="Lucida Sans Unicode"/>
              </a:rPr>
              <a:t>0 </a:t>
            </a:r>
            <a:r>
              <a:rPr dirty="0" sz="1050">
                <a:solidFill>
                  <a:srgbClr val="2AAA5D"/>
                </a:solidFill>
                <a:latin typeface="Lucida Sans Unicode"/>
                <a:cs typeface="Lucida Sans Unicode"/>
              </a:rPr>
              <a:t>EXAMPLES	</a:t>
            </a:r>
            <a:r>
              <a:rPr dirty="0" sz="1050" spc="10">
                <a:solidFill>
                  <a:srgbClr val="2AAA5D"/>
                </a:solidFill>
                <a:latin typeface="Lucida Sans Unicode"/>
                <a:cs typeface="Lucida Sans Unicode"/>
              </a:rPr>
              <a:t>CONFIDENCE	</a:t>
            </a:r>
            <a:r>
              <a:rPr dirty="0" baseline="39682" sz="1575">
                <a:solidFill>
                  <a:srgbClr val="525353"/>
                </a:solidFill>
                <a:latin typeface="Lucida Sans Unicode"/>
                <a:cs typeface="Lucida Sans Unicode"/>
              </a:rPr>
              <a:t>OUTPUT</a:t>
            </a:r>
            <a:endParaRPr baseline="39682" sz="1575">
              <a:latin typeface="Lucida Sans Unicode"/>
              <a:cs typeface="Lucida Sans Unicode"/>
            </a:endParaRPr>
          </a:p>
          <a:p>
            <a:pPr algn="r" marR="12065">
              <a:lnSpc>
                <a:spcPct val="100000"/>
              </a:lnSpc>
              <a:spcBef>
                <a:spcPts val="1590"/>
              </a:spcBef>
              <a:tabLst>
                <a:tab pos="6087745" algn="l"/>
                <a:tab pos="6678930" algn="l"/>
                <a:tab pos="7559675" algn="l"/>
              </a:tabLst>
            </a:pPr>
            <a:r>
              <a:rPr dirty="0" baseline="7936" sz="1575" spc="-15">
                <a:solidFill>
                  <a:srgbClr val="525353"/>
                </a:solidFill>
                <a:latin typeface="Lucida Sans Unicode"/>
                <a:cs typeface="Lucida Sans Unicode"/>
              </a:rPr>
              <a:t>I</a:t>
            </a:r>
            <a:r>
              <a:rPr dirty="0" baseline="7936" sz="1575">
                <a:solidFill>
                  <a:srgbClr val="525353"/>
                </a:solidFill>
                <a:latin typeface="Lucida Sans Unicode"/>
                <a:cs typeface="Lucida Sans Unicode"/>
              </a:rPr>
              <a:t>N</a:t>
            </a:r>
            <a:r>
              <a:rPr dirty="0" baseline="7936" sz="1575" spc="89">
                <a:solidFill>
                  <a:srgbClr val="525353"/>
                </a:solidFill>
                <a:latin typeface="Lucida Sans Unicode"/>
                <a:cs typeface="Lucida Sans Unicode"/>
              </a:rPr>
              <a:t>P</a:t>
            </a:r>
            <a:r>
              <a:rPr dirty="0" baseline="7936" sz="1575" spc="22">
                <a:solidFill>
                  <a:srgbClr val="525353"/>
                </a:solidFill>
                <a:latin typeface="Lucida Sans Unicode"/>
                <a:cs typeface="Lucida Sans Unicode"/>
              </a:rPr>
              <a:t>U</a:t>
            </a:r>
            <a:r>
              <a:rPr dirty="0" baseline="7936" sz="1575" spc="-112">
                <a:solidFill>
                  <a:srgbClr val="525353"/>
                </a:solidFill>
                <a:latin typeface="Lucida Sans Unicode"/>
                <a:cs typeface="Lucida Sans Unicode"/>
              </a:rPr>
              <a:t>T</a:t>
            </a:r>
            <a:r>
              <a:rPr dirty="0" baseline="7936" sz="1575">
                <a:solidFill>
                  <a:srgbClr val="525353"/>
                </a:solidFill>
                <a:latin typeface="Lucida Sans Unicode"/>
                <a:cs typeface="Lucida Sans Unicode"/>
              </a:rPr>
              <a:t>	</a:t>
            </a:r>
            <a:r>
              <a:rPr dirty="0" sz="1350" spc="95">
                <a:solidFill>
                  <a:srgbClr val="2853A2"/>
                </a:solidFill>
                <a:latin typeface="Times New Roman"/>
                <a:cs typeface="Times New Roman"/>
              </a:rPr>
              <a:t>G</a:t>
            </a:r>
            <a:r>
              <a:rPr dirty="0" sz="1350" spc="-100">
                <a:solidFill>
                  <a:srgbClr val="2853A2"/>
                </a:solidFill>
                <a:latin typeface="Times New Roman"/>
                <a:cs typeface="Times New Roman"/>
              </a:rPr>
              <a:t>I</a:t>
            </a:r>
            <a:r>
              <a:rPr dirty="0" sz="1350" spc="-75">
                <a:solidFill>
                  <a:srgbClr val="2853A2"/>
                </a:solidFill>
                <a:latin typeface="Times New Roman"/>
                <a:cs typeface="Times New Roman"/>
              </a:rPr>
              <a:t>F</a:t>
            </a:r>
            <a:r>
              <a:rPr dirty="0" sz="1350">
                <a:solidFill>
                  <a:srgbClr val="2853A2"/>
                </a:solidFill>
                <a:latin typeface="Times New Roman"/>
                <a:cs typeface="Times New Roman"/>
              </a:rPr>
              <a:t>	</a:t>
            </a:r>
            <a:r>
              <a:rPr dirty="0" sz="1350" spc="85">
                <a:solidFill>
                  <a:srgbClr val="525353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50">
                <a:solidFill>
                  <a:srgbClr val="525353"/>
                </a:solidFill>
                <a:latin typeface="Lucida Sans Unicode"/>
                <a:cs typeface="Lucida Sans Unicode"/>
              </a:rPr>
              <a:t>o</a:t>
            </a:r>
            <a:r>
              <a:rPr dirty="0" sz="1350" spc="45">
                <a:solidFill>
                  <a:srgbClr val="525353"/>
                </a:solidFill>
                <a:latin typeface="Lucida Sans Unicode"/>
                <a:cs typeface="Lucida Sans Unicode"/>
              </a:rPr>
              <a:t>un</a:t>
            </a:r>
            <a:r>
              <a:rPr dirty="0" sz="1350" spc="60">
                <a:solidFill>
                  <a:srgbClr val="525353"/>
                </a:solidFill>
                <a:latin typeface="Lucida Sans Unicode"/>
                <a:cs typeface="Lucida Sans Unicode"/>
              </a:rPr>
              <a:t>d</a:t>
            </a:r>
            <a:r>
              <a:rPr dirty="0" sz="1350">
                <a:solidFill>
                  <a:srgbClr val="525353"/>
                </a:solidFill>
                <a:latin typeface="Lucida Sans Unicode"/>
                <a:cs typeface="Lucida Sans Unicode"/>
              </a:rPr>
              <a:t>	</a:t>
            </a:r>
            <a:r>
              <a:rPr dirty="0" sz="1350" spc="85">
                <a:solidFill>
                  <a:srgbClr val="525353"/>
                </a:solidFill>
                <a:latin typeface="Lucida Sans Unicode"/>
                <a:cs typeface="Lucida Sans Unicode"/>
              </a:rPr>
              <a:t>S</a:t>
            </a:r>
            <a:r>
              <a:rPr dirty="0" sz="1350" spc="80">
                <a:solidFill>
                  <a:srgbClr val="525353"/>
                </a:solidFill>
                <a:latin typeface="Lucida Sans Unicode"/>
                <a:cs typeface="Lucida Sans Unicode"/>
              </a:rPr>
              <a:t>p</a:t>
            </a:r>
            <a:r>
              <a:rPr dirty="0" sz="1350" spc="100">
                <a:solidFill>
                  <a:srgbClr val="525353"/>
                </a:solidFill>
                <a:latin typeface="Lucida Sans Unicode"/>
                <a:cs typeface="Lucida Sans Unicode"/>
              </a:rPr>
              <a:t>ee</a:t>
            </a:r>
            <a:r>
              <a:rPr dirty="0" sz="1350" spc="145">
                <a:solidFill>
                  <a:srgbClr val="525353"/>
                </a:solidFill>
                <a:latin typeface="Lucida Sans Unicode"/>
                <a:cs typeface="Lucida Sans Unicode"/>
              </a:rPr>
              <a:t>c</a:t>
            </a:r>
            <a:r>
              <a:rPr dirty="0" sz="1350" spc="25">
                <a:solidFill>
                  <a:srgbClr val="525353"/>
                </a:solidFill>
                <a:latin typeface="Lucida Sans Unicode"/>
                <a:cs typeface="Lucida Sans Unicode"/>
              </a:rPr>
              <a:t>h</a:t>
            </a:r>
            <a:endParaRPr sz="13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200">
              <a:latin typeface="Lucida Sans Unicode"/>
              <a:cs typeface="Lucida Sans Unicode"/>
            </a:endParaRPr>
          </a:p>
          <a:p>
            <a:pPr algn="ctr" marL="165735">
              <a:lnSpc>
                <a:spcPct val="100000"/>
              </a:lnSpc>
            </a:pPr>
            <a:r>
              <a:rPr dirty="0" sz="1050" spc="-30">
                <a:solidFill>
                  <a:srgbClr val="ABABAB"/>
                </a:solidFill>
                <a:latin typeface="Lucida Sans Unicode"/>
                <a:cs typeface="Lucida Sans Unicode"/>
              </a:rPr>
              <a:t>TRAIN</a:t>
            </a:r>
            <a:r>
              <a:rPr dirty="0" sz="1050" spc="-15">
                <a:solidFill>
                  <a:srgbClr val="ABABAB"/>
                </a:solidFill>
                <a:latin typeface="Lucida Sans Unicode"/>
                <a:cs typeface="Lucida Sans Unicode"/>
              </a:rPr>
              <a:t> </a:t>
            </a:r>
            <a:r>
              <a:rPr dirty="0" sz="1050">
                <a:solidFill>
                  <a:srgbClr val="ABABAB"/>
                </a:solidFill>
                <a:latin typeface="Lucida Sans Unicode"/>
                <a:cs typeface="Lucida Sans Unicode"/>
              </a:rPr>
              <a:t>GREEN</a:t>
            </a:r>
            <a:endParaRPr sz="10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050">
              <a:latin typeface="Lucida Sans Unicode"/>
              <a:cs typeface="Lucida Sans Unicode"/>
            </a:endParaRPr>
          </a:p>
          <a:p>
            <a:pPr marL="2164715">
              <a:lnSpc>
                <a:spcPct val="100000"/>
              </a:lnSpc>
              <a:tabLst>
                <a:tab pos="3288665" algn="l"/>
              </a:tabLst>
            </a:pPr>
            <a:r>
              <a:rPr dirty="0" sz="1050" spc="-5">
                <a:solidFill>
                  <a:srgbClr val="743372"/>
                </a:solidFill>
                <a:latin typeface="Lucida Sans Unicode"/>
                <a:cs typeface="Lucida Sans Unicode"/>
              </a:rPr>
              <a:t>0 </a:t>
            </a:r>
            <a:r>
              <a:rPr dirty="0" sz="1050">
                <a:solidFill>
                  <a:srgbClr val="743372"/>
                </a:solidFill>
                <a:latin typeface="Lucida Sans Unicode"/>
                <a:cs typeface="Lucida Sans Unicode"/>
              </a:rPr>
              <a:t>EXAMPLES	</a:t>
            </a:r>
            <a:r>
              <a:rPr dirty="0" sz="1050" spc="10">
                <a:solidFill>
                  <a:srgbClr val="743372"/>
                </a:solidFill>
                <a:latin typeface="Lucida Sans Unicode"/>
                <a:cs typeface="Lucida Sans Unicode"/>
              </a:rPr>
              <a:t>CONFIDENCE</a:t>
            </a:r>
            <a:endParaRPr sz="10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4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Lucida Sans Unicode"/>
              <a:cs typeface="Lucida Sans Unicode"/>
            </a:endParaRPr>
          </a:p>
          <a:p>
            <a:pPr algn="r">
              <a:lnSpc>
                <a:spcPct val="100000"/>
              </a:lnSpc>
            </a:pPr>
            <a:r>
              <a:rPr dirty="0" sz="1200" spc="-10">
                <a:solidFill>
                  <a:srgbClr val="ABABAB"/>
                </a:solidFill>
                <a:latin typeface="Lucida Sans Unicode"/>
                <a:cs typeface="Lucida Sans Unicode"/>
              </a:rPr>
              <a:t>SKIP</a:t>
            </a:r>
            <a:r>
              <a:rPr dirty="0" sz="1200" spc="-120">
                <a:solidFill>
                  <a:srgbClr val="ABABAB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60">
                <a:solidFill>
                  <a:srgbClr val="ABABAB"/>
                </a:solidFill>
                <a:latin typeface="Lucida Sans Unicode"/>
                <a:cs typeface="Lucida Sans Unicode"/>
              </a:rPr>
              <a:t>TUTORIAL</a:t>
            </a:r>
            <a:endParaRPr sz="12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933450" y="2209800"/>
            <a:ext cx="9696450" cy="3810000"/>
          </a:xfrm>
          <a:custGeom>
            <a:avLst/>
            <a:gdLst/>
            <a:ahLst/>
            <a:cxnLst/>
            <a:rect l="l" t="t" r="r" b="b"/>
            <a:pathLst>
              <a:path w="9696450" h="3810000">
                <a:moveTo>
                  <a:pt x="0" y="0"/>
                </a:moveTo>
                <a:lnTo>
                  <a:pt x="9696449" y="0"/>
                </a:lnTo>
                <a:lnTo>
                  <a:pt x="9696449" y="3809999"/>
                </a:lnTo>
                <a:lnTo>
                  <a:pt x="0" y="380999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0201274" y="2466592"/>
            <a:ext cx="200110" cy="1626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820274" y="2447925"/>
            <a:ext cx="200025" cy="2000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24073" y="5057775"/>
            <a:ext cx="2856674" cy="70484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89556" y="2203251"/>
            <a:ext cx="8182928" cy="18171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946749" y="2421254"/>
            <a:ext cx="267830" cy="1244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157608" y="2680573"/>
            <a:ext cx="260985" cy="57150"/>
          </a:xfrm>
          <a:custGeom>
            <a:avLst/>
            <a:gdLst/>
            <a:ahLst/>
            <a:cxnLst/>
            <a:rect l="l" t="t" r="r" b="b"/>
            <a:pathLst>
              <a:path w="260985" h="57150">
                <a:moveTo>
                  <a:pt x="203001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60627" y="0"/>
                </a:lnTo>
                <a:lnTo>
                  <a:pt x="203001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153679" y="2680573"/>
            <a:ext cx="61594" cy="64769"/>
          </a:xfrm>
          <a:custGeom>
            <a:avLst/>
            <a:gdLst/>
            <a:ahLst/>
            <a:cxnLst/>
            <a:rect l="l" t="t" r="r" b="b"/>
            <a:pathLst>
              <a:path w="61595" h="64769">
                <a:moveTo>
                  <a:pt x="0" y="64174"/>
                </a:moveTo>
                <a:lnTo>
                  <a:pt x="3929" y="56971"/>
                </a:lnTo>
                <a:lnTo>
                  <a:pt x="61555" y="0"/>
                </a:lnTo>
                <a:lnTo>
                  <a:pt x="57626" y="7203"/>
                </a:lnTo>
                <a:lnTo>
                  <a:pt x="0" y="64174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819054" y="2258198"/>
            <a:ext cx="288925" cy="149860"/>
          </a:xfrm>
          <a:custGeom>
            <a:avLst/>
            <a:gdLst/>
            <a:ahLst/>
            <a:cxnLst/>
            <a:rect l="l" t="t" r="r" b="b"/>
            <a:pathLst>
              <a:path w="288925" h="149860">
                <a:moveTo>
                  <a:pt x="0" y="149304"/>
                </a:moveTo>
                <a:lnTo>
                  <a:pt x="14068" y="135614"/>
                </a:lnTo>
                <a:lnTo>
                  <a:pt x="29058" y="120818"/>
                </a:lnTo>
                <a:lnTo>
                  <a:pt x="57626" y="92332"/>
                </a:lnTo>
                <a:lnTo>
                  <a:pt x="97068" y="59344"/>
                </a:lnTo>
                <a:lnTo>
                  <a:pt x="139937" y="33522"/>
                </a:lnTo>
                <a:lnTo>
                  <a:pt x="186200" y="14961"/>
                </a:lnTo>
                <a:lnTo>
                  <a:pt x="235827" y="3756"/>
                </a:lnTo>
                <a:lnTo>
                  <a:pt x="288785" y="0"/>
                </a:lnTo>
                <a:lnTo>
                  <a:pt x="231159" y="56971"/>
                </a:lnTo>
                <a:lnTo>
                  <a:pt x="178452" y="60664"/>
                </a:lnTo>
                <a:lnTo>
                  <a:pt x="128857" y="71744"/>
                </a:lnTo>
                <a:lnTo>
                  <a:pt x="82499" y="90211"/>
                </a:lnTo>
                <a:lnTo>
                  <a:pt x="39505" y="116064"/>
                </a:lnTo>
                <a:lnTo>
                  <a:pt x="0" y="149304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280064" y="2697598"/>
            <a:ext cx="132278" cy="18008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131415" y="2687776"/>
            <a:ext cx="79891" cy="8840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901565" y="2459890"/>
            <a:ext cx="287020" cy="346075"/>
          </a:xfrm>
          <a:custGeom>
            <a:avLst/>
            <a:gdLst/>
            <a:ahLst/>
            <a:cxnLst/>
            <a:rect l="l" t="t" r="r" b="b"/>
            <a:pathLst>
              <a:path w="287020" h="346075">
                <a:moveTo>
                  <a:pt x="151923" y="345757"/>
                </a:moveTo>
                <a:lnTo>
                  <a:pt x="88649" y="334870"/>
                </a:lnTo>
                <a:lnTo>
                  <a:pt x="40600" y="301882"/>
                </a:lnTo>
                <a:lnTo>
                  <a:pt x="10231" y="249822"/>
                </a:lnTo>
                <a:lnTo>
                  <a:pt x="0" y="182046"/>
                </a:lnTo>
                <a:lnTo>
                  <a:pt x="2568" y="146470"/>
                </a:lnTo>
                <a:lnTo>
                  <a:pt x="10231" y="114515"/>
                </a:lnTo>
                <a:lnTo>
                  <a:pt x="22929" y="86367"/>
                </a:lnTo>
                <a:lnTo>
                  <a:pt x="40600" y="62210"/>
                </a:lnTo>
                <a:lnTo>
                  <a:pt x="41910" y="60245"/>
                </a:lnTo>
                <a:lnTo>
                  <a:pt x="43874" y="58935"/>
                </a:lnTo>
                <a:lnTo>
                  <a:pt x="103465" y="0"/>
                </a:lnTo>
                <a:lnTo>
                  <a:pt x="98226" y="5238"/>
                </a:lnTo>
                <a:lnTo>
                  <a:pt x="80556" y="29304"/>
                </a:lnTo>
                <a:lnTo>
                  <a:pt x="67858" y="57298"/>
                </a:lnTo>
                <a:lnTo>
                  <a:pt x="60194" y="89222"/>
                </a:lnTo>
                <a:lnTo>
                  <a:pt x="57626" y="125075"/>
                </a:lnTo>
                <a:lnTo>
                  <a:pt x="60194" y="160651"/>
                </a:lnTo>
                <a:lnTo>
                  <a:pt x="80555" y="220753"/>
                </a:lnTo>
                <a:lnTo>
                  <a:pt x="120225" y="264198"/>
                </a:lnTo>
                <a:lnTo>
                  <a:pt x="175764" y="286074"/>
                </a:lnTo>
                <a:lnTo>
                  <a:pt x="209550" y="288786"/>
                </a:lnTo>
                <a:lnTo>
                  <a:pt x="257677" y="288786"/>
                </a:lnTo>
                <a:lnTo>
                  <a:pt x="229195" y="316944"/>
                </a:lnTo>
                <a:lnTo>
                  <a:pt x="213346" y="329734"/>
                </a:lnTo>
                <a:lnTo>
                  <a:pt x="195225" y="338717"/>
                </a:lnTo>
                <a:lnTo>
                  <a:pt x="174771" y="344018"/>
                </a:lnTo>
                <a:lnTo>
                  <a:pt x="151923" y="345757"/>
                </a:lnTo>
                <a:close/>
              </a:path>
              <a:path w="287020" h="346075">
                <a:moveTo>
                  <a:pt x="257677" y="288786"/>
                </a:moveTo>
                <a:lnTo>
                  <a:pt x="209550" y="288786"/>
                </a:lnTo>
                <a:lnTo>
                  <a:pt x="232397" y="287046"/>
                </a:lnTo>
                <a:lnTo>
                  <a:pt x="252851" y="281746"/>
                </a:lnTo>
                <a:lnTo>
                  <a:pt x="270972" y="272762"/>
                </a:lnTo>
                <a:lnTo>
                  <a:pt x="286821" y="259972"/>
                </a:lnTo>
                <a:lnTo>
                  <a:pt x="257677" y="28878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724757" y="2351186"/>
            <a:ext cx="612933" cy="616862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035206" y="2322373"/>
            <a:ext cx="640715" cy="640080"/>
          </a:xfrm>
          <a:custGeom>
            <a:avLst/>
            <a:gdLst/>
            <a:ahLst/>
            <a:cxnLst/>
            <a:rect l="l" t="t" r="r" b="b"/>
            <a:pathLst>
              <a:path w="640714" h="640080">
                <a:moveTo>
                  <a:pt x="185975" y="639782"/>
                </a:moveTo>
                <a:lnTo>
                  <a:pt x="0" y="639782"/>
                </a:lnTo>
                <a:lnTo>
                  <a:pt x="219372" y="0"/>
                </a:lnTo>
                <a:lnTo>
                  <a:pt x="419100" y="0"/>
                </a:lnTo>
                <a:lnTo>
                  <a:pt x="499977" y="233779"/>
                </a:lnTo>
                <a:lnTo>
                  <a:pt x="318909" y="233779"/>
                </a:lnTo>
                <a:lnTo>
                  <a:pt x="265211" y="398145"/>
                </a:lnTo>
                <a:lnTo>
                  <a:pt x="556841" y="398145"/>
                </a:lnTo>
                <a:lnTo>
                  <a:pt x="604869" y="536971"/>
                </a:lnTo>
                <a:lnTo>
                  <a:pt x="219372" y="536971"/>
                </a:lnTo>
                <a:lnTo>
                  <a:pt x="185975" y="639782"/>
                </a:lnTo>
                <a:close/>
              </a:path>
              <a:path w="640714" h="640080">
                <a:moveTo>
                  <a:pt x="556841" y="398145"/>
                </a:moveTo>
                <a:lnTo>
                  <a:pt x="373915" y="398145"/>
                </a:lnTo>
                <a:lnTo>
                  <a:pt x="318909" y="233779"/>
                </a:lnTo>
                <a:lnTo>
                  <a:pt x="499977" y="233779"/>
                </a:lnTo>
                <a:lnTo>
                  <a:pt x="556841" y="398145"/>
                </a:lnTo>
                <a:close/>
              </a:path>
              <a:path w="640714" h="640080">
                <a:moveTo>
                  <a:pt x="640437" y="639782"/>
                </a:moveTo>
                <a:lnTo>
                  <a:pt x="453806" y="639782"/>
                </a:lnTo>
                <a:lnTo>
                  <a:pt x="419754" y="536971"/>
                </a:lnTo>
                <a:lnTo>
                  <a:pt x="604869" y="536971"/>
                </a:lnTo>
                <a:lnTo>
                  <a:pt x="640437" y="639782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255234" y="2265402"/>
            <a:ext cx="257175" cy="57150"/>
          </a:xfrm>
          <a:custGeom>
            <a:avLst/>
            <a:gdLst/>
            <a:ahLst/>
            <a:cxnLst/>
            <a:rect l="l" t="t" r="r" b="b"/>
            <a:pathLst>
              <a:path w="257175" h="57150">
                <a:moveTo>
                  <a:pt x="199072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56698" y="0"/>
                </a:lnTo>
                <a:lnTo>
                  <a:pt x="199072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454306" y="2265402"/>
            <a:ext cx="279400" cy="697230"/>
          </a:xfrm>
          <a:custGeom>
            <a:avLst/>
            <a:gdLst/>
            <a:ahLst/>
            <a:cxnLst/>
            <a:rect l="l" t="t" r="r" b="b"/>
            <a:pathLst>
              <a:path w="279400" h="697230">
                <a:moveTo>
                  <a:pt x="221992" y="696753"/>
                </a:moveTo>
                <a:lnTo>
                  <a:pt x="0" y="56971"/>
                </a:lnTo>
                <a:lnTo>
                  <a:pt x="57626" y="0"/>
                </a:lnTo>
                <a:lnTo>
                  <a:pt x="278963" y="640437"/>
                </a:lnTo>
                <a:lnTo>
                  <a:pt x="221992" y="696753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4300418" y="2499181"/>
            <a:ext cx="166330" cy="22133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455616" y="2802374"/>
            <a:ext cx="277653" cy="15978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254579" y="2802374"/>
            <a:ext cx="259079" cy="57150"/>
          </a:xfrm>
          <a:custGeom>
            <a:avLst/>
            <a:gdLst/>
            <a:ahLst/>
            <a:cxnLst/>
            <a:rect l="l" t="t" r="r" b="b"/>
            <a:pathLst>
              <a:path w="259079" h="57150">
                <a:moveTo>
                  <a:pt x="201037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58663" y="0"/>
                </a:lnTo>
                <a:lnTo>
                  <a:pt x="201037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221182" y="2802374"/>
            <a:ext cx="91440" cy="160020"/>
          </a:xfrm>
          <a:custGeom>
            <a:avLst/>
            <a:gdLst/>
            <a:ahLst/>
            <a:cxnLst/>
            <a:rect l="l" t="t" r="r" b="b"/>
            <a:pathLst>
              <a:path w="91439" h="160019">
                <a:moveTo>
                  <a:pt x="0" y="159781"/>
                </a:moveTo>
                <a:lnTo>
                  <a:pt x="33396" y="56971"/>
                </a:lnTo>
                <a:lnTo>
                  <a:pt x="91023" y="0"/>
                </a:lnTo>
                <a:lnTo>
                  <a:pt x="57626" y="103465"/>
                </a:lnTo>
                <a:lnTo>
                  <a:pt x="0" y="15978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35206" y="2265402"/>
            <a:ext cx="278130" cy="697230"/>
          </a:xfrm>
          <a:custGeom>
            <a:avLst/>
            <a:gdLst/>
            <a:ahLst/>
            <a:cxnLst/>
            <a:rect l="l" t="t" r="r" b="b"/>
            <a:pathLst>
              <a:path w="278129" h="697230">
                <a:moveTo>
                  <a:pt x="0" y="696753"/>
                </a:moveTo>
                <a:lnTo>
                  <a:pt x="220027" y="56971"/>
                </a:lnTo>
                <a:lnTo>
                  <a:pt x="277653" y="0"/>
                </a:lnTo>
                <a:lnTo>
                  <a:pt x="57626" y="640437"/>
                </a:lnTo>
                <a:lnTo>
                  <a:pt x="0" y="696753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35206" y="2905839"/>
            <a:ext cx="243840" cy="56515"/>
          </a:xfrm>
          <a:custGeom>
            <a:avLst/>
            <a:gdLst/>
            <a:ahLst/>
            <a:cxnLst/>
            <a:rect l="l" t="t" r="r" b="b"/>
            <a:pathLst>
              <a:path w="243839" h="56514">
                <a:moveTo>
                  <a:pt x="185975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243601" y="0"/>
                </a:lnTo>
                <a:lnTo>
                  <a:pt x="185975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468004" y="2324338"/>
            <a:ext cx="560070" cy="638175"/>
          </a:xfrm>
          <a:custGeom>
            <a:avLst/>
            <a:gdLst/>
            <a:ahLst/>
            <a:cxnLst/>
            <a:rect l="l" t="t" r="r" b="b"/>
            <a:pathLst>
              <a:path w="560070" h="638175">
                <a:moveTo>
                  <a:pt x="175498" y="637817"/>
                </a:moveTo>
                <a:lnTo>
                  <a:pt x="1309" y="637817"/>
                </a:lnTo>
                <a:lnTo>
                  <a:pt x="0" y="0"/>
                </a:lnTo>
                <a:lnTo>
                  <a:pt x="174188" y="0"/>
                </a:lnTo>
                <a:lnTo>
                  <a:pt x="174843" y="244911"/>
                </a:lnTo>
                <a:lnTo>
                  <a:pt x="559084" y="244911"/>
                </a:lnTo>
                <a:lnTo>
                  <a:pt x="559371" y="384393"/>
                </a:lnTo>
                <a:lnTo>
                  <a:pt x="175498" y="384393"/>
                </a:lnTo>
                <a:lnTo>
                  <a:pt x="175498" y="637817"/>
                </a:lnTo>
                <a:close/>
              </a:path>
              <a:path w="560070" h="638175">
                <a:moveTo>
                  <a:pt x="559084" y="244911"/>
                </a:moveTo>
                <a:lnTo>
                  <a:pt x="385048" y="244911"/>
                </a:lnTo>
                <a:lnTo>
                  <a:pt x="384393" y="0"/>
                </a:lnTo>
                <a:lnTo>
                  <a:pt x="558581" y="0"/>
                </a:lnTo>
                <a:lnTo>
                  <a:pt x="559084" y="244911"/>
                </a:lnTo>
                <a:close/>
              </a:path>
              <a:path w="560070" h="638175">
                <a:moveTo>
                  <a:pt x="559891" y="637817"/>
                </a:moveTo>
                <a:lnTo>
                  <a:pt x="385703" y="637817"/>
                </a:lnTo>
                <a:lnTo>
                  <a:pt x="385048" y="384393"/>
                </a:lnTo>
                <a:lnTo>
                  <a:pt x="559371" y="384393"/>
                </a:lnTo>
                <a:lnTo>
                  <a:pt x="559891" y="637817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852398" y="2267366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10" h="57150">
                <a:moveTo>
                  <a:pt x="174188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52398" y="2267366"/>
            <a:ext cx="57785" cy="302260"/>
          </a:xfrm>
          <a:custGeom>
            <a:avLst/>
            <a:gdLst/>
            <a:ahLst/>
            <a:cxnLst/>
            <a:rect l="l" t="t" r="r" b="b"/>
            <a:pathLst>
              <a:path w="57785" h="302260">
                <a:moveTo>
                  <a:pt x="655" y="301882"/>
                </a:moveTo>
                <a:lnTo>
                  <a:pt x="0" y="56971"/>
                </a:lnTo>
                <a:lnTo>
                  <a:pt x="57626" y="0"/>
                </a:lnTo>
                <a:lnTo>
                  <a:pt x="57626" y="244911"/>
                </a:lnTo>
                <a:lnTo>
                  <a:pt x="655" y="301882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468004" y="2267366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10" h="57150">
                <a:moveTo>
                  <a:pt x="174188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5642848" y="2512278"/>
            <a:ext cx="267335" cy="57150"/>
          </a:xfrm>
          <a:custGeom>
            <a:avLst/>
            <a:gdLst/>
            <a:ahLst/>
            <a:cxnLst/>
            <a:rect l="l" t="t" r="r" b="b"/>
            <a:pathLst>
              <a:path w="267335" h="57150">
                <a:moveTo>
                  <a:pt x="210205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67176" y="0"/>
                </a:lnTo>
                <a:lnTo>
                  <a:pt x="210205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5642193" y="2267366"/>
            <a:ext cx="58419" cy="302260"/>
          </a:xfrm>
          <a:custGeom>
            <a:avLst/>
            <a:gdLst/>
            <a:ahLst/>
            <a:cxnLst/>
            <a:rect l="l" t="t" r="r" b="b"/>
            <a:pathLst>
              <a:path w="58420" h="302260">
                <a:moveTo>
                  <a:pt x="654" y="301882"/>
                </a:moveTo>
                <a:lnTo>
                  <a:pt x="0" y="56971"/>
                </a:lnTo>
                <a:lnTo>
                  <a:pt x="57626" y="0"/>
                </a:lnTo>
                <a:lnTo>
                  <a:pt x="58280" y="244911"/>
                </a:lnTo>
                <a:lnTo>
                  <a:pt x="654" y="301882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6026586" y="2267366"/>
            <a:ext cx="59055" cy="695325"/>
          </a:xfrm>
          <a:custGeom>
            <a:avLst/>
            <a:gdLst/>
            <a:ahLst/>
            <a:cxnLst/>
            <a:rect l="l" t="t" r="r" b="b"/>
            <a:pathLst>
              <a:path w="59054" h="695325">
                <a:moveTo>
                  <a:pt x="1309" y="694789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638472"/>
                </a:lnTo>
                <a:lnTo>
                  <a:pt x="1309" y="694789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643503" y="2651760"/>
            <a:ext cx="267335" cy="57150"/>
          </a:xfrm>
          <a:custGeom>
            <a:avLst/>
            <a:gdLst/>
            <a:ahLst/>
            <a:cxnLst/>
            <a:rect l="l" t="t" r="r" b="b"/>
            <a:pathLst>
              <a:path w="267335" h="57150">
                <a:moveTo>
                  <a:pt x="209550" y="56971"/>
                </a:moveTo>
                <a:lnTo>
                  <a:pt x="0" y="56971"/>
                </a:lnTo>
                <a:lnTo>
                  <a:pt x="56971" y="0"/>
                </a:lnTo>
                <a:lnTo>
                  <a:pt x="267176" y="0"/>
                </a:lnTo>
                <a:lnTo>
                  <a:pt x="209550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5853707" y="2905839"/>
            <a:ext cx="232410" cy="56515"/>
          </a:xfrm>
          <a:custGeom>
            <a:avLst/>
            <a:gdLst/>
            <a:ahLst/>
            <a:cxnLst/>
            <a:rect l="l" t="t" r="r" b="b"/>
            <a:pathLst>
              <a:path w="232410" h="56514">
                <a:moveTo>
                  <a:pt x="174188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853053" y="2651760"/>
            <a:ext cx="58419" cy="310515"/>
          </a:xfrm>
          <a:custGeom>
            <a:avLst/>
            <a:gdLst/>
            <a:ahLst/>
            <a:cxnLst/>
            <a:rect l="l" t="t" r="r" b="b"/>
            <a:pathLst>
              <a:path w="58420" h="310514">
                <a:moveTo>
                  <a:pt x="654" y="310395"/>
                </a:moveTo>
                <a:lnTo>
                  <a:pt x="0" y="56971"/>
                </a:lnTo>
                <a:lnTo>
                  <a:pt x="57626" y="0"/>
                </a:lnTo>
                <a:lnTo>
                  <a:pt x="58280" y="254079"/>
                </a:lnTo>
                <a:lnTo>
                  <a:pt x="654" y="310395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643503" y="2651760"/>
            <a:ext cx="57785" cy="310515"/>
          </a:xfrm>
          <a:custGeom>
            <a:avLst/>
            <a:gdLst/>
            <a:ahLst/>
            <a:cxnLst/>
            <a:rect l="l" t="t" r="r" b="b"/>
            <a:pathLst>
              <a:path w="57785" h="310514">
                <a:moveTo>
                  <a:pt x="0" y="310395"/>
                </a:moveTo>
                <a:lnTo>
                  <a:pt x="0" y="56971"/>
                </a:lnTo>
                <a:lnTo>
                  <a:pt x="56971" y="0"/>
                </a:lnTo>
                <a:lnTo>
                  <a:pt x="57626" y="254079"/>
                </a:lnTo>
                <a:lnTo>
                  <a:pt x="0" y="310395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469314" y="2905839"/>
            <a:ext cx="232410" cy="56515"/>
          </a:xfrm>
          <a:custGeom>
            <a:avLst/>
            <a:gdLst/>
            <a:ahLst/>
            <a:cxnLst/>
            <a:rect l="l" t="t" r="r" b="b"/>
            <a:pathLst>
              <a:path w="232410" h="56514">
                <a:moveTo>
                  <a:pt x="174188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468004" y="2267366"/>
            <a:ext cx="59055" cy="695325"/>
          </a:xfrm>
          <a:custGeom>
            <a:avLst/>
            <a:gdLst/>
            <a:ahLst/>
            <a:cxnLst/>
            <a:rect l="l" t="t" r="r" b="b"/>
            <a:pathLst>
              <a:path w="59054" h="695325">
                <a:moveTo>
                  <a:pt x="1309" y="694789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638472"/>
                </a:lnTo>
                <a:lnTo>
                  <a:pt x="1309" y="694789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6113681" y="2322373"/>
            <a:ext cx="640715" cy="640080"/>
          </a:xfrm>
          <a:custGeom>
            <a:avLst/>
            <a:gdLst/>
            <a:ahLst/>
            <a:cxnLst/>
            <a:rect l="l" t="t" r="r" b="b"/>
            <a:pathLst>
              <a:path w="640715" h="640080">
                <a:moveTo>
                  <a:pt x="185975" y="639782"/>
                </a:moveTo>
                <a:lnTo>
                  <a:pt x="0" y="639782"/>
                </a:lnTo>
                <a:lnTo>
                  <a:pt x="219372" y="0"/>
                </a:lnTo>
                <a:lnTo>
                  <a:pt x="419100" y="0"/>
                </a:lnTo>
                <a:lnTo>
                  <a:pt x="499977" y="233779"/>
                </a:lnTo>
                <a:lnTo>
                  <a:pt x="318908" y="233779"/>
                </a:lnTo>
                <a:lnTo>
                  <a:pt x="265211" y="398145"/>
                </a:lnTo>
                <a:lnTo>
                  <a:pt x="556841" y="398145"/>
                </a:lnTo>
                <a:lnTo>
                  <a:pt x="604869" y="536971"/>
                </a:lnTo>
                <a:lnTo>
                  <a:pt x="219372" y="536971"/>
                </a:lnTo>
                <a:lnTo>
                  <a:pt x="185975" y="639782"/>
                </a:lnTo>
                <a:close/>
              </a:path>
              <a:path w="640715" h="640080">
                <a:moveTo>
                  <a:pt x="556841" y="398145"/>
                </a:moveTo>
                <a:lnTo>
                  <a:pt x="373915" y="398145"/>
                </a:lnTo>
                <a:lnTo>
                  <a:pt x="318908" y="233779"/>
                </a:lnTo>
                <a:lnTo>
                  <a:pt x="499977" y="233779"/>
                </a:lnTo>
                <a:lnTo>
                  <a:pt x="556841" y="398145"/>
                </a:lnTo>
                <a:close/>
              </a:path>
              <a:path w="640715" h="640080">
                <a:moveTo>
                  <a:pt x="640437" y="639782"/>
                </a:moveTo>
                <a:lnTo>
                  <a:pt x="453806" y="639782"/>
                </a:lnTo>
                <a:lnTo>
                  <a:pt x="419754" y="536971"/>
                </a:lnTo>
                <a:lnTo>
                  <a:pt x="604869" y="536971"/>
                </a:lnTo>
                <a:lnTo>
                  <a:pt x="640437" y="639782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333053" y="2265402"/>
            <a:ext cx="257810" cy="57150"/>
          </a:xfrm>
          <a:custGeom>
            <a:avLst/>
            <a:gdLst/>
            <a:ahLst/>
            <a:cxnLst/>
            <a:rect l="l" t="t" r="r" b="b"/>
            <a:pathLst>
              <a:path w="257809" h="57150">
                <a:moveTo>
                  <a:pt x="199727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57353" y="0"/>
                </a:lnTo>
                <a:lnTo>
                  <a:pt x="199727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6532781" y="2265402"/>
            <a:ext cx="279400" cy="697230"/>
          </a:xfrm>
          <a:custGeom>
            <a:avLst/>
            <a:gdLst/>
            <a:ahLst/>
            <a:cxnLst/>
            <a:rect l="l" t="t" r="r" b="b"/>
            <a:pathLst>
              <a:path w="279400" h="697230">
                <a:moveTo>
                  <a:pt x="221337" y="696753"/>
                </a:moveTo>
                <a:lnTo>
                  <a:pt x="0" y="56971"/>
                </a:lnTo>
                <a:lnTo>
                  <a:pt x="57626" y="0"/>
                </a:lnTo>
                <a:lnTo>
                  <a:pt x="278963" y="640437"/>
                </a:lnTo>
                <a:lnTo>
                  <a:pt x="221337" y="696753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6378892" y="2499181"/>
            <a:ext cx="165675" cy="22133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533435" y="2802374"/>
            <a:ext cx="278308" cy="15978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333053" y="2802374"/>
            <a:ext cx="258445" cy="57150"/>
          </a:xfrm>
          <a:custGeom>
            <a:avLst/>
            <a:gdLst/>
            <a:ahLst/>
            <a:cxnLst/>
            <a:rect l="l" t="t" r="r" b="b"/>
            <a:pathLst>
              <a:path w="258445" h="57150">
                <a:moveTo>
                  <a:pt x="200382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58008" y="0"/>
                </a:lnTo>
                <a:lnTo>
                  <a:pt x="200382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299001" y="2802374"/>
            <a:ext cx="92075" cy="160020"/>
          </a:xfrm>
          <a:custGeom>
            <a:avLst/>
            <a:gdLst/>
            <a:ahLst/>
            <a:cxnLst/>
            <a:rect l="l" t="t" r="r" b="b"/>
            <a:pathLst>
              <a:path w="92075" h="160019">
                <a:moveTo>
                  <a:pt x="0" y="159781"/>
                </a:moveTo>
                <a:lnTo>
                  <a:pt x="34051" y="56971"/>
                </a:lnTo>
                <a:lnTo>
                  <a:pt x="91678" y="0"/>
                </a:lnTo>
                <a:lnTo>
                  <a:pt x="57626" y="103465"/>
                </a:lnTo>
                <a:lnTo>
                  <a:pt x="0" y="15978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113681" y="2265402"/>
            <a:ext cx="277495" cy="697230"/>
          </a:xfrm>
          <a:custGeom>
            <a:avLst/>
            <a:gdLst/>
            <a:ahLst/>
            <a:cxnLst/>
            <a:rect l="l" t="t" r="r" b="b"/>
            <a:pathLst>
              <a:path w="277495" h="697230">
                <a:moveTo>
                  <a:pt x="0" y="696753"/>
                </a:moveTo>
                <a:lnTo>
                  <a:pt x="219372" y="56971"/>
                </a:lnTo>
                <a:lnTo>
                  <a:pt x="276998" y="0"/>
                </a:lnTo>
                <a:lnTo>
                  <a:pt x="57626" y="640437"/>
                </a:lnTo>
                <a:lnTo>
                  <a:pt x="0" y="696753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113681" y="2905839"/>
            <a:ext cx="243204" cy="56515"/>
          </a:xfrm>
          <a:custGeom>
            <a:avLst/>
            <a:gdLst/>
            <a:ahLst/>
            <a:cxnLst/>
            <a:rect l="l" t="t" r="r" b="b"/>
            <a:pathLst>
              <a:path w="243204" h="56514">
                <a:moveTo>
                  <a:pt x="185320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242946" y="0"/>
                </a:lnTo>
                <a:lnTo>
                  <a:pt x="185320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837937" y="2323683"/>
            <a:ext cx="509905" cy="638810"/>
          </a:xfrm>
          <a:custGeom>
            <a:avLst/>
            <a:gdLst/>
            <a:ahLst/>
            <a:cxnLst/>
            <a:rect l="l" t="t" r="r" b="b"/>
            <a:pathLst>
              <a:path w="509904" h="638810">
                <a:moveTo>
                  <a:pt x="294024" y="638472"/>
                </a:moveTo>
                <a:lnTo>
                  <a:pt x="1309" y="638472"/>
                </a:lnTo>
                <a:lnTo>
                  <a:pt x="0" y="0"/>
                </a:lnTo>
                <a:lnTo>
                  <a:pt x="278308" y="0"/>
                </a:lnTo>
                <a:lnTo>
                  <a:pt x="324587" y="3059"/>
                </a:lnTo>
                <a:lnTo>
                  <a:pt x="366139" y="12196"/>
                </a:lnTo>
                <a:lnTo>
                  <a:pt x="402902" y="27349"/>
                </a:lnTo>
                <a:lnTo>
                  <a:pt x="434816" y="48458"/>
                </a:lnTo>
                <a:lnTo>
                  <a:pt x="479918" y="104365"/>
                </a:lnTo>
                <a:lnTo>
                  <a:pt x="491492" y="139481"/>
                </a:lnTo>
                <a:lnTo>
                  <a:pt x="174843" y="139481"/>
                </a:lnTo>
                <a:lnTo>
                  <a:pt x="174843" y="246221"/>
                </a:lnTo>
                <a:lnTo>
                  <a:pt x="476515" y="246221"/>
                </a:lnTo>
                <a:lnTo>
                  <a:pt x="472388" y="255389"/>
                </a:lnTo>
                <a:lnTo>
                  <a:pt x="443953" y="286801"/>
                </a:lnTo>
                <a:lnTo>
                  <a:pt x="404038" y="311705"/>
                </a:lnTo>
                <a:lnTo>
                  <a:pt x="422834" y="320065"/>
                </a:lnTo>
                <a:lnTo>
                  <a:pt x="455515" y="342923"/>
                </a:lnTo>
                <a:lnTo>
                  <a:pt x="486815" y="381712"/>
                </a:lnTo>
                <a:lnTo>
                  <a:pt x="488403" y="385048"/>
                </a:lnTo>
                <a:lnTo>
                  <a:pt x="175498" y="385048"/>
                </a:lnTo>
                <a:lnTo>
                  <a:pt x="175498" y="498990"/>
                </a:lnTo>
                <a:lnTo>
                  <a:pt x="506255" y="498990"/>
                </a:lnTo>
                <a:lnTo>
                  <a:pt x="505795" y="503677"/>
                </a:lnTo>
                <a:lnTo>
                  <a:pt x="476593" y="566992"/>
                </a:lnTo>
                <a:lnTo>
                  <a:pt x="420000" y="612780"/>
                </a:lnTo>
                <a:lnTo>
                  <a:pt x="383411" y="627094"/>
                </a:lnTo>
                <a:lnTo>
                  <a:pt x="341419" y="635638"/>
                </a:lnTo>
                <a:lnTo>
                  <a:pt x="294024" y="638472"/>
                </a:lnTo>
                <a:close/>
              </a:path>
              <a:path w="509904" h="638810">
                <a:moveTo>
                  <a:pt x="476515" y="246221"/>
                </a:moveTo>
                <a:lnTo>
                  <a:pt x="259973" y="246221"/>
                </a:lnTo>
                <a:lnTo>
                  <a:pt x="272988" y="245361"/>
                </a:lnTo>
                <a:lnTo>
                  <a:pt x="284530" y="242783"/>
                </a:lnTo>
                <a:lnTo>
                  <a:pt x="314407" y="216262"/>
                </a:lnTo>
                <a:lnTo>
                  <a:pt x="318254" y="193178"/>
                </a:lnTo>
                <a:lnTo>
                  <a:pt x="317282" y="180399"/>
                </a:lnTo>
                <a:lnTo>
                  <a:pt x="294598" y="147217"/>
                </a:lnTo>
                <a:lnTo>
                  <a:pt x="259973" y="139481"/>
                </a:lnTo>
                <a:lnTo>
                  <a:pt x="491492" y="139481"/>
                </a:lnTo>
                <a:lnTo>
                  <a:pt x="495062" y="173533"/>
                </a:lnTo>
                <a:lnTo>
                  <a:pt x="489403" y="217592"/>
                </a:lnTo>
                <a:lnTo>
                  <a:pt x="476515" y="246221"/>
                </a:lnTo>
                <a:close/>
              </a:path>
              <a:path w="509904" h="638810">
                <a:moveTo>
                  <a:pt x="506255" y="498990"/>
                </a:moveTo>
                <a:lnTo>
                  <a:pt x="275034" y="498990"/>
                </a:lnTo>
                <a:lnTo>
                  <a:pt x="287200" y="498397"/>
                </a:lnTo>
                <a:lnTo>
                  <a:pt x="298199" y="495716"/>
                </a:lnTo>
                <a:lnTo>
                  <a:pt x="328732" y="467149"/>
                </a:lnTo>
                <a:lnTo>
                  <a:pt x="332661" y="443329"/>
                </a:lnTo>
                <a:lnTo>
                  <a:pt x="331679" y="430416"/>
                </a:lnTo>
                <a:lnTo>
                  <a:pt x="308575" y="393888"/>
                </a:lnTo>
                <a:lnTo>
                  <a:pt x="276344" y="385048"/>
                </a:lnTo>
                <a:lnTo>
                  <a:pt x="488403" y="385048"/>
                </a:lnTo>
                <a:lnTo>
                  <a:pt x="499318" y="407967"/>
                </a:lnTo>
                <a:lnTo>
                  <a:pt x="506910" y="436187"/>
                </a:lnTo>
                <a:lnTo>
                  <a:pt x="509468" y="466248"/>
                </a:lnTo>
                <a:lnTo>
                  <a:pt x="506255" y="498990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7116246" y="2266711"/>
            <a:ext cx="274955" cy="334645"/>
          </a:xfrm>
          <a:custGeom>
            <a:avLst/>
            <a:gdLst/>
            <a:ahLst/>
            <a:cxnLst/>
            <a:rect l="l" t="t" r="r" b="b"/>
            <a:pathLst>
              <a:path w="274954" h="334644">
                <a:moveTo>
                  <a:pt x="175498" y="334625"/>
                </a:moveTo>
                <a:lnTo>
                  <a:pt x="193547" y="313015"/>
                </a:lnTo>
                <a:lnTo>
                  <a:pt x="206439" y="288458"/>
                </a:lnTo>
                <a:lnTo>
                  <a:pt x="214175" y="260955"/>
                </a:lnTo>
                <a:lnTo>
                  <a:pt x="216753" y="230505"/>
                </a:lnTo>
                <a:lnTo>
                  <a:pt x="212957" y="194294"/>
                </a:lnTo>
                <a:lnTo>
                  <a:pt x="182773" y="131695"/>
                </a:lnTo>
                <a:lnTo>
                  <a:pt x="124594" y="84321"/>
                </a:lnTo>
                <a:lnTo>
                  <a:pt x="87831" y="69167"/>
                </a:lnTo>
                <a:lnTo>
                  <a:pt x="46279" y="60030"/>
                </a:lnTo>
                <a:lnTo>
                  <a:pt x="0" y="56971"/>
                </a:lnTo>
                <a:lnTo>
                  <a:pt x="57626" y="0"/>
                </a:lnTo>
                <a:lnTo>
                  <a:pt x="103905" y="3059"/>
                </a:lnTo>
                <a:lnTo>
                  <a:pt x="145457" y="12196"/>
                </a:lnTo>
                <a:lnTo>
                  <a:pt x="182220" y="27349"/>
                </a:lnTo>
                <a:lnTo>
                  <a:pt x="214133" y="48458"/>
                </a:lnTo>
                <a:lnTo>
                  <a:pt x="259236" y="104365"/>
                </a:lnTo>
                <a:lnTo>
                  <a:pt x="274379" y="173533"/>
                </a:lnTo>
                <a:lnTo>
                  <a:pt x="271801" y="203983"/>
                </a:lnTo>
                <a:lnTo>
                  <a:pt x="251173" y="256043"/>
                </a:lnTo>
                <a:lnTo>
                  <a:pt x="219424" y="291620"/>
                </a:lnTo>
                <a:lnTo>
                  <a:pt x="189567" y="321026"/>
                </a:lnTo>
                <a:lnTo>
                  <a:pt x="175498" y="334625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7241976" y="2545020"/>
            <a:ext cx="123110" cy="136207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7012781" y="2406193"/>
            <a:ext cx="200382" cy="16436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837937" y="2267366"/>
            <a:ext cx="336550" cy="57150"/>
          </a:xfrm>
          <a:custGeom>
            <a:avLst/>
            <a:gdLst/>
            <a:ahLst/>
            <a:cxnLst/>
            <a:rect l="l" t="t" r="r" b="b"/>
            <a:pathLst>
              <a:path w="336550" h="57150">
                <a:moveTo>
                  <a:pt x="278308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335934" y="0"/>
                </a:lnTo>
                <a:lnTo>
                  <a:pt x="27830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7012781" y="2406193"/>
            <a:ext cx="142755" cy="16371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7302222" y="2624256"/>
            <a:ext cx="103505" cy="281305"/>
          </a:xfrm>
          <a:custGeom>
            <a:avLst/>
            <a:gdLst/>
            <a:ahLst/>
            <a:cxnLst/>
            <a:rect l="l" t="t" r="r" b="b"/>
            <a:pathLst>
              <a:path w="103504" h="281305">
                <a:moveTo>
                  <a:pt x="0" y="280927"/>
                </a:moveTo>
                <a:lnTo>
                  <a:pt x="19870" y="256749"/>
                </a:lnTo>
                <a:lnTo>
                  <a:pt x="34215" y="229440"/>
                </a:lnTo>
                <a:lnTo>
                  <a:pt x="42912" y="199062"/>
                </a:lnTo>
                <a:lnTo>
                  <a:pt x="45839" y="165675"/>
                </a:lnTo>
                <a:lnTo>
                  <a:pt x="43281" y="135614"/>
                </a:lnTo>
                <a:lnTo>
                  <a:pt x="35689" y="107394"/>
                </a:lnTo>
                <a:lnTo>
                  <a:pt x="23185" y="81139"/>
                </a:lnTo>
                <a:lnTo>
                  <a:pt x="5893" y="56971"/>
                </a:lnTo>
                <a:lnTo>
                  <a:pt x="63519" y="0"/>
                </a:lnTo>
                <a:lnTo>
                  <a:pt x="80811" y="24167"/>
                </a:lnTo>
                <a:lnTo>
                  <a:pt x="93315" y="50422"/>
                </a:lnTo>
                <a:lnTo>
                  <a:pt x="100907" y="78642"/>
                </a:lnTo>
                <a:lnTo>
                  <a:pt x="103465" y="108704"/>
                </a:lnTo>
                <a:lnTo>
                  <a:pt x="100631" y="142090"/>
                </a:lnTo>
                <a:lnTo>
                  <a:pt x="92087" y="172469"/>
                </a:lnTo>
                <a:lnTo>
                  <a:pt x="77772" y="199778"/>
                </a:lnTo>
                <a:lnTo>
                  <a:pt x="57626" y="223956"/>
                </a:lnTo>
                <a:lnTo>
                  <a:pt x="43557" y="237646"/>
                </a:lnTo>
                <a:lnTo>
                  <a:pt x="0" y="280927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7013436" y="2651760"/>
            <a:ext cx="214789" cy="171569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7132617" y="2848212"/>
            <a:ext cx="227230" cy="11394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839902" y="2905839"/>
            <a:ext cx="350520" cy="56515"/>
          </a:xfrm>
          <a:custGeom>
            <a:avLst/>
            <a:gdLst/>
            <a:ahLst/>
            <a:cxnLst/>
            <a:rect l="l" t="t" r="r" b="b"/>
            <a:pathLst>
              <a:path w="350520" h="56514">
                <a:moveTo>
                  <a:pt x="292715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350341" y="0"/>
                </a:lnTo>
                <a:lnTo>
                  <a:pt x="292715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837937" y="2267366"/>
            <a:ext cx="59690" cy="695325"/>
          </a:xfrm>
          <a:custGeom>
            <a:avLst/>
            <a:gdLst/>
            <a:ahLst/>
            <a:cxnLst/>
            <a:rect l="l" t="t" r="r" b="b"/>
            <a:pathLst>
              <a:path w="59690" h="695325">
                <a:moveTo>
                  <a:pt x="1964" y="694789"/>
                </a:moveTo>
                <a:lnTo>
                  <a:pt x="0" y="56971"/>
                </a:lnTo>
                <a:lnTo>
                  <a:pt x="57626" y="0"/>
                </a:lnTo>
                <a:lnTo>
                  <a:pt x="59590" y="638472"/>
                </a:lnTo>
                <a:lnTo>
                  <a:pt x="1964" y="694789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7467897" y="2324338"/>
            <a:ext cx="361315" cy="638175"/>
          </a:xfrm>
          <a:custGeom>
            <a:avLst/>
            <a:gdLst/>
            <a:ahLst/>
            <a:cxnLst/>
            <a:rect l="l" t="t" r="r" b="b"/>
            <a:pathLst>
              <a:path w="361315" h="638175">
                <a:moveTo>
                  <a:pt x="360818" y="637817"/>
                </a:moveTo>
                <a:lnTo>
                  <a:pt x="1309" y="637817"/>
                </a:lnTo>
                <a:lnTo>
                  <a:pt x="0" y="0"/>
                </a:lnTo>
                <a:lnTo>
                  <a:pt x="174188" y="0"/>
                </a:lnTo>
                <a:lnTo>
                  <a:pt x="175498" y="498990"/>
                </a:lnTo>
                <a:lnTo>
                  <a:pt x="360818" y="498990"/>
                </a:lnTo>
                <a:lnTo>
                  <a:pt x="360818" y="637817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7467897" y="2267366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09" h="57150">
                <a:moveTo>
                  <a:pt x="174188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828716" y="2766357"/>
            <a:ext cx="57785" cy="196215"/>
          </a:xfrm>
          <a:custGeom>
            <a:avLst/>
            <a:gdLst/>
            <a:ahLst/>
            <a:cxnLst/>
            <a:rect l="l" t="t" r="r" b="b"/>
            <a:pathLst>
              <a:path w="57784" h="196214">
                <a:moveTo>
                  <a:pt x="0" y="195798"/>
                </a:moveTo>
                <a:lnTo>
                  <a:pt x="0" y="56971"/>
                </a:lnTo>
                <a:lnTo>
                  <a:pt x="57626" y="0"/>
                </a:lnTo>
                <a:lnTo>
                  <a:pt x="57626" y="139481"/>
                </a:lnTo>
                <a:lnTo>
                  <a:pt x="0" y="195798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642086" y="2267366"/>
            <a:ext cx="59055" cy="556260"/>
          </a:xfrm>
          <a:custGeom>
            <a:avLst/>
            <a:gdLst/>
            <a:ahLst/>
            <a:cxnLst/>
            <a:rect l="l" t="t" r="r" b="b"/>
            <a:pathLst>
              <a:path w="59054" h="556260">
                <a:moveTo>
                  <a:pt x="1309" y="555962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498990"/>
                </a:lnTo>
                <a:lnTo>
                  <a:pt x="1309" y="555962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7643395" y="2766357"/>
            <a:ext cx="243204" cy="57150"/>
          </a:xfrm>
          <a:custGeom>
            <a:avLst/>
            <a:gdLst/>
            <a:ahLst/>
            <a:cxnLst/>
            <a:rect l="l" t="t" r="r" b="b"/>
            <a:pathLst>
              <a:path w="243204" h="57150">
                <a:moveTo>
                  <a:pt x="185320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42947" y="0"/>
                </a:lnTo>
                <a:lnTo>
                  <a:pt x="185320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469207" y="2905839"/>
            <a:ext cx="417195" cy="56515"/>
          </a:xfrm>
          <a:custGeom>
            <a:avLst/>
            <a:gdLst/>
            <a:ahLst/>
            <a:cxnLst/>
            <a:rect l="l" t="t" r="r" b="b"/>
            <a:pathLst>
              <a:path w="417195" h="56514">
                <a:moveTo>
                  <a:pt x="359509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417135" y="0"/>
                </a:lnTo>
                <a:lnTo>
                  <a:pt x="359509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467897" y="2267366"/>
            <a:ext cx="59055" cy="695325"/>
          </a:xfrm>
          <a:custGeom>
            <a:avLst/>
            <a:gdLst/>
            <a:ahLst/>
            <a:cxnLst/>
            <a:rect l="l" t="t" r="r" b="b"/>
            <a:pathLst>
              <a:path w="59054" h="695325">
                <a:moveTo>
                  <a:pt x="1309" y="694789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638472"/>
                </a:lnTo>
                <a:lnTo>
                  <a:pt x="1309" y="694789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7927598" y="2322373"/>
            <a:ext cx="396875" cy="640080"/>
          </a:xfrm>
          <a:custGeom>
            <a:avLst/>
            <a:gdLst/>
            <a:ahLst/>
            <a:cxnLst/>
            <a:rect l="l" t="t" r="r" b="b"/>
            <a:pathLst>
              <a:path w="396875" h="640080">
                <a:moveTo>
                  <a:pt x="396835" y="639782"/>
                </a:moveTo>
                <a:lnTo>
                  <a:pt x="1309" y="639782"/>
                </a:lnTo>
                <a:lnTo>
                  <a:pt x="0" y="0"/>
                </a:lnTo>
                <a:lnTo>
                  <a:pt x="395525" y="0"/>
                </a:lnTo>
                <a:lnTo>
                  <a:pt x="395525" y="139481"/>
                </a:lnTo>
                <a:lnTo>
                  <a:pt x="174843" y="139481"/>
                </a:lnTo>
                <a:lnTo>
                  <a:pt x="174843" y="244911"/>
                </a:lnTo>
                <a:lnTo>
                  <a:pt x="369986" y="244911"/>
                </a:lnTo>
                <a:lnTo>
                  <a:pt x="369986" y="384393"/>
                </a:lnTo>
                <a:lnTo>
                  <a:pt x="175498" y="384393"/>
                </a:lnTo>
                <a:lnTo>
                  <a:pt x="175498" y="500955"/>
                </a:lnTo>
                <a:lnTo>
                  <a:pt x="396835" y="500955"/>
                </a:lnTo>
                <a:lnTo>
                  <a:pt x="396835" y="639782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8323123" y="2265402"/>
            <a:ext cx="57785" cy="196850"/>
          </a:xfrm>
          <a:custGeom>
            <a:avLst/>
            <a:gdLst/>
            <a:ahLst/>
            <a:cxnLst/>
            <a:rect l="l" t="t" r="r" b="b"/>
            <a:pathLst>
              <a:path w="57784" h="196850">
                <a:moveTo>
                  <a:pt x="0" y="196453"/>
                </a:moveTo>
                <a:lnTo>
                  <a:pt x="0" y="56971"/>
                </a:lnTo>
                <a:lnTo>
                  <a:pt x="57626" y="0"/>
                </a:lnTo>
                <a:lnTo>
                  <a:pt x="57626" y="139481"/>
                </a:lnTo>
                <a:lnTo>
                  <a:pt x="0" y="196453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8102441" y="2404883"/>
            <a:ext cx="278765" cy="57150"/>
          </a:xfrm>
          <a:custGeom>
            <a:avLst/>
            <a:gdLst/>
            <a:ahLst/>
            <a:cxnLst/>
            <a:rect l="l" t="t" r="r" b="b"/>
            <a:pathLst>
              <a:path w="278765" h="57150">
                <a:moveTo>
                  <a:pt x="220682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78308" y="0"/>
                </a:lnTo>
                <a:lnTo>
                  <a:pt x="220682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7927598" y="2265402"/>
            <a:ext cx="453390" cy="57150"/>
          </a:xfrm>
          <a:custGeom>
            <a:avLst/>
            <a:gdLst/>
            <a:ahLst/>
            <a:cxnLst/>
            <a:rect l="l" t="t" r="r" b="b"/>
            <a:pathLst>
              <a:path w="453390" h="57150">
                <a:moveTo>
                  <a:pt x="395525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453151" y="0"/>
                </a:lnTo>
                <a:lnTo>
                  <a:pt x="395525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8102441" y="2404883"/>
            <a:ext cx="252769" cy="30188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8324433" y="2766357"/>
            <a:ext cx="57785" cy="196215"/>
          </a:xfrm>
          <a:custGeom>
            <a:avLst/>
            <a:gdLst/>
            <a:ahLst/>
            <a:cxnLst/>
            <a:rect l="l" t="t" r="r" b="b"/>
            <a:pathLst>
              <a:path w="57784" h="196214">
                <a:moveTo>
                  <a:pt x="0" y="195798"/>
                </a:moveTo>
                <a:lnTo>
                  <a:pt x="0" y="56971"/>
                </a:lnTo>
                <a:lnTo>
                  <a:pt x="57625" y="0"/>
                </a:lnTo>
                <a:lnTo>
                  <a:pt x="57625" y="139481"/>
                </a:lnTo>
                <a:lnTo>
                  <a:pt x="0" y="195798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8103096" y="2766357"/>
            <a:ext cx="279400" cy="57150"/>
          </a:xfrm>
          <a:custGeom>
            <a:avLst/>
            <a:gdLst/>
            <a:ahLst/>
            <a:cxnLst/>
            <a:rect l="l" t="t" r="r" b="b"/>
            <a:pathLst>
              <a:path w="279400" h="57150">
                <a:moveTo>
                  <a:pt x="221337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78963" y="0"/>
                </a:lnTo>
                <a:lnTo>
                  <a:pt x="221337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8103096" y="2649795"/>
            <a:ext cx="57785" cy="173990"/>
          </a:xfrm>
          <a:custGeom>
            <a:avLst/>
            <a:gdLst/>
            <a:ahLst/>
            <a:cxnLst/>
            <a:rect l="l" t="t" r="r" b="b"/>
            <a:pathLst>
              <a:path w="57784" h="173989">
                <a:moveTo>
                  <a:pt x="0" y="173533"/>
                </a:moveTo>
                <a:lnTo>
                  <a:pt x="0" y="56971"/>
                </a:lnTo>
                <a:lnTo>
                  <a:pt x="57626" y="0"/>
                </a:lnTo>
                <a:lnTo>
                  <a:pt x="57626" y="116562"/>
                </a:lnTo>
                <a:lnTo>
                  <a:pt x="0" y="173533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7928908" y="2905839"/>
            <a:ext cx="453390" cy="56515"/>
          </a:xfrm>
          <a:custGeom>
            <a:avLst/>
            <a:gdLst/>
            <a:ahLst/>
            <a:cxnLst/>
            <a:rect l="l" t="t" r="r" b="b"/>
            <a:pathLst>
              <a:path w="453390" h="56514">
                <a:moveTo>
                  <a:pt x="395525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453151" y="0"/>
                </a:lnTo>
                <a:lnTo>
                  <a:pt x="395525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7927598" y="2265402"/>
            <a:ext cx="59055" cy="697230"/>
          </a:xfrm>
          <a:custGeom>
            <a:avLst/>
            <a:gdLst/>
            <a:ahLst/>
            <a:cxnLst/>
            <a:rect l="l" t="t" r="r" b="b"/>
            <a:pathLst>
              <a:path w="59054" h="697230">
                <a:moveTo>
                  <a:pt x="1309" y="696753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640437"/>
                </a:lnTo>
                <a:lnTo>
                  <a:pt x="1309" y="696753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008358" y="3466385"/>
            <a:ext cx="57785" cy="349885"/>
          </a:xfrm>
          <a:custGeom>
            <a:avLst/>
            <a:gdLst/>
            <a:ahLst/>
            <a:cxnLst/>
            <a:rect l="l" t="t" r="r" b="b"/>
            <a:pathLst>
              <a:path w="57785" h="349885">
                <a:moveTo>
                  <a:pt x="654" y="349686"/>
                </a:moveTo>
                <a:lnTo>
                  <a:pt x="0" y="56316"/>
                </a:lnTo>
                <a:lnTo>
                  <a:pt x="56971" y="0"/>
                </a:lnTo>
                <a:lnTo>
                  <a:pt x="57626" y="292715"/>
                </a:lnTo>
                <a:lnTo>
                  <a:pt x="654" y="34968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464837" y="3177599"/>
            <a:ext cx="718820" cy="638810"/>
          </a:xfrm>
          <a:custGeom>
            <a:avLst/>
            <a:gdLst/>
            <a:ahLst/>
            <a:cxnLst/>
            <a:rect l="l" t="t" r="r" b="b"/>
            <a:pathLst>
              <a:path w="718820" h="638810">
                <a:moveTo>
                  <a:pt x="175498" y="638472"/>
                </a:moveTo>
                <a:lnTo>
                  <a:pt x="1309" y="638472"/>
                </a:lnTo>
                <a:lnTo>
                  <a:pt x="0" y="0"/>
                </a:lnTo>
                <a:lnTo>
                  <a:pt x="191869" y="0"/>
                </a:lnTo>
                <a:lnTo>
                  <a:pt x="335990" y="345102"/>
                </a:lnTo>
                <a:lnTo>
                  <a:pt x="174843" y="345102"/>
                </a:lnTo>
                <a:lnTo>
                  <a:pt x="175498" y="638472"/>
                </a:lnTo>
                <a:close/>
              </a:path>
              <a:path w="718820" h="638810">
                <a:moveTo>
                  <a:pt x="520515" y="401419"/>
                </a:moveTo>
                <a:lnTo>
                  <a:pt x="359509" y="401419"/>
                </a:lnTo>
                <a:lnTo>
                  <a:pt x="525184" y="0"/>
                </a:lnTo>
                <a:lnTo>
                  <a:pt x="717053" y="0"/>
                </a:lnTo>
                <a:lnTo>
                  <a:pt x="717761" y="345102"/>
                </a:lnTo>
                <a:lnTo>
                  <a:pt x="543520" y="345102"/>
                </a:lnTo>
                <a:lnTo>
                  <a:pt x="520515" y="401419"/>
                </a:lnTo>
                <a:close/>
              </a:path>
              <a:path w="718820" h="638810">
                <a:moveTo>
                  <a:pt x="423683" y="638472"/>
                </a:moveTo>
                <a:lnTo>
                  <a:pt x="295989" y="638472"/>
                </a:lnTo>
                <a:lnTo>
                  <a:pt x="174843" y="345102"/>
                </a:lnTo>
                <a:lnTo>
                  <a:pt x="335990" y="345102"/>
                </a:lnTo>
                <a:lnTo>
                  <a:pt x="359509" y="401419"/>
                </a:lnTo>
                <a:lnTo>
                  <a:pt x="520515" y="401419"/>
                </a:lnTo>
                <a:lnTo>
                  <a:pt x="423683" y="638472"/>
                </a:lnTo>
                <a:close/>
              </a:path>
              <a:path w="718820" h="638810">
                <a:moveTo>
                  <a:pt x="718363" y="638472"/>
                </a:moveTo>
                <a:lnTo>
                  <a:pt x="544175" y="638472"/>
                </a:lnTo>
                <a:lnTo>
                  <a:pt x="543520" y="345102"/>
                </a:lnTo>
                <a:lnTo>
                  <a:pt x="717761" y="345102"/>
                </a:lnTo>
                <a:lnTo>
                  <a:pt x="718363" y="638472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990022" y="3120628"/>
            <a:ext cx="249554" cy="57150"/>
          </a:xfrm>
          <a:custGeom>
            <a:avLst/>
            <a:gdLst/>
            <a:ahLst/>
            <a:cxnLst/>
            <a:rect l="l" t="t" r="r" b="b"/>
            <a:pathLst>
              <a:path w="249554" h="57150">
                <a:moveTo>
                  <a:pt x="191869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49495" y="0"/>
                </a:lnTo>
                <a:lnTo>
                  <a:pt x="191869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4181891" y="3120628"/>
            <a:ext cx="59055" cy="695960"/>
          </a:xfrm>
          <a:custGeom>
            <a:avLst/>
            <a:gdLst/>
            <a:ahLst/>
            <a:cxnLst/>
            <a:rect l="l" t="t" r="r" b="b"/>
            <a:pathLst>
              <a:path w="59054" h="695960">
                <a:moveTo>
                  <a:pt x="1309" y="695444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638472"/>
                </a:lnTo>
                <a:lnTo>
                  <a:pt x="1309" y="695444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464837" y="3120628"/>
            <a:ext cx="249554" cy="57150"/>
          </a:xfrm>
          <a:custGeom>
            <a:avLst/>
            <a:gdLst/>
            <a:ahLst/>
            <a:cxnLst/>
            <a:rect l="l" t="t" r="r" b="b"/>
            <a:pathLst>
              <a:path w="249554" h="57150">
                <a:moveTo>
                  <a:pt x="191869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49495" y="0"/>
                </a:lnTo>
                <a:lnTo>
                  <a:pt x="191869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824347" y="3120628"/>
            <a:ext cx="223520" cy="458470"/>
          </a:xfrm>
          <a:custGeom>
            <a:avLst/>
            <a:gdLst/>
            <a:ahLst/>
            <a:cxnLst/>
            <a:rect l="l" t="t" r="r" b="b"/>
            <a:pathLst>
              <a:path w="223520" h="458470">
                <a:moveTo>
                  <a:pt x="0" y="458390"/>
                </a:moveTo>
                <a:lnTo>
                  <a:pt x="165675" y="56971"/>
                </a:lnTo>
                <a:lnTo>
                  <a:pt x="223301" y="0"/>
                </a:lnTo>
                <a:lnTo>
                  <a:pt x="57626" y="401419"/>
                </a:lnTo>
                <a:lnTo>
                  <a:pt x="0" y="458390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656707" y="3120628"/>
            <a:ext cx="225425" cy="458470"/>
          </a:xfrm>
          <a:custGeom>
            <a:avLst/>
            <a:gdLst/>
            <a:ahLst/>
            <a:cxnLst/>
            <a:rect l="l" t="t" r="r" b="b"/>
            <a:pathLst>
              <a:path w="225425" h="458470">
                <a:moveTo>
                  <a:pt x="167640" y="458390"/>
                </a:moveTo>
                <a:lnTo>
                  <a:pt x="0" y="56971"/>
                </a:lnTo>
                <a:lnTo>
                  <a:pt x="57626" y="0"/>
                </a:lnTo>
                <a:lnTo>
                  <a:pt x="225266" y="401419"/>
                </a:lnTo>
                <a:lnTo>
                  <a:pt x="167640" y="458390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4009013" y="3759100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10" h="57150">
                <a:moveTo>
                  <a:pt x="174188" y="56971"/>
                </a:moveTo>
                <a:lnTo>
                  <a:pt x="0" y="56971"/>
                </a:lnTo>
                <a:lnTo>
                  <a:pt x="56971" y="0"/>
                </a:lnTo>
                <a:lnTo>
                  <a:pt x="231814" y="0"/>
                </a:lnTo>
                <a:lnTo>
                  <a:pt x="17418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888521" y="3466385"/>
            <a:ext cx="177165" cy="349885"/>
          </a:xfrm>
          <a:custGeom>
            <a:avLst/>
            <a:gdLst/>
            <a:ahLst/>
            <a:cxnLst/>
            <a:rect l="l" t="t" r="r" b="b"/>
            <a:pathLst>
              <a:path w="177164" h="349885">
                <a:moveTo>
                  <a:pt x="0" y="349686"/>
                </a:moveTo>
                <a:lnTo>
                  <a:pt x="119836" y="56316"/>
                </a:lnTo>
                <a:lnTo>
                  <a:pt x="176807" y="0"/>
                </a:lnTo>
                <a:lnTo>
                  <a:pt x="57626" y="292715"/>
                </a:lnTo>
                <a:lnTo>
                  <a:pt x="0" y="34968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760827" y="3759100"/>
            <a:ext cx="185420" cy="57150"/>
          </a:xfrm>
          <a:custGeom>
            <a:avLst/>
            <a:gdLst/>
            <a:ahLst/>
            <a:cxnLst/>
            <a:rect l="l" t="t" r="r" b="b"/>
            <a:pathLst>
              <a:path w="185420" h="57150">
                <a:moveTo>
                  <a:pt x="127694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185320" y="0"/>
                </a:lnTo>
                <a:lnTo>
                  <a:pt x="127694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639680" y="3466385"/>
            <a:ext cx="179070" cy="349885"/>
          </a:xfrm>
          <a:custGeom>
            <a:avLst/>
            <a:gdLst/>
            <a:ahLst/>
            <a:cxnLst/>
            <a:rect l="l" t="t" r="r" b="b"/>
            <a:pathLst>
              <a:path w="179070" h="349885">
                <a:moveTo>
                  <a:pt x="121146" y="349686"/>
                </a:moveTo>
                <a:lnTo>
                  <a:pt x="0" y="56316"/>
                </a:lnTo>
                <a:lnTo>
                  <a:pt x="57626" y="0"/>
                </a:lnTo>
                <a:lnTo>
                  <a:pt x="178772" y="292715"/>
                </a:lnTo>
                <a:lnTo>
                  <a:pt x="121146" y="349686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639680" y="3466385"/>
            <a:ext cx="58419" cy="349885"/>
          </a:xfrm>
          <a:custGeom>
            <a:avLst/>
            <a:gdLst/>
            <a:ahLst/>
            <a:cxnLst/>
            <a:rect l="l" t="t" r="r" b="b"/>
            <a:pathLst>
              <a:path w="58420" h="349885">
                <a:moveTo>
                  <a:pt x="654" y="349686"/>
                </a:moveTo>
                <a:lnTo>
                  <a:pt x="0" y="56316"/>
                </a:lnTo>
                <a:lnTo>
                  <a:pt x="57626" y="0"/>
                </a:lnTo>
                <a:lnTo>
                  <a:pt x="58281" y="292715"/>
                </a:lnTo>
                <a:lnTo>
                  <a:pt x="654" y="34968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3464837" y="3120628"/>
            <a:ext cx="59055" cy="695960"/>
          </a:xfrm>
          <a:custGeom>
            <a:avLst/>
            <a:gdLst/>
            <a:ahLst/>
            <a:cxnLst/>
            <a:rect l="l" t="t" r="r" b="b"/>
            <a:pathLst>
              <a:path w="59054" h="695960">
                <a:moveTo>
                  <a:pt x="1309" y="695444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638472"/>
                </a:lnTo>
                <a:lnTo>
                  <a:pt x="1309" y="695444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3466147" y="3759100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10" h="57150">
                <a:moveTo>
                  <a:pt x="174188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4956572" y="3169086"/>
            <a:ext cx="636270" cy="652780"/>
          </a:xfrm>
          <a:custGeom>
            <a:avLst/>
            <a:gdLst/>
            <a:ahLst/>
            <a:cxnLst/>
            <a:rect l="l" t="t" r="r" b="b"/>
            <a:pathLst>
              <a:path w="636270" h="652779">
                <a:moveTo>
                  <a:pt x="326766" y="652224"/>
                </a:moveTo>
                <a:lnTo>
                  <a:pt x="274059" y="648531"/>
                </a:lnTo>
                <a:lnTo>
                  <a:pt x="224464" y="637451"/>
                </a:lnTo>
                <a:lnTo>
                  <a:pt x="178106" y="618984"/>
                </a:lnTo>
                <a:lnTo>
                  <a:pt x="135112" y="593131"/>
                </a:lnTo>
                <a:lnTo>
                  <a:pt x="95607" y="559891"/>
                </a:lnTo>
                <a:lnTo>
                  <a:pt x="61586" y="520931"/>
                </a:lnTo>
                <a:lnTo>
                  <a:pt x="34984" y="477978"/>
                </a:lnTo>
                <a:lnTo>
                  <a:pt x="15831" y="431128"/>
                </a:lnTo>
                <a:lnTo>
                  <a:pt x="4159" y="380474"/>
                </a:lnTo>
                <a:lnTo>
                  <a:pt x="0" y="326112"/>
                </a:lnTo>
                <a:lnTo>
                  <a:pt x="3771" y="271687"/>
                </a:lnTo>
                <a:lnTo>
                  <a:pt x="15087" y="220907"/>
                </a:lnTo>
                <a:lnTo>
                  <a:pt x="33947" y="173963"/>
                </a:lnTo>
                <a:lnTo>
                  <a:pt x="60350" y="131042"/>
                </a:lnTo>
                <a:lnTo>
                  <a:pt x="94297" y="92333"/>
                </a:lnTo>
                <a:lnTo>
                  <a:pt x="134441" y="59093"/>
                </a:lnTo>
                <a:lnTo>
                  <a:pt x="177823" y="33239"/>
                </a:lnTo>
                <a:lnTo>
                  <a:pt x="224380" y="14773"/>
                </a:lnTo>
                <a:lnTo>
                  <a:pt x="274048" y="3693"/>
                </a:lnTo>
                <a:lnTo>
                  <a:pt x="326766" y="0"/>
                </a:lnTo>
                <a:lnTo>
                  <a:pt x="378048" y="3550"/>
                </a:lnTo>
                <a:lnTo>
                  <a:pt x="426630" y="14161"/>
                </a:lnTo>
                <a:lnTo>
                  <a:pt x="472264" y="31770"/>
                </a:lnTo>
                <a:lnTo>
                  <a:pt x="514706" y="56316"/>
                </a:lnTo>
                <a:lnTo>
                  <a:pt x="552892" y="87217"/>
                </a:lnTo>
                <a:lnTo>
                  <a:pt x="584938" y="123765"/>
                </a:lnTo>
                <a:lnTo>
                  <a:pt x="608798" y="162401"/>
                </a:lnTo>
                <a:lnTo>
                  <a:pt x="328731" y="162401"/>
                </a:lnTo>
                <a:lnTo>
                  <a:pt x="295047" y="165112"/>
                </a:lnTo>
                <a:lnTo>
                  <a:pt x="239958" y="186988"/>
                </a:lnTo>
                <a:lnTo>
                  <a:pt x="200391" y="230341"/>
                </a:lnTo>
                <a:lnTo>
                  <a:pt x="180030" y="290259"/>
                </a:lnTo>
                <a:lnTo>
                  <a:pt x="177462" y="326112"/>
                </a:lnTo>
                <a:lnTo>
                  <a:pt x="180030" y="361688"/>
                </a:lnTo>
                <a:lnTo>
                  <a:pt x="200391" y="421791"/>
                </a:lnTo>
                <a:lnTo>
                  <a:pt x="240061" y="465235"/>
                </a:lnTo>
                <a:lnTo>
                  <a:pt x="295600" y="487111"/>
                </a:lnTo>
                <a:lnTo>
                  <a:pt x="329385" y="489823"/>
                </a:lnTo>
                <a:lnTo>
                  <a:pt x="608537" y="489823"/>
                </a:lnTo>
                <a:lnTo>
                  <a:pt x="584857" y="528459"/>
                </a:lnTo>
                <a:lnTo>
                  <a:pt x="552882" y="565007"/>
                </a:lnTo>
                <a:lnTo>
                  <a:pt x="514707" y="595908"/>
                </a:lnTo>
                <a:lnTo>
                  <a:pt x="472265" y="620454"/>
                </a:lnTo>
                <a:lnTo>
                  <a:pt x="426630" y="638063"/>
                </a:lnTo>
                <a:lnTo>
                  <a:pt x="378049" y="648674"/>
                </a:lnTo>
                <a:lnTo>
                  <a:pt x="326766" y="652224"/>
                </a:lnTo>
                <a:close/>
              </a:path>
              <a:path w="636270" h="652779">
                <a:moveTo>
                  <a:pt x="635852" y="229850"/>
                </a:moveTo>
                <a:lnTo>
                  <a:pt x="432851" y="229850"/>
                </a:lnTo>
                <a:lnTo>
                  <a:pt x="428922" y="222646"/>
                </a:lnTo>
                <a:lnTo>
                  <a:pt x="410965" y="196105"/>
                </a:lnTo>
                <a:lnTo>
                  <a:pt x="388403" y="177299"/>
                </a:lnTo>
                <a:lnTo>
                  <a:pt x="361053" y="166105"/>
                </a:lnTo>
                <a:lnTo>
                  <a:pt x="328731" y="162401"/>
                </a:lnTo>
                <a:lnTo>
                  <a:pt x="608798" y="162401"/>
                </a:lnTo>
                <a:lnTo>
                  <a:pt x="610845" y="165716"/>
                </a:lnTo>
                <a:lnTo>
                  <a:pt x="630614" y="212824"/>
                </a:lnTo>
                <a:lnTo>
                  <a:pt x="635852" y="229850"/>
                </a:lnTo>
                <a:close/>
              </a:path>
              <a:path w="636270" h="652779">
                <a:moveTo>
                  <a:pt x="608537" y="489823"/>
                </a:moveTo>
                <a:lnTo>
                  <a:pt x="329385" y="489823"/>
                </a:lnTo>
                <a:lnTo>
                  <a:pt x="361606" y="486119"/>
                </a:lnTo>
                <a:lnTo>
                  <a:pt x="388731" y="474925"/>
                </a:lnTo>
                <a:lnTo>
                  <a:pt x="411067" y="456119"/>
                </a:lnTo>
                <a:lnTo>
                  <a:pt x="428922" y="429577"/>
                </a:lnTo>
                <a:lnTo>
                  <a:pt x="432196" y="422374"/>
                </a:lnTo>
                <a:lnTo>
                  <a:pt x="635198" y="422374"/>
                </a:lnTo>
                <a:lnTo>
                  <a:pt x="629959" y="439400"/>
                </a:lnTo>
                <a:lnTo>
                  <a:pt x="610569" y="486508"/>
                </a:lnTo>
                <a:lnTo>
                  <a:pt x="608537" y="489823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5587841" y="3324939"/>
            <a:ext cx="62865" cy="74295"/>
          </a:xfrm>
          <a:custGeom>
            <a:avLst/>
            <a:gdLst/>
            <a:ahLst/>
            <a:cxnLst/>
            <a:rect l="l" t="t" r="r" b="b"/>
            <a:pathLst>
              <a:path w="62864" h="74295">
                <a:moveTo>
                  <a:pt x="5238" y="73997"/>
                </a:moveTo>
                <a:lnTo>
                  <a:pt x="0" y="56971"/>
                </a:lnTo>
                <a:lnTo>
                  <a:pt x="57626" y="0"/>
                </a:lnTo>
                <a:lnTo>
                  <a:pt x="62864" y="17025"/>
                </a:lnTo>
                <a:lnTo>
                  <a:pt x="5238" y="73997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5283339" y="3112115"/>
            <a:ext cx="361950" cy="269875"/>
          </a:xfrm>
          <a:custGeom>
            <a:avLst/>
            <a:gdLst/>
            <a:ahLst/>
            <a:cxnLst/>
            <a:rect l="l" t="t" r="r" b="b"/>
            <a:pathLst>
              <a:path w="361950" h="269875">
                <a:moveTo>
                  <a:pt x="303847" y="269795"/>
                </a:moveTo>
                <a:lnTo>
                  <a:pt x="284355" y="222687"/>
                </a:lnTo>
                <a:lnTo>
                  <a:pt x="258417" y="180736"/>
                </a:lnTo>
                <a:lnTo>
                  <a:pt x="226218" y="144188"/>
                </a:lnTo>
                <a:lnTo>
                  <a:pt x="187940" y="113287"/>
                </a:lnTo>
                <a:lnTo>
                  <a:pt x="145221" y="88741"/>
                </a:lnTo>
                <a:lnTo>
                  <a:pt x="99618" y="71132"/>
                </a:lnTo>
                <a:lnTo>
                  <a:pt x="51190" y="60521"/>
                </a:lnTo>
                <a:lnTo>
                  <a:pt x="0" y="56971"/>
                </a:lnTo>
                <a:lnTo>
                  <a:pt x="57626" y="0"/>
                </a:lnTo>
                <a:lnTo>
                  <a:pt x="108908" y="3550"/>
                </a:lnTo>
                <a:lnTo>
                  <a:pt x="157489" y="14160"/>
                </a:lnTo>
                <a:lnTo>
                  <a:pt x="203124" y="31770"/>
                </a:lnTo>
                <a:lnTo>
                  <a:pt x="245566" y="56316"/>
                </a:lnTo>
                <a:lnTo>
                  <a:pt x="283752" y="87217"/>
                </a:lnTo>
                <a:lnTo>
                  <a:pt x="315798" y="123765"/>
                </a:lnTo>
                <a:lnTo>
                  <a:pt x="341705" y="165716"/>
                </a:lnTo>
                <a:lnTo>
                  <a:pt x="361473" y="212824"/>
                </a:lnTo>
                <a:lnTo>
                  <a:pt x="303847" y="269795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5390078" y="3341965"/>
            <a:ext cx="260985" cy="57150"/>
          </a:xfrm>
          <a:custGeom>
            <a:avLst/>
            <a:gdLst/>
            <a:ahLst/>
            <a:cxnLst/>
            <a:rect l="l" t="t" r="r" b="b"/>
            <a:pathLst>
              <a:path w="260985" h="57150">
                <a:moveTo>
                  <a:pt x="203001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60627" y="0"/>
                </a:lnTo>
                <a:lnTo>
                  <a:pt x="203001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5587841" y="3534489"/>
            <a:ext cx="64135" cy="73660"/>
          </a:xfrm>
          <a:custGeom>
            <a:avLst/>
            <a:gdLst/>
            <a:ahLst/>
            <a:cxnLst/>
            <a:rect l="l" t="t" r="r" b="b"/>
            <a:pathLst>
              <a:path w="64135" h="73660">
                <a:moveTo>
                  <a:pt x="0" y="73342"/>
                </a:moveTo>
                <a:lnTo>
                  <a:pt x="5893" y="56971"/>
                </a:lnTo>
                <a:lnTo>
                  <a:pt x="63519" y="0"/>
                </a:lnTo>
                <a:lnTo>
                  <a:pt x="57626" y="17025"/>
                </a:lnTo>
                <a:lnTo>
                  <a:pt x="0" y="73342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5179873" y="3274516"/>
            <a:ext cx="267830" cy="12442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5390733" y="3534489"/>
            <a:ext cx="260985" cy="57150"/>
          </a:xfrm>
          <a:custGeom>
            <a:avLst/>
            <a:gdLst/>
            <a:ahLst/>
            <a:cxnLst/>
            <a:rect l="l" t="t" r="r" b="b"/>
            <a:pathLst>
              <a:path w="260985" h="57150">
                <a:moveTo>
                  <a:pt x="203001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60627" y="0"/>
                </a:lnTo>
                <a:lnTo>
                  <a:pt x="203001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386804" y="3534489"/>
            <a:ext cx="61594" cy="64135"/>
          </a:xfrm>
          <a:custGeom>
            <a:avLst/>
            <a:gdLst/>
            <a:ahLst/>
            <a:cxnLst/>
            <a:rect l="l" t="t" r="r" b="b"/>
            <a:pathLst>
              <a:path w="61595" h="64135">
                <a:moveTo>
                  <a:pt x="0" y="63519"/>
                </a:moveTo>
                <a:lnTo>
                  <a:pt x="3928" y="56971"/>
                </a:lnTo>
                <a:lnTo>
                  <a:pt x="61555" y="0"/>
                </a:lnTo>
                <a:lnTo>
                  <a:pt x="57626" y="6548"/>
                </a:lnTo>
                <a:lnTo>
                  <a:pt x="0" y="63519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052833" y="3112115"/>
            <a:ext cx="288925" cy="149860"/>
          </a:xfrm>
          <a:custGeom>
            <a:avLst/>
            <a:gdLst/>
            <a:ahLst/>
            <a:cxnLst/>
            <a:rect l="l" t="t" r="r" b="b"/>
            <a:pathLst>
              <a:path w="288925" h="149860">
                <a:moveTo>
                  <a:pt x="0" y="149304"/>
                </a:moveTo>
                <a:lnTo>
                  <a:pt x="43557" y="106023"/>
                </a:lnTo>
                <a:lnTo>
                  <a:pt x="97068" y="59344"/>
                </a:lnTo>
                <a:lnTo>
                  <a:pt x="139937" y="33522"/>
                </a:lnTo>
                <a:lnTo>
                  <a:pt x="186200" y="14961"/>
                </a:lnTo>
                <a:lnTo>
                  <a:pt x="235827" y="3756"/>
                </a:lnTo>
                <a:lnTo>
                  <a:pt x="288785" y="0"/>
                </a:lnTo>
                <a:lnTo>
                  <a:pt x="231159" y="56971"/>
                </a:lnTo>
                <a:lnTo>
                  <a:pt x="178452" y="60664"/>
                </a:lnTo>
                <a:lnTo>
                  <a:pt x="128857" y="71744"/>
                </a:lnTo>
                <a:lnTo>
                  <a:pt x="82499" y="90211"/>
                </a:lnTo>
                <a:lnTo>
                  <a:pt x="39505" y="116064"/>
                </a:lnTo>
                <a:lnTo>
                  <a:pt x="0" y="149304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513189" y="3551515"/>
            <a:ext cx="132278" cy="180082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364539" y="3541037"/>
            <a:ext cx="79891" cy="8840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134689" y="3313152"/>
            <a:ext cx="287020" cy="346075"/>
          </a:xfrm>
          <a:custGeom>
            <a:avLst/>
            <a:gdLst/>
            <a:ahLst/>
            <a:cxnLst/>
            <a:rect l="l" t="t" r="r" b="b"/>
            <a:pathLst>
              <a:path w="287020" h="346075">
                <a:moveTo>
                  <a:pt x="151923" y="345757"/>
                </a:moveTo>
                <a:lnTo>
                  <a:pt x="88649" y="334870"/>
                </a:lnTo>
                <a:lnTo>
                  <a:pt x="40600" y="301883"/>
                </a:lnTo>
                <a:lnTo>
                  <a:pt x="10232" y="249823"/>
                </a:lnTo>
                <a:lnTo>
                  <a:pt x="0" y="182046"/>
                </a:lnTo>
                <a:lnTo>
                  <a:pt x="2568" y="146470"/>
                </a:lnTo>
                <a:lnTo>
                  <a:pt x="10231" y="114515"/>
                </a:lnTo>
                <a:lnTo>
                  <a:pt x="22929" y="86367"/>
                </a:lnTo>
                <a:lnTo>
                  <a:pt x="40600" y="62210"/>
                </a:lnTo>
                <a:lnTo>
                  <a:pt x="41910" y="60245"/>
                </a:lnTo>
                <a:lnTo>
                  <a:pt x="43874" y="58936"/>
                </a:lnTo>
                <a:lnTo>
                  <a:pt x="45839" y="56971"/>
                </a:lnTo>
                <a:lnTo>
                  <a:pt x="59908" y="43281"/>
                </a:lnTo>
                <a:lnTo>
                  <a:pt x="74897" y="28485"/>
                </a:lnTo>
                <a:lnTo>
                  <a:pt x="103465" y="0"/>
                </a:lnTo>
                <a:lnTo>
                  <a:pt x="98226" y="5238"/>
                </a:lnTo>
                <a:lnTo>
                  <a:pt x="80556" y="29304"/>
                </a:lnTo>
                <a:lnTo>
                  <a:pt x="67858" y="57298"/>
                </a:lnTo>
                <a:lnTo>
                  <a:pt x="60194" y="89222"/>
                </a:lnTo>
                <a:lnTo>
                  <a:pt x="57626" y="125075"/>
                </a:lnTo>
                <a:lnTo>
                  <a:pt x="60194" y="160651"/>
                </a:lnTo>
                <a:lnTo>
                  <a:pt x="80555" y="220754"/>
                </a:lnTo>
                <a:lnTo>
                  <a:pt x="120225" y="264198"/>
                </a:lnTo>
                <a:lnTo>
                  <a:pt x="175764" y="286074"/>
                </a:lnTo>
                <a:lnTo>
                  <a:pt x="209550" y="288786"/>
                </a:lnTo>
                <a:lnTo>
                  <a:pt x="257677" y="288786"/>
                </a:lnTo>
                <a:lnTo>
                  <a:pt x="229195" y="316944"/>
                </a:lnTo>
                <a:lnTo>
                  <a:pt x="213346" y="329734"/>
                </a:lnTo>
                <a:lnTo>
                  <a:pt x="195225" y="338718"/>
                </a:lnTo>
                <a:lnTo>
                  <a:pt x="174771" y="344018"/>
                </a:lnTo>
                <a:lnTo>
                  <a:pt x="151923" y="345757"/>
                </a:lnTo>
                <a:close/>
              </a:path>
              <a:path w="287020" h="346075">
                <a:moveTo>
                  <a:pt x="257677" y="288786"/>
                </a:moveTo>
                <a:lnTo>
                  <a:pt x="209550" y="288786"/>
                </a:lnTo>
                <a:lnTo>
                  <a:pt x="232397" y="287046"/>
                </a:lnTo>
                <a:lnTo>
                  <a:pt x="252851" y="281746"/>
                </a:lnTo>
                <a:lnTo>
                  <a:pt x="270972" y="272763"/>
                </a:lnTo>
                <a:lnTo>
                  <a:pt x="286821" y="259973"/>
                </a:lnTo>
                <a:lnTo>
                  <a:pt x="257677" y="28878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4957881" y="3204448"/>
            <a:ext cx="612933" cy="61686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4268330" y="3175634"/>
            <a:ext cx="640715" cy="640080"/>
          </a:xfrm>
          <a:custGeom>
            <a:avLst/>
            <a:gdLst/>
            <a:ahLst/>
            <a:cxnLst/>
            <a:rect l="l" t="t" r="r" b="b"/>
            <a:pathLst>
              <a:path w="640714" h="640079">
                <a:moveTo>
                  <a:pt x="185975" y="639782"/>
                </a:moveTo>
                <a:lnTo>
                  <a:pt x="0" y="639782"/>
                </a:lnTo>
                <a:lnTo>
                  <a:pt x="219372" y="0"/>
                </a:lnTo>
                <a:lnTo>
                  <a:pt x="419100" y="0"/>
                </a:lnTo>
                <a:lnTo>
                  <a:pt x="499977" y="233779"/>
                </a:lnTo>
                <a:lnTo>
                  <a:pt x="318909" y="233779"/>
                </a:lnTo>
                <a:lnTo>
                  <a:pt x="265211" y="398145"/>
                </a:lnTo>
                <a:lnTo>
                  <a:pt x="556841" y="398145"/>
                </a:lnTo>
                <a:lnTo>
                  <a:pt x="604869" y="536971"/>
                </a:lnTo>
                <a:lnTo>
                  <a:pt x="219372" y="536971"/>
                </a:lnTo>
                <a:lnTo>
                  <a:pt x="185975" y="639782"/>
                </a:lnTo>
                <a:close/>
              </a:path>
              <a:path w="640714" h="640079">
                <a:moveTo>
                  <a:pt x="556841" y="398145"/>
                </a:moveTo>
                <a:lnTo>
                  <a:pt x="373916" y="398145"/>
                </a:lnTo>
                <a:lnTo>
                  <a:pt x="318909" y="233779"/>
                </a:lnTo>
                <a:lnTo>
                  <a:pt x="499977" y="233779"/>
                </a:lnTo>
                <a:lnTo>
                  <a:pt x="556841" y="398145"/>
                </a:lnTo>
                <a:close/>
              </a:path>
              <a:path w="640714" h="640079">
                <a:moveTo>
                  <a:pt x="640437" y="639782"/>
                </a:moveTo>
                <a:lnTo>
                  <a:pt x="453806" y="639782"/>
                </a:lnTo>
                <a:lnTo>
                  <a:pt x="419754" y="536971"/>
                </a:lnTo>
                <a:lnTo>
                  <a:pt x="604869" y="536971"/>
                </a:lnTo>
                <a:lnTo>
                  <a:pt x="640437" y="639782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4488358" y="3119318"/>
            <a:ext cx="257175" cy="56515"/>
          </a:xfrm>
          <a:custGeom>
            <a:avLst/>
            <a:gdLst/>
            <a:ahLst/>
            <a:cxnLst/>
            <a:rect l="l" t="t" r="r" b="b"/>
            <a:pathLst>
              <a:path w="257175" h="56514">
                <a:moveTo>
                  <a:pt x="199072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256698" y="0"/>
                </a:lnTo>
                <a:lnTo>
                  <a:pt x="199072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4687430" y="3119318"/>
            <a:ext cx="280035" cy="697230"/>
          </a:xfrm>
          <a:custGeom>
            <a:avLst/>
            <a:gdLst/>
            <a:ahLst/>
            <a:cxnLst/>
            <a:rect l="l" t="t" r="r" b="b"/>
            <a:pathLst>
              <a:path w="280035" h="697229">
                <a:moveTo>
                  <a:pt x="221992" y="696753"/>
                </a:moveTo>
                <a:lnTo>
                  <a:pt x="0" y="56316"/>
                </a:lnTo>
                <a:lnTo>
                  <a:pt x="57626" y="0"/>
                </a:lnTo>
                <a:lnTo>
                  <a:pt x="279618" y="639782"/>
                </a:lnTo>
                <a:lnTo>
                  <a:pt x="221992" y="696753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4533542" y="3352442"/>
            <a:ext cx="166330" cy="22133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4688740" y="3656290"/>
            <a:ext cx="278308" cy="15978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488358" y="3656290"/>
            <a:ext cx="258445" cy="57150"/>
          </a:xfrm>
          <a:custGeom>
            <a:avLst/>
            <a:gdLst/>
            <a:ahLst/>
            <a:cxnLst/>
            <a:rect l="l" t="t" r="r" b="b"/>
            <a:pathLst>
              <a:path w="258445" h="57150">
                <a:moveTo>
                  <a:pt x="200382" y="56971"/>
                </a:moveTo>
                <a:lnTo>
                  <a:pt x="0" y="56971"/>
                </a:lnTo>
                <a:lnTo>
                  <a:pt x="56971" y="0"/>
                </a:lnTo>
                <a:lnTo>
                  <a:pt x="258008" y="0"/>
                </a:lnTo>
                <a:lnTo>
                  <a:pt x="200382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454306" y="3656290"/>
            <a:ext cx="91440" cy="160020"/>
          </a:xfrm>
          <a:custGeom>
            <a:avLst/>
            <a:gdLst/>
            <a:ahLst/>
            <a:cxnLst/>
            <a:rect l="l" t="t" r="r" b="b"/>
            <a:pathLst>
              <a:path w="91439" h="160020">
                <a:moveTo>
                  <a:pt x="0" y="159781"/>
                </a:moveTo>
                <a:lnTo>
                  <a:pt x="34051" y="56971"/>
                </a:lnTo>
                <a:lnTo>
                  <a:pt x="91023" y="0"/>
                </a:lnTo>
                <a:lnTo>
                  <a:pt x="57626" y="102810"/>
                </a:lnTo>
                <a:lnTo>
                  <a:pt x="0" y="15978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268330" y="3119318"/>
            <a:ext cx="278130" cy="697230"/>
          </a:xfrm>
          <a:custGeom>
            <a:avLst/>
            <a:gdLst/>
            <a:ahLst/>
            <a:cxnLst/>
            <a:rect l="l" t="t" r="r" b="b"/>
            <a:pathLst>
              <a:path w="278129" h="697229">
                <a:moveTo>
                  <a:pt x="0" y="696753"/>
                </a:moveTo>
                <a:lnTo>
                  <a:pt x="220027" y="56316"/>
                </a:lnTo>
                <a:lnTo>
                  <a:pt x="277653" y="0"/>
                </a:lnTo>
                <a:lnTo>
                  <a:pt x="57626" y="639782"/>
                </a:lnTo>
                <a:lnTo>
                  <a:pt x="0" y="696753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268330" y="3759100"/>
            <a:ext cx="243840" cy="57150"/>
          </a:xfrm>
          <a:custGeom>
            <a:avLst/>
            <a:gdLst/>
            <a:ahLst/>
            <a:cxnLst/>
            <a:rect l="l" t="t" r="r" b="b"/>
            <a:pathLst>
              <a:path w="243839" h="57150">
                <a:moveTo>
                  <a:pt x="185975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43602" y="0"/>
                </a:lnTo>
                <a:lnTo>
                  <a:pt x="185975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5701129" y="3177599"/>
            <a:ext cx="560070" cy="638810"/>
          </a:xfrm>
          <a:custGeom>
            <a:avLst/>
            <a:gdLst/>
            <a:ahLst/>
            <a:cxnLst/>
            <a:rect l="l" t="t" r="r" b="b"/>
            <a:pathLst>
              <a:path w="560070" h="638810">
                <a:moveTo>
                  <a:pt x="176152" y="638472"/>
                </a:moveTo>
                <a:lnTo>
                  <a:pt x="1309" y="638472"/>
                </a:lnTo>
                <a:lnTo>
                  <a:pt x="0" y="0"/>
                </a:lnTo>
                <a:lnTo>
                  <a:pt x="174188" y="0"/>
                </a:lnTo>
                <a:lnTo>
                  <a:pt x="174843" y="244911"/>
                </a:lnTo>
                <a:lnTo>
                  <a:pt x="559084" y="244911"/>
                </a:lnTo>
                <a:lnTo>
                  <a:pt x="559370" y="384393"/>
                </a:lnTo>
                <a:lnTo>
                  <a:pt x="175498" y="384393"/>
                </a:lnTo>
                <a:lnTo>
                  <a:pt x="176152" y="638472"/>
                </a:lnTo>
                <a:close/>
              </a:path>
              <a:path w="560070" h="638810">
                <a:moveTo>
                  <a:pt x="559084" y="244911"/>
                </a:moveTo>
                <a:lnTo>
                  <a:pt x="385048" y="244911"/>
                </a:lnTo>
                <a:lnTo>
                  <a:pt x="384393" y="0"/>
                </a:lnTo>
                <a:lnTo>
                  <a:pt x="558581" y="0"/>
                </a:lnTo>
                <a:lnTo>
                  <a:pt x="559084" y="244911"/>
                </a:lnTo>
                <a:close/>
              </a:path>
              <a:path w="560070" h="638810">
                <a:moveTo>
                  <a:pt x="559891" y="638472"/>
                </a:moveTo>
                <a:lnTo>
                  <a:pt x="385702" y="638472"/>
                </a:lnTo>
                <a:lnTo>
                  <a:pt x="385048" y="384393"/>
                </a:lnTo>
                <a:lnTo>
                  <a:pt x="559370" y="384393"/>
                </a:lnTo>
                <a:lnTo>
                  <a:pt x="559891" y="638472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6085522" y="3120628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10" h="57150">
                <a:moveTo>
                  <a:pt x="174188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6085522" y="3120628"/>
            <a:ext cx="58419" cy="302260"/>
          </a:xfrm>
          <a:custGeom>
            <a:avLst/>
            <a:gdLst/>
            <a:ahLst/>
            <a:cxnLst/>
            <a:rect l="l" t="t" r="r" b="b"/>
            <a:pathLst>
              <a:path w="58420" h="302260">
                <a:moveTo>
                  <a:pt x="654" y="301883"/>
                </a:moveTo>
                <a:lnTo>
                  <a:pt x="0" y="56971"/>
                </a:lnTo>
                <a:lnTo>
                  <a:pt x="57626" y="0"/>
                </a:lnTo>
                <a:lnTo>
                  <a:pt x="58280" y="245566"/>
                </a:lnTo>
                <a:lnTo>
                  <a:pt x="654" y="301883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5701129" y="3120628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10" h="57150">
                <a:moveTo>
                  <a:pt x="174188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5875972" y="3366194"/>
            <a:ext cx="267970" cy="56515"/>
          </a:xfrm>
          <a:custGeom>
            <a:avLst/>
            <a:gdLst/>
            <a:ahLst/>
            <a:cxnLst/>
            <a:rect l="l" t="t" r="r" b="b"/>
            <a:pathLst>
              <a:path w="267970" h="56514">
                <a:moveTo>
                  <a:pt x="210204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267830" y="0"/>
                </a:lnTo>
                <a:lnTo>
                  <a:pt x="210204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5875317" y="3120628"/>
            <a:ext cx="58419" cy="302260"/>
          </a:xfrm>
          <a:custGeom>
            <a:avLst/>
            <a:gdLst/>
            <a:ahLst/>
            <a:cxnLst/>
            <a:rect l="l" t="t" r="r" b="b"/>
            <a:pathLst>
              <a:path w="58420" h="302260">
                <a:moveTo>
                  <a:pt x="655" y="301883"/>
                </a:moveTo>
                <a:lnTo>
                  <a:pt x="0" y="56971"/>
                </a:lnTo>
                <a:lnTo>
                  <a:pt x="57626" y="0"/>
                </a:lnTo>
                <a:lnTo>
                  <a:pt x="58281" y="245566"/>
                </a:lnTo>
                <a:lnTo>
                  <a:pt x="655" y="301883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6259710" y="3120628"/>
            <a:ext cx="59055" cy="695960"/>
          </a:xfrm>
          <a:custGeom>
            <a:avLst/>
            <a:gdLst/>
            <a:ahLst/>
            <a:cxnLst/>
            <a:rect l="l" t="t" r="r" b="b"/>
            <a:pathLst>
              <a:path w="59054" h="695960">
                <a:moveTo>
                  <a:pt x="1309" y="695444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638472"/>
                </a:lnTo>
                <a:lnTo>
                  <a:pt x="1309" y="695444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5876627" y="3505021"/>
            <a:ext cx="267335" cy="57150"/>
          </a:xfrm>
          <a:custGeom>
            <a:avLst/>
            <a:gdLst/>
            <a:ahLst/>
            <a:cxnLst/>
            <a:rect l="l" t="t" r="r" b="b"/>
            <a:pathLst>
              <a:path w="267335" h="57150">
                <a:moveTo>
                  <a:pt x="209550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67176" y="0"/>
                </a:lnTo>
                <a:lnTo>
                  <a:pt x="209550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6086831" y="3759100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10" h="57150">
                <a:moveTo>
                  <a:pt x="174188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6086177" y="3505021"/>
            <a:ext cx="58419" cy="311150"/>
          </a:xfrm>
          <a:custGeom>
            <a:avLst/>
            <a:gdLst/>
            <a:ahLst/>
            <a:cxnLst/>
            <a:rect l="l" t="t" r="r" b="b"/>
            <a:pathLst>
              <a:path w="58420" h="311150">
                <a:moveTo>
                  <a:pt x="654" y="311050"/>
                </a:moveTo>
                <a:lnTo>
                  <a:pt x="0" y="56971"/>
                </a:lnTo>
                <a:lnTo>
                  <a:pt x="57626" y="0"/>
                </a:lnTo>
                <a:lnTo>
                  <a:pt x="58281" y="254079"/>
                </a:lnTo>
                <a:lnTo>
                  <a:pt x="654" y="311050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5876627" y="3505021"/>
            <a:ext cx="57785" cy="311150"/>
          </a:xfrm>
          <a:custGeom>
            <a:avLst/>
            <a:gdLst/>
            <a:ahLst/>
            <a:cxnLst/>
            <a:rect l="l" t="t" r="r" b="b"/>
            <a:pathLst>
              <a:path w="57785" h="311150">
                <a:moveTo>
                  <a:pt x="654" y="311050"/>
                </a:moveTo>
                <a:lnTo>
                  <a:pt x="0" y="56971"/>
                </a:lnTo>
                <a:lnTo>
                  <a:pt x="57626" y="0"/>
                </a:lnTo>
                <a:lnTo>
                  <a:pt x="57626" y="254079"/>
                </a:lnTo>
                <a:lnTo>
                  <a:pt x="654" y="311050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5702439" y="3759100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10" h="57150">
                <a:moveTo>
                  <a:pt x="174843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1814" y="0"/>
                </a:lnTo>
                <a:lnTo>
                  <a:pt x="174843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5701129" y="3120628"/>
            <a:ext cx="59055" cy="695960"/>
          </a:xfrm>
          <a:custGeom>
            <a:avLst/>
            <a:gdLst/>
            <a:ahLst/>
            <a:cxnLst/>
            <a:rect l="l" t="t" r="r" b="b"/>
            <a:pathLst>
              <a:path w="59054" h="695960">
                <a:moveTo>
                  <a:pt x="1309" y="695444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638472"/>
                </a:lnTo>
                <a:lnTo>
                  <a:pt x="1309" y="695444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6407705" y="3177599"/>
            <a:ext cx="176530" cy="638810"/>
          </a:xfrm>
          <a:custGeom>
            <a:avLst/>
            <a:gdLst/>
            <a:ahLst/>
            <a:cxnLst/>
            <a:rect l="l" t="t" r="r" b="b"/>
            <a:pathLst>
              <a:path w="176529" h="638810">
                <a:moveTo>
                  <a:pt x="176153" y="638472"/>
                </a:moveTo>
                <a:lnTo>
                  <a:pt x="1964" y="638472"/>
                </a:lnTo>
                <a:lnTo>
                  <a:pt x="0" y="0"/>
                </a:lnTo>
                <a:lnTo>
                  <a:pt x="174843" y="0"/>
                </a:lnTo>
                <a:lnTo>
                  <a:pt x="176153" y="638472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6407705" y="3120628"/>
            <a:ext cx="233045" cy="57150"/>
          </a:xfrm>
          <a:custGeom>
            <a:avLst/>
            <a:gdLst/>
            <a:ahLst/>
            <a:cxnLst/>
            <a:rect l="l" t="t" r="r" b="b"/>
            <a:pathLst>
              <a:path w="233045" h="57150">
                <a:moveTo>
                  <a:pt x="174843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2469" y="0"/>
                </a:lnTo>
                <a:lnTo>
                  <a:pt x="174843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6582548" y="3120628"/>
            <a:ext cx="59055" cy="695960"/>
          </a:xfrm>
          <a:custGeom>
            <a:avLst/>
            <a:gdLst/>
            <a:ahLst/>
            <a:cxnLst/>
            <a:rect l="l" t="t" r="r" b="b"/>
            <a:pathLst>
              <a:path w="59054" h="695960">
                <a:moveTo>
                  <a:pt x="1309" y="695444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638472"/>
                </a:lnTo>
                <a:lnTo>
                  <a:pt x="1309" y="695444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6409670" y="3759100"/>
            <a:ext cx="232410" cy="57150"/>
          </a:xfrm>
          <a:custGeom>
            <a:avLst/>
            <a:gdLst/>
            <a:ahLst/>
            <a:cxnLst/>
            <a:rect l="l" t="t" r="r" b="b"/>
            <a:pathLst>
              <a:path w="232409" h="57150">
                <a:moveTo>
                  <a:pt x="174188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6407705" y="3120628"/>
            <a:ext cx="59690" cy="695960"/>
          </a:xfrm>
          <a:custGeom>
            <a:avLst/>
            <a:gdLst/>
            <a:ahLst/>
            <a:cxnLst/>
            <a:rect l="l" t="t" r="r" b="b"/>
            <a:pathLst>
              <a:path w="59689" h="695960">
                <a:moveTo>
                  <a:pt x="1964" y="695444"/>
                </a:moveTo>
                <a:lnTo>
                  <a:pt x="0" y="56971"/>
                </a:lnTo>
                <a:lnTo>
                  <a:pt x="57626" y="0"/>
                </a:lnTo>
                <a:lnTo>
                  <a:pt x="59590" y="638472"/>
                </a:lnTo>
                <a:lnTo>
                  <a:pt x="1964" y="695444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6730543" y="3175634"/>
            <a:ext cx="573405" cy="640715"/>
          </a:xfrm>
          <a:custGeom>
            <a:avLst/>
            <a:gdLst/>
            <a:ahLst/>
            <a:cxnLst/>
            <a:rect l="l" t="t" r="r" b="b"/>
            <a:pathLst>
              <a:path w="573404" h="640714">
                <a:moveTo>
                  <a:pt x="176152" y="640437"/>
                </a:moveTo>
                <a:lnTo>
                  <a:pt x="1309" y="640437"/>
                </a:lnTo>
                <a:lnTo>
                  <a:pt x="0" y="0"/>
                </a:lnTo>
                <a:lnTo>
                  <a:pt x="168949" y="0"/>
                </a:lnTo>
                <a:lnTo>
                  <a:pt x="352559" y="284857"/>
                </a:lnTo>
                <a:lnTo>
                  <a:pt x="174843" y="284857"/>
                </a:lnTo>
                <a:lnTo>
                  <a:pt x="176152" y="640437"/>
                </a:lnTo>
                <a:close/>
              </a:path>
              <a:path w="573404" h="640714">
                <a:moveTo>
                  <a:pt x="572405" y="355580"/>
                </a:moveTo>
                <a:lnTo>
                  <a:pt x="398144" y="355580"/>
                </a:lnTo>
                <a:lnTo>
                  <a:pt x="397489" y="0"/>
                </a:lnTo>
                <a:lnTo>
                  <a:pt x="571678" y="0"/>
                </a:lnTo>
                <a:lnTo>
                  <a:pt x="572405" y="355580"/>
                </a:lnTo>
                <a:close/>
              </a:path>
              <a:path w="573404" h="640714">
                <a:moveTo>
                  <a:pt x="572988" y="640437"/>
                </a:moveTo>
                <a:lnTo>
                  <a:pt x="404693" y="640437"/>
                </a:lnTo>
                <a:lnTo>
                  <a:pt x="174843" y="284857"/>
                </a:lnTo>
                <a:lnTo>
                  <a:pt x="352559" y="284857"/>
                </a:lnTo>
                <a:lnTo>
                  <a:pt x="398144" y="355580"/>
                </a:lnTo>
                <a:lnTo>
                  <a:pt x="572405" y="355580"/>
                </a:lnTo>
                <a:lnTo>
                  <a:pt x="572988" y="640437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7128033" y="3119318"/>
            <a:ext cx="232410" cy="56515"/>
          </a:xfrm>
          <a:custGeom>
            <a:avLst/>
            <a:gdLst/>
            <a:ahLst/>
            <a:cxnLst/>
            <a:rect l="l" t="t" r="r" b="b"/>
            <a:pathLst>
              <a:path w="232409" h="56514">
                <a:moveTo>
                  <a:pt x="174188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231814" y="0"/>
                </a:lnTo>
                <a:lnTo>
                  <a:pt x="174188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7128033" y="3119318"/>
            <a:ext cx="58419" cy="412115"/>
          </a:xfrm>
          <a:custGeom>
            <a:avLst/>
            <a:gdLst/>
            <a:ahLst/>
            <a:cxnLst/>
            <a:rect l="l" t="t" r="r" b="b"/>
            <a:pathLst>
              <a:path w="58420" h="412114">
                <a:moveTo>
                  <a:pt x="655" y="411896"/>
                </a:moveTo>
                <a:lnTo>
                  <a:pt x="0" y="56316"/>
                </a:lnTo>
                <a:lnTo>
                  <a:pt x="57626" y="0"/>
                </a:lnTo>
                <a:lnTo>
                  <a:pt x="58281" y="354925"/>
                </a:lnTo>
                <a:lnTo>
                  <a:pt x="655" y="411896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6899493" y="3119318"/>
            <a:ext cx="287020" cy="412115"/>
          </a:xfrm>
          <a:custGeom>
            <a:avLst/>
            <a:gdLst/>
            <a:ahLst/>
            <a:cxnLst/>
            <a:rect l="l" t="t" r="r" b="b"/>
            <a:pathLst>
              <a:path w="287020" h="412114">
                <a:moveTo>
                  <a:pt x="229195" y="411896"/>
                </a:moveTo>
                <a:lnTo>
                  <a:pt x="0" y="56316"/>
                </a:lnTo>
                <a:lnTo>
                  <a:pt x="56971" y="0"/>
                </a:lnTo>
                <a:lnTo>
                  <a:pt x="286821" y="354925"/>
                </a:lnTo>
                <a:lnTo>
                  <a:pt x="229195" y="41189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6730543" y="3119318"/>
            <a:ext cx="226060" cy="56515"/>
          </a:xfrm>
          <a:custGeom>
            <a:avLst/>
            <a:gdLst/>
            <a:ahLst/>
            <a:cxnLst/>
            <a:rect l="l" t="t" r="r" b="b"/>
            <a:pathLst>
              <a:path w="226059" h="56514">
                <a:moveTo>
                  <a:pt x="168949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225921" y="0"/>
                </a:lnTo>
                <a:lnTo>
                  <a:pt x="168949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7302222" y="3119318"/>
            <a:ext cx="59055" cy="697230"/>
          </a:xfrm>
          <a:custGeom>
            <a:avLst/>
            <a:gdLst/>
            <a:ahLst/>
            <a:cxnLst/>
            <a:rect l="l" t="t" r="r" b="b"/>
            <a:pathLst>
              <a:path w="59054" h="697229">
                <a:moveTo>
                  <a:pt x="1309" y="696753"/>
                </a:moveTo>
                <a:lnTo>
                  <a:pt x="0" y="56316"/>
                </a:lnTo>
                <a:lnTo>
                  <a:pt x="57626" y="0"/>
                </a:lnTo>
                <a:lnTo>
                  <a:pt x="58935" y="639782"/>
                </a:lnTo>
                <a:lnTo>
                  <a:pt x="1309" y="696753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7135237" y="3759100"/>
            <a:ext cx="226060" cy="57150"/>
          </a:xfrm>
          <a:custGeom>
            <a:avLst/>
            <a:gdLst/>
            <a:ahLst/>
            <a:cxnLst/>
            <a:rect l="l" t="t" r="r" b="b"/>
            <a:pathLst>
              <a:path w="226059" h="57150">
                <a:moveTo>
                  <a:pt x="168294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25921" y="0"/>
                </a:lnTo>
                <a:lnTo>
                  <a:pt x="168294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6905387" y="3403520"/>
            <a:ext cx="287655" cy="412750"/>
          </a:xfrm>
          <a:custGeom>
            <a:avLst/>
            <a:gdLst/>
            <a:ahLst/>
            <a:cxnLst/>
            <a:rect l="l" t="t" r="r" b="b"/>
            <a:pathLst>
              <a:path w="287654" h="412750">
                <a:moveTo>
                  <a:pt x="229850" y="412551"/>
                </a:moveTo>
                <a:lnTo>
                  <a:pt x="0" y="56971"/>
                </a:lnTo>
                <a:lnTo>
                  <a:pt x="57626" y="0"/>
                </a:lnTo>
                <a:lnTo>
                  <a:pt x="287476" y="355580"/>
                </a:lnTo>
                <a:lnTo>
                  <a:pt x="229850" y="412551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6905387" y="3403520"/>
            <a:ext cx="59055" cy="412750"/>
          </a:xfrm>
          <a:custGeom>
            <a:avLst/>
            <a:gdLst/>
            <a:ahLst/>
            <a:cxnLst/>
            <a:rect l="l" t="t" r="r" b="b"/>
            <a:pathLst>
              <a:path w="59054" h="412750">
                <a:moveTo>
                  <a:pt x="1309" y="412551"/>
                </a:moveTo>
                <a:lnTo>
                  <a:pt x="0" y="56971"/>
                </a:lnTo>
                <a:lnTo>
                  <a:pt x="57626" y="0"/>
                </a:lnTo>
                <a:lnTo>
                  <a:pt x="58935" y="355580"/>
                </a:lnTo>
                <a:lnTo>
                  <a:pt x="1309" y="41255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6731853" y="3759100"/>
            <a:ext cx="233045" cy="57150"/>
          </a:xfrm>
          <a:custGeom>
            <a:avLst/>
            <a:gdLst/>
            <a:ahLst/>
            <a:cxnLst/>
            <a:rect l="l" t="t" r="r" b="b"/>
            <a:pathLst>
              <a:path w="233045" h="57150">
                <a:moveTo>
                  <a:pt x="174843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32469" y="0"/>
                </a:lnTo>
                <a:lnTo>
                  <a:pt x="174843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6730543" y="3119318"/>
            <a:ext cx="59055" cy="697230"/>
          </a:xfrm>
          <a:custGeom>
            <a:avLst/>
            <a:gdLst/>
            <a:ahLst/>
            <a:cxnLst/>
            <a:rect l="l" t="t" r="r" b="b"/>
            <a:pathLst>
              <a:path w="59054" h="697229">
                <a:moveTo>
                  <a:pt x="1309" y="696753"/>
                </a:moveTo>
                <a:lnTo>
                  <a:pt x="0" y="56316"/>
                </a:lnTo>
                <a:lnTo>
                  <a:pt x="57626" y="0"/>
                </a:lnTo>
                <a:lnTo>
                  <a:pt x="58935" y="639782"/>
                </a:lnTo>
                <a:lnTo>
                  <a:pt x="1309" y="696753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7450216" y="3175634"/>
            <a:ext cx="396875" cy="640715"/>
          </a:xfrm>
          <a:custGeom>
            <a:avLst/>
            <a:gdLst/>
            <a:ahLst/>
            <a:cxnLst/>
            <a:rect l="l" t="t" r="r" b="b"/>
            <a:pathLst>
              <a:path w="396875" h="640714">
                <a:moveTo>
                  <a:pt x="396835" y="640437"/>
                </a:moveTo>
                <a:lnTo>
                  <a:pt x="1964" y="640437"/>
                </a:lnTo>
                <a:lnTo>
                  <a:pt x="0" y="0"/>
                </a:lnTo>
                <a:lnTo>
                  <a:pt x="395525" y="0"/>
                </a:lnTo>
                <a:lnTo>
                  <a:pt x="396180" y="139481"/>
                </a:lnTo>
                <a:lnTo>
                  <a:pt x="174843" y="139481"/>
                </a:lnTo>
                <a:lnTo>
                  <a:pt x="175498" y="245566"/>
                </a:lnTo>
                <a:lnTo>
                  <a:pt x="369986" y="245566"/>
                </a:lnTo>
                <a:lnTo>
                  <a:pt x="370641" y="384393"/>
                </a:lnTo>
                <a:lnTo>
                  <a:pt x="175498" y="384393"/>
                </a:lnTo>
                <a:lnTo>
                  <a:pt x="176153" y="500955"/>
                </a:lnTo>
                <a:lnTo>
                  <a:pt x="396835" y="500955"/>
                </a:lnTo>
                <a:lnTo>
                  <a:pt x="396835" y="640437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7845742" y="3119318"/>
            <a:ext cx="58419" cy="196215"/>
          </a:xfrm>
          <a:custGeom>
            <a:avLst/>
            <a:gdLst/>
            <a:ahLst/>
            <a:cxnLst/>
            <a:rect l="l" t="t" r="r" b="b"/>
            <a:pathLst>
              <a:path w="58420" h="196214">
                <a:moveTo>
                  <a:pt x="654" y="195798"/>
                </a:moveTo>
                <a:lnTo>
                  <a:pt x="0" y="56316"/>
                </a:lnTo>
                <a:lnTo>
                  <a:pt x="57626" y="0"/>
                </a:lnTo>
                <a:lnTo>
                  <a:pt x="58280" y="138826"/>
                </a:lnTo>
                <a:lnTo>
                  <a:pt x="654" y="195798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7625060" y="3258145"/>
            <a:ext cx="279400" cy="57150"/>
          </a:xfrm>
          <a:custGeom>
            <a:avLst/>
            <a:gdLst/>
            <a:ahLst/>
            <a:cxnLst/>
            <a:rect l="l" t="t" r="r" b="b"/>
            <a:pathLst>
              <a:path w="279400" h="57150">
                <a:moveTo>
                  <a:pt x="221337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78963" y="0"/>
                </a:lnTo>
                <a:lnTo>
                  <a:pt x="221337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7450216" y="3119318"/>
            <a:ext cx="453390" cy="56515"/>
          </a:xfrm>
          <a:custGeom>
            <a:avLst/>
            <a:gdLst/>
            <a:ahLst/>
            <a:cxnLst/>
            <a:rect l="l" t="t" r="r" b="b"/>
            <a:pathLst>
              <a:path w="453390" h="56514">
                <a:moveTo>
                  <a:pt x="395525" y="56316"/>
                </a:moveTo>
                <a:lnTo>
                  <a:pt x="0" y="56316"/>
                </a:lnTo>
                <a:lnTo>
                  <a:pt x="57626" y="0"/>
                </a:lnTo>
                <a:lnTo>
                  <a:pt x="453151" y="0"/>
                </a:lnTo>
                <a:lnTo>
                  <a:pt x="395525" y="5631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7625060" y="3258145"/>
            <a:ext cx="253424" cy="301883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7847052" y="3619618"/>
            <a:ext cx="57785" cy="196850"/>
          </a:xfrm>
          <a:custGeom>
            <a:avLst/>
            <a:gdLst/>
            <a:ahLst/>
            <a:cxnLst/>
            <a:rect l="l" t="t" r="r" b="b"/>
            <a:pathLst>
              <a:path w="57784" h="196850">
                <a:moveTo>
                  <a:pt x="0" y="196453"/>
                </a:moveTo>
                <a:lnTo>
                  <a:pt x="0" y="56971"/>
                </a:lnTo>
                <a:lnTo>
                  <a:pt x="57626" y="0"/>
                </a:lnTo>
                <a:lnTo>
                  <a:pt x="57626" y="139481"/>
                </a:lnTo>
                <a:lnTo>
                  <a:pt x="0" y="196453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7626370" y="3619618"/>
            <a:ext cx="278765" cy="57150"/>
          </a:xfrm>
          <a:custGeom>
            <a:avLst/>
            <a:gdLst/>
            <a:ahLst/>
            <a:cxnLst/>
            <a:rect l="l" t="t" r="r" b="b"/>
            <a:pathLst>
              <a:path w="278765" h="57150">
                <a:moveTo>
                  <a:pt x="220682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278308" y="0"/>
                </a:lnTo>
                <a:lnTo>
                  <a:pt x="220682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7625715" y="3503711"/>
            <a:ext cx="58419" cy="173355"/>
          </a:xfrm>
          <a:custGeom>
            <a:avLst/>
            <a:gdLst/>
            <a:ahLst/>
            <a:cxnLst/>
            <a:rect l="l" t="t" r="r" b="b"/>
            <a:pathLst>
              <a:path w="58420" h="173354">
                <a:moveTo>
                  <a:pt x="655" y="172878"/>
                </a:moveTo>
                <a:lnTo>
                  <a:pt x="0" y="56316"/>
                </a:lnTo>
                <a:lnTo>
                  <a:pt x="57626" y="0"/>
                </a:lnTo>
                <a:lnTo>
                  <a:pt x="58281" y="115907"/>
                </a:lnTo>
                <a:lnTo>
                  <a:pt x="655" y="172878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7452181" y="3759100"/>
            <a:ext cx="452755" cy="57150"/>
          </a:xfrm>
          <a:custGeom>
            <a:avLst/>
            <a:gdLst/>
            <a:ahLst/>
            <a:cxnLst/>
            <a:rect l="l" t="t" r="r" b="b"/>
            <a:pathLst>
              <a:path w="452754" h="57150">
                <a:moveTo>
                  <a:pt x="394871" y="56971"/>
                </a:moveTo>
                <a:lnTo>
                  <a:pt x="0" y="56971"/>
                </a:lnTo>
                <a:lnTo>
                  <a:pt x="57626" y="0"/>
                </a:lnTo>
                <a:lnTo>
                  <a:pt x="452497" y="0"/>
                </a:lnTo>
                <a:lnTo>
                  <a:pt x="394871" y="56971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7450216" y="3119318"/>
            <a:ext cx="59690" cy="697230"/>
          </a:xfrm>
          <a:custGeom>
            <a:avLst/>
            <a:gdLst/>
            <a:ahLst/>
            <a:cxnLst/>
            <a:rect l="l" t="t" r="r" b="b"/>
            <a:pathLst>
              <a:path w="59690" h="697229">
                <a:moveTo>
                  <a:pt x="1964" y="696753"/>
                </a:moveTo>
                <a:lnTo>
                  <a:pt x="0" y="56316"/>
                </a:lnTo>
                <a:lnTo>
                  <a:pt x="57626" y="0"/>
                </a:lnTo>
                <a:lnTo>
                  <a:pt x="59590" y="639782"/>
                </a:lnTo>
                <a:lnTo>
                  <a:pt x="1964" y="696753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2999243" y="2267366"/>
            <a:ext cx="508634" cy="139065"/>
          </a:xfrm>
          <a:custGeom>
            <a:avLst/>
            <a:gdLst/>
            <a:ahLst/>
            <a:cxnLst/>
            <a:rect l="l" t="t" r="r" b="b"/>
            <a:pathLst>
              <a:path w="508635" h="139064">
                <a:moveTo>
                  <a:pt x="508158" y="138826"/>
                </a:moveTo>
                <a:lnTo>
                  <a:pt x="654" y="138826"/>
                </a:lnTo>
                <a:lnTo>
                  <a:pt x="0" y="0"/>
                </a:lnTo>
                <a:lnTo>
                  <a:pt x="507503" y="0"/>
                </a:lnTo>
                <a:lnTo>
                  <a:pt x="508158" y="1388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3166229" y="2406193"/>
            <a:ext cx="175895" cy="499745"/>
          </a:xfrm>
          <a:custGeom>
            <a:avLst/>
            <a:gdLst/>
            <a:ahLst/>
            <a:cxnLst/>
            <a:rect l="l" t="t" r="r" b="b"/>
            <a:pathLst>
              <a:path w="175895" h="499744">
                <a:moveTo>
                  <a:pt x="175497" y="499645"/>
                </a:moveTo>
                <a:lnTo>
                  <a:pt x="654" y="499645"/>
                </a:lnTo>
                <a:lnTo>
                  <a:pt x="0" y="0"/>
                </a:lnTo>
                <a:lnTo>
                  <a:pt x="174188" y="0"/>
                </a:lnTo>
                <a:lnTo>
                  <a:pt x="175497" y="499645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3613487" y="2265402"/>
            <a:ext cx="396875" cy="640715"/>
          </a:xfrm>
          <a:custGeom>
            <a:avLst/>
            <a:gdLst/>
            <a:ahLst/>
            <a:cxnLst/>
            <a:rect l="l" t="t" r="r" b="b"/>
            <a:pathLst>
              <a:path w="396875" h="640714">
                <a:moveTo>
                  <a:pt x="396835" y="640437"/>
                </a:moveTo>
                <a:lnTo>
                  <a:pt x="1309" y="640437"/>
                </a:lnTo>
                <a:lnTo>
                  <a:pt x="0" y="0"/>
                </a:lnTo>
                <a:lnTo>
                  <a:pt x="395525" y="0"/>
                </a:lnTo>
                <a:lnTo>
                  <a:pt x="395525" y="139481"/>
                </a:lnTo>
                <a:lnTo>
                  <a:pt x="174843" y="139481"/>
                </a:lnTo>
                <a:lnTo>
                  <a:pt x="174843" y="245566"/>
                </a:lnTo>
                <a:lnTo>
                  <a:pt x="369986" y="245566"/>
                </a:lnTo>
                <a:lnTo>
                  <a:pt x="369986" y="384393"/>
                </a:lnTo>
                <a:lnTo>
                  <a:pt x="175498" y="384393"/>
                </a:lnTo>
                <a:lnTo>
                  <a:pt x="175498" y="500955"/>
                </a:lnTo>
                <a:lnTo>
                  <a:pt x="396180" y="500955"/>
                </a:lnTo>
                <a:lnTo>
                  <a:pt x="396835" y="6404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4781074" y="2258198"/>
            <a:ext cx="636270" cy="652780"/>
          </a:xfrm>
          <a:custGeom>
            <a:avLst/>
            <a:gdLst/>
            <a:ahLst/>
            <a:cxnLst/>
            <a:rect l="l" t="t" r="r" b="b"/>
            <a:pathLst>
              <a:path w="636270" h="652780">
                <a:moveTo>
                  <a:pt x="326767" y="652224"/>
                </a:moveTo>
                <a:lnTo>
                  <a:pt x="274059" y="648531"/>
                </a:lnTo>
                <a:lnTo>
                  <a:pt x="224464" y="637451"/>
                </a:lnTo>
                <a:lnTo>
                  <a:pt x="178107" y="618984"/>
                </a:lnTo>
                <a:lnTo>
                  <a:pt x="135112" y="593131"/>
                </a:lnTo>
                <a:lnTo>
                  <a:pt x="95607" y="559891"/>
                </a:lnTo>
                <a:lnTo>
                  <a:pt x="61586" y="520930"/>
                </a:lnTo>
                <a:lnTo>
                  <a:pt x="34984" y="477978"/>
                </a:lnTo>
                <a:lnTo>
                  <a:pt x="15831" y="431128"/>
                </a:lnTo>
                <a:lnTo>
                  <a:pt x="4159" y="380474"/>
                </a:lnTo>
                <a:lnTo>
                  <a:pt x="0" y="326112"/>
                </a:lnTo>
                <a:lnTo>
                  <a:pt x="3771" y="271686"/>
                </a:lnTo>
                <a:lnTo>
                  <a:pt x="15087" y="220907"/>
                </a:lnTo>
                <a:lnTo>
                  <a:pt x="33947" y="173963"/>
                </a:lnTo>
                <a:lnTo>
                  <a:pt x="60350" y="131042"/>
                </a:lnTo>
                <a:lnTo>
                  <a:pt x="94297" y="92333"/>
                </a:lnTo>
                <a:lnTo>
                  <a:pt x="134441" y="59344"/>
                </a:lnTo>
                <a:lnTo>
                  <a:pt x="177823" y="33522"/>
                </a:lnTo>
                <a:lnTo>
                  <a:pt x="224380" y="14961"/>
                </a:lnTo>
                <a:lnTo>
                  <a:pt x="274049" y="3756"/>
                </a:lnTo>
                <a:lnTo>
                  <a:pt x="326766" y="0"/>
                </a:lnTo>
                <a:lnTo>
                  <a:pt x="378049" y="3550"/>
                </a:lnTo>
                <a:lnTo>
                  <a:pt x="426630" y="14161"/>
                </a:lnTo>
                <a:lnTo>
                  <a:pt x="472264" y="31770"/>
                </a:lnTo>
                <a:lnTo>
                  <a:pt x="514706" y="56316"/>
                </a:lnTo>
                <a:lnTo>
                  <a:pt x="552892" y="87217"/>
                </a:lnTo>
                <a:lnTo>
                  <a:pt x="584938" y="123765"/>
                </a:lnTo>
                <a:lnTo>
                  <a:pt x="608798" y="162401"/>
                </a:lnTo>
                <a:lnTo>
                  <a:pt x="328731" y="162401"/>
                </a:lnTo>
                <a:lnTo>
                  <a:pt x="295047" y="165112"/>
                </a:lnTo>
                <a:lnTo>
                  <a:pt x="239959" y="186988"/>
                </a:lnTo>
                <a:lnTo>
                  <a:pt x="200392" y="230341"/>
                </a:lnTo>
                <a:lnTo>
                  <a:pt x="180030" y="290259"/>
                </a:lnTo>
                <a:lnTo>
                  <a:pt x="177462" y="326112"/>
                </a:lnTo>
                <a:lnTo>
                  <a:pt x="180030" y="361688"/>
                </a:lnTo>
                <a:lnTo>
                  <a:pt x="200392" y="421791"/>
                </a:lnTo>
                <a:lnTo>
                  <a:pt x="240061" y="465235"/>
                </a:lnTo>
                <a:lnTo>
                  <a:pt x="295600" y="487111"/>
                </a:lnTo>
                <a:lnTo>
                  <a:pt x="329386" y="489823"/>
                </a:lnTo>
                <a:lnTo>
                  <a:pt x="608538" y="489823"/>
                </a:lnTo>
                <a:lnTo>
                  <a:pt x="584857" y="528458"/>
                </a:lnTo>
                <a:lnTo>
                  <a:pt x="552882" y="565007"/>
                </a:lnTo>
                <a:lnTo>
                  <a:pt x="514707" y="595907"/>
                </a:lnTo>
                <a:lnTo>
                  <a:pt x="472265" y="620454"/>
                </a:lnTo>
                <a:lnTo>
                  <a:pt x="426630" y="638063"/>
                </a:lnTo>
                <a:lnTo>
                  <a:pt x="378049" y="648673"/>
                </a:lnTo>
                <a:lnTo>
                  <a:pt x="326767" y="652224"/>
                </a:lnTo>
                <a:close/>
              </a:path>
              <a:path w="636270" h="652780">
                <a:moveTo>
                  <a:pt x="635852" y="229850"/>
                </a:moveTo>
                <a:lnTo>
                  <a:pt x="432851" y="229850"/>
                </a:lnTo>
                <a:lnTo>
                  <a:pt x="428922" y="222646"/>
                </a:lnTo>
                <a:lnTo>
                  <a:pt x="410965" y="196105"/>
                </a:lnTo>
                <a:lnTo>
                  <a:pt x="388403" y="177298"/>
                </a:lnTo>
                <a:lnTo>
                  <a:pt x="361054" y="166105"/>
                </a:lnTo>
                <a:lnTo>
                  <a:pt x="328731" y="162401"/>
                </a:lnTo>
                <a:lnTo>
                  <a:pt x="608798" y="162401"/>
                </a:lnTo>
                <a:lnTo>
                  <a:pt x="610846" y="165716"/>
                </a:lnTo>
                <a:lnTo>
                  <a:pt x="630614" y="212824"/>
                </a:lnTo>
                <a:lnTo>
                  <a:pt x="635852" y="229850"/>
                </a:lnTo>
                <a:close/>
              </a:path>
              <a:path w="636270" h="652780">
                <a:moveTo>
                  <a:pt x="608538" y="489823"/>
                </a:moveTo>
                <a:lnTo>
                  <a:pt x="329386" y="489823"/>
                </a:lnTo>
                <a:lnTo>
                  <a:pt x="361606" y="486119"/>
                </a:lnTo>
                <a:lnTo>
                  <a:pt x="388731" y="474925"/>
                </a:lnTo>
                <a:lnTo>
                  <a:pt x="411067" y="456119"/>
                </a:lnTo>
                <a:lnTo>
                  <a:pt x="428922" y="429577"/>
                </a:lnTo>
                <a:lnTo>
                  <a:pt x="432196" y="422374"/>
                </a:lnTo>
                <a:lnTo>
                  <a:pt x="635198" y="422374"/>
                </a:lnTo>
                <a:lnTo>
                  <a:pt x="629959" y="439400"/>
                </a:lnTo>
                <a:lnTo>
                  <a:pt x="610570" y="486508"/>
                </a:lnTo>
                <a:lnTo>
                  <a:pt x="608538" y="489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4092832" y="2265402"/>
            <a:ext cx="640715" cy="640080"/>
          </a:xfrm>
          <a:custGeom>
            <a:avLst/>
            <a:gdLst/>
            <a:ahLst/>
            <a:cxnLst/>
            <a:rect l="l" t="t" r="r" b="b"/>
            <a:pathLst>
              <a:path w="640714" h="640080">
                <a:moveTo>
                  <a:pt x="185975" y="639782"/>
                </a:moveTo>
                <a:lnTo>
                  <a:pt x="0" y="639782"/>
                </a:lnTo>
                <a:lnTo>
                  <a:pt x="219372" y="0"/>
                </a:lnTo>
                <a:lnTo>
                  <a:pt x="419100" y="0"/>
                </a:lnTo>
                <a:lnTo>
                  <a:pt x="499977" y="233779"/>
                </a:lnTo>
                <a:lnTo>
                  <a:pt x="318909" y="233779"/>
                </a:lnTo>
                <a:lnTo>
                  <a:pt x="265211" y="398144"/>
                </a:lnTo>
                <a:lnTo>
                  <a:pt x="556841" y="398144"/>
                </a:lnTo>
                <a:lnTo>
                  <a:pt x="604869" y="536971"/>
                </a:lnTo>
                <a:lnTo>
                  <a:pt x="219372" y="536971"/>
                </a:lnTo>
                <a:lnTo>
                  <a:pt x="185975" y="639782"/>
                </a:lnTo>
                <a:close/>
              </a:path>
              <a:path w="640714" h="640080">
                <a:moveTo>
                  <a:pt x="556841" y="398144"/>
                </a:moveTo>
                <a:lnTo>
                  <a:pt x="373915" y="398144"/>
                </a:lnTo>
                <a:lnTo>
                  <a:pt x="318909" y="233779"/>
                </a:lnTo>
                <a:lnTo>
                  <a:pt x="499977" y="233779"/>
                </a:lnTo>
                <a:lnTo>
                  <a:pt x="556841" y="398144"/>
                </a:lnTo>
                <a:close/>
              </a:path>
              <a:path w="640714" h="640080">
                <a:moveTo>
                  <a:pt x="640437" y="639782"/>
                </a:moveTo>
                <a:lnTo>
                  <a:pt x="453806" y="639782"/>
                </a:lnTo>
                <a:lnTo>
                  <a:pt x="419754" y="536971"/>
                </a:lnTo>
                <a:lnTo>
                  <a:pt x="604869" y="536971"/>
                </a:lnTo>
                <a:lnTo>
                  <a:pt x="640437" y="6397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5525631" y="2267366"/>
            <a:ext cx="560070" cy="638810"/>
          </a:xfrm>
          <a:custGeom>
            <a:avLst/>
            <a:gdLst/>
            <a:ahLst/>
            <a:cxnLst/>
            <a:rect l="l" t="t" r="r" b="b"/>
            <a:pathLst>
              <a:path w="560070" h="638810">
                <a:moveTo>
                  <a:pt x="175498" y="638472"/>
                </a:moveTo>
                <a:lnTo>
                  <a:pt x="1309" y="638472"/>
                </a:lnTo>
                <a:lnTo>
                  <a:pt x="0" y="0"/>
                </a:lnTo>
                <a:lnTo>
                  <a:pt x="174188" y="0"/>
                </a:lnTo>
                <a:lnTo>
                  <a:pt x="174843" y="244911"/>
                </a:lnTo>
                <a:lnTo>
                  <a:pt x="559084" y="244911"/>
                </a:lnTo>
                <a:lnTo>
                  <a:pt x="559370" y="384393"/>
                </a:lnTo>
                <a:lnTo>
                  <a:pt x="174843" y="384393"/>
                </a:lnTo>
                <a:lnTo>
                  <a:pt x="175498" y="638472"/>
                </a:lnTo>
                <a:close/>
              </a:path>
              <a:path w="560070" h="638810">
                <a:moveTo>
                  <a:pt x="559084" y="244911"/>
                </a:moveTo>
                <a:lnTo>
                  <a:pt x="384393" y="244911"/>
                </a:lnTo>
                <a:lnTo>
                  <a:pt x="384393" y="0"/>
                </a:lnTo>
                <a:lnTo>
                  <a:pt x="558581" y="0"/>
                </a:lnTo>
                <a:lnTo>
                  <a:pt x="559084" y="244911"/>
                </a:lnTo>
                <a:close/>
              </a:path>
              <a:path w="560070" h="638810">
                <a:moveTo>
                  <a:pt x="559891" y="638472"/>
                </a:moveTo>
                <a:lnTo>
                  <a:pt x="385702" y="638472"/>
                </a:lnTo>
                <a:lnTo>
                  <a:pt x="385048" y="384393"/>
                </a:lnTo>
                <a:lnTo>
                  <a:pt x="559370" y="384393"/>
                </a:lnTo>
                <a:lnTo>
                  <a:pt x="559891" y="6384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6171307" y="2265402"/>
            <a:ext cx="640715" cy="640080"/>
          </a:xfrm>
          <a:custGeom>
            <a:avLst/>
            <a:gdLst/>
            <a:ahLst/>
            <a:cxnLst/>
            <a:rect l="l" t="t" r="r" b="b"/>
            <a:pathLst>
              <a:path w="640715" h="640080">
                <a:moveTo>
                  <a:pt x="185975" y="639782"/>
                </a:moveTo>
                <a:lnTo>
                  <a:pt x="0" y="639782"/>
                </a:lnTo>
                <a:lnTo>
                  <a:pt x="219372" y="0"/>
                </a:lnTo>
                <a:lnTo>
                  <a:pt x="419100" y="0"/>
                </a:lnTo>
                <a:lnTo>
                  <a:pt x="499977" y="233779"/>
                </a:lnTo>
                <a:lnTo>
                  <a:pt x="318253" y="233779"/>
                </a:lnTo>
                <a:lnTo>
                  <a:pt x="264557" y="398144"/>
                </a:lnTo>
                <a:lnTo>
                  <a:pt x="556841" y="398144"/>
                </a:lnTo>
                <a:lnTo>
                  <a:pt x="604869" y="536971"/>
                </a:lnTo>
                <a:lnTo>
                  <a:pt x="219372" y="536971"/>
                </a:lnTo>
                <a:lnTo>
                  <a:pt x="185975" y="639782"/>
                </a:lnTo>
                <a:close/>
              </a:path>
              <a:path w="640715" h="640080">
                <a:moveTo>
                  <a:pt x="556841" y="398144"/>
                </a:moveTo>
                <a:lnTo>
                  <a:pt x="373260" y="398144"/>
                </a:lnTo>
                <a:lnTo>
                  <a:pt x="318253" y="233779"/>
                </a:lnTo>
                <a:lnTo>
                  <a:pt x="499977" y="233779"/>
                </a:lnTo>
                <a:lnTo>
                  <a:pt x="556841" y="398144"/>
                </a:lnTo>
                <a:close/>
              </a:path>
              <a:path w="640715" h="640080">
                <a:moveTo>
                  <a:pt x="640437" y="639782"/>
                </a:moveTo>
                <a:lnTo>
                  <a:pt x="453806" y="639782"/>
                </a:lnTo>
                <a:lnTo>
                  <a:pt x="419754" y="536971"/>
                </a:lnTo>
                <a:lnTo>
                  <a:pt x="604869" y="536971"/>
                </a:lnTo>
                <a:lnTo>
                  <a:pt x="640437" y="6397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6895563" y="2266711"/>
            <a:ext cx="509905" cy="638810"/>
          </a:xfrm>
          <a:custGeom>
            <a:avLst/>
            <a:gdLst/>
            <a:ahLst/>
            <a:cxnLst/>
            <a:rect l="l" t="t" r="r" b="b"/>
            <a:pathLst>
              <a:path w="509904" h="638810">
                <a:moveTo>
                  <a:pt x="294025" y="638472"/>
                </a:moveTo>
                <a:lnTo>
                  <a:pt x="1309" y="638472"/>
                </a:lnTo>
                <a:lnTo>
                  <a:pt x="0" y="0"/>
                </a:lnTo>
                <a:lnTo>
                  <a:pt x="278308" y="0"/>
                </a:lnTo>
                <a:lnTo>
                  <a:pt x="324587" y="3059"/>
                </a:lnTo>
                <a:lnTo>
                  <a:pt x="366139" y="12196"/>
                </a:lnTo>
                <a:lnTo>
                  <a:pt x="402903" y="27349"/>
                </a:lnTo>
                <a:lnTo>
                  <a:pt x="434816" y="48458"/>
                </a:lnTo>
                <a:lnTo>
                  <a:pt x="479918" y="104365"/>
                </a:lnTo>
                <a:lnTo>
                  <a:pt x="491492" y="139481"/>
                </a:lnTo>
                <a:lnTo>
                  <a:pt x="174843" y="139481"/>
                </a:lnTo>
                <a:lnTo>
                  <a:pt x="174843" y="246221"/>
                </a:lnTo>
                <a:lnTo>
                  <a:pt x="476515" y="246221"/>
                </a:lnTo>
                <a:lnTo>
                  <a:pt x="472388" y="255389"/>
                </a:lnTo>
                <a:lnTo>
                  <a:pt x="443953" y="286801"/>
                </a:lnTo>
                <a:lnTo>
                  <a:pt x="404038" y="311705"/>
                </a:lnTo>
                <a:lnTo>
                  <a:pt x="422835" y="320065"/>
                </a:lnTo>
                <a:lnTo>
                  <a:pt x="455515" y="342923"/>
                </a:lnTo>
                <a:lnTo>
                  <a:pt x="486815" y="381712"/>
                </a:lnTo>
                <a:lnTo>
                  <a:pt x="488403" y="385048"/>
                </a:lnTo>
                <a:lnTo>
                  <a:pt x="175498" y="385048"/>
                </a:lnTo>
                <a:lnTo>
                  <a:pt x="175498" y="498990"/>
                </a:lnTo>
                <a:lnTo>
                  <a:pt x="506255" y="498990"/>
                </a:lnTo>
                <a:lnTo>
                  <a:pt x="505795" y="503677"/>
                </a:lnTo>
                <a:lnTo>
                  <a:pt x="476593" y="566992"/>
                </a:lnTo>
                <a:lnTo>
                  <a:pt x="420000" y="612780"/>
                </a:lnTo>
                <a:lnTo>
                  <a:pt x="383411" y="627094"/>
                </a:lnTo>
                <a:lnTo>
                  <a:pt x="341419" y="635638"/>
                </a:lnTo>
                <a:lnTo>
                  <a:pt x="294025" y="638472"/>
                </a:lnTo>
                <a:close/>
              </a:path>
              <a:path w="509904" h="638810">
                <a:moveTo>
                  <a:pt x="476515" y="246221"/>
                </a:moveTo>
                <a:lnTo>
                  <a:pt x="259318" y="246221"/>
                </a:lnTo>
                <a:lnTo>
                  <a:pt x="272333" y="245361"/>
                </a:lnTo>
                <a:lnTo>
                  <a:pt x="283875" y="242783"/>
                </a:lnTo>
                <a:lnTo>
                  <a:pt x="313752" y="216262"/>
                </a:lnTo>
                <a:lnTo>
                  <a:pt x="317599" y="193178"/>
                </a:lnTo>
                <a:lnTo>
                  <a:pt x="316627" y="180399"/>
                </a:lnTo>
                <a:lnTo>
                  <a:pt x="293943" y="147217"/>
                </a:lnTo>
                <a:lnTo>
                  <a:pt x="259318" y="139481"/>
                </a:lnTo>
                <a:lnTo>
                  <a:pt x="491492" y="139481"/>
                </a:lnTo>
                <a:lnTo>
                  <a:pt x="495062" y="173533"/>
                </a:lnTo>
                <a:lnTo>
                  <a:pt x="489403" y="217592"/>
                </a:lnTo>
                <a:lnTo>
                  <a:pt x="476515" y="246221"/>
                </a:lnTo>
                <a:close/>
              </a:path>
              <a:path w="509904" h="638810">
                <a:moveTo>
                  <a:pt x="506255" y="498990"/>
                </a:moveTo>
                <a:lnTo>
                  <a:pt x="275034" y="498990"/>
                </a:lnTo>
                <a:lnTo>
                  <a:pt x="287200" y="498397"/>
                </a:lnTo>
                <a:lnTo>
                  <a:pt x="298200" y="495716"/>
                </a:lnTo>
                <a:lnTo>
                  <a:pt x="328732" y="467149"/>
                </a:lnTo>
                <a:lnTo>
                  <a:pt x="332661" y="443329"/>
                </a:lnTo>
                <a:lnTo>
                  <a:pt x="331679" y="430416"/>
                </a:lnTo>
                <a:lnTo>
                  <a:pt x="308575" y="393888"/>
                </a:lnTo>
                <a:lnTo>
                  <a:pt x="276344" y="385048"/>
                </a:lnTo>
                <a:lnTo>
                  <a:pt x="488403" y="385048"/>
                </a:lnTo>
                <a:lnTo>
                  <a:pt x="499318" y="407967"/>
                </a:lnTo>
                <a:lnTo>
                  <a:pt x="506910" y="436187"/>
                </a:lnTo>
                <a:lnTo>
                  <a:pt x="509468" y="466248"/>
                </a:lnTo>
                <a:lnTo>
                  <a:pt x="506255" y="49899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7525523" y="2267366"/>
            <a:ext cx="361315" cy="638810"/>
          </a:xfrm>
          <a:custGeom>
            <a:avLst/>
            <a:gdLst/>
            <a:ahLst/>
            <a:cxnLst/>
            <a:rect l="l" t="t" r="r" b="b"/>
            <a:pathLst>
              <a:path w="361315" h="638810">
                <a:moveTo>
                  <a:pt x="360819" y="638472"/>
                </a:moveTo>
                <a:lnTo>
                  <a:pt x="1309" y="638472"/>
                </a:lnTo>
                <a:lnTo>
                  <a:pt x="0" y="0"/>
                </a:lnTo>
                <a:lnTo>
                  <a:pt x="174188" y="0"/>
                </a:lnTo>
                <a:lnTo>
                  <a:pt x="175498" y="498990"/>
                </a:lnTo>
                <a:lnTo>
                  <a:pt x="360819" y="498990"/>
                </a:lnTo>
                <a:lnTo>
                  <a:pt x="360819" y="6384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7985224" y="2265402"/>
            <a:ext cx="396875" cy="640715"/>
          </a:xfrm>
          <a:custGeom>
            <a:avLst/>
            <a:gdLst/>
            <a:ahLst/>
            <a:cxnLst/>
            <a:rect l="l" t="t" r="r" b="b"/>
            <a:pathLst>
              <a:path w="396875" h="640714">
                <a:moveTo>
                  <a:pt x="396835" y="640437"/>
                </a:moveTo>
                <a:lnTo>
                  <a:pt x="1309" y="640437"/>
                </a:lnTo>
                <a:lnTo>
                  <a:pt x="0" y="0"/>
                </a:lnTo>
                <a:lnTo>
                  <a:pt x="395525" y="0"/>
                </a:lnTo>
                <a:lnTo>
                  <a:pt x="395525" y="139481"/>
                </a:lnTo>
                <a:lnTo>
                  <a:pt x="174843" y="139481"/>
                </a:lnTo>
                <a:lnTo>
                  <a:pt x="174843" y="245566"/>
                </a:lnTo>
                <a:lnTo>
                  <a:pt x="369986" y="245566"/>
                </a:lnTo>
                <a:lnTo>
                  <a:pt x="369986" y="384393"/>
                </a:lnTo>
                <a:lnTo>
                  <a:pt x="175498" y="384393"/>
                </a:lnTo>
                <a:lnTo>
                  <a:pt x="175498" y="500955"/>
                </a:lnTo>
                <a:lnTo>
                  <a:pt x="396835" y="500955"/>
                </a:lnTo>
                <a:lnTo>
                  <a:pt x="396835" y="64043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3522464" y="3120628"/>
            <a:ext cx="718820" cy="638810"/>
          </a:xfrm>
          <a:custGeom>
            <a:avLst/>
            <a:gdLst/>
            <a:ahLst/>
            <a:cxnLst/>
            <a:rect l="l" t="t" r="r" b="b"/>
            <a:pathLst>
              <a:path w="718820" h="638810">
                <a:moveTo>
                  <a:pt x="175498" y="638472"/>
                </a:moveTo>
                <a:lnTo>
                  <a:pt x="1309" y="638472"/>
                </a:lnTo>
                <a:lnTo>
                  <a:pt x="0" y="0"/>
                </a:lnTo>
                <a:lnTo>
                  <a:pt x="191869" y="0"/>
                </a:lnTo>
                <a:lnTo>
                  <a:pt x="336263" y="345757"/>
                </a:lnTo>
                <a:lnTo>
                  <a:pt x="174843" y="345757"/>
                </a:lnTo>
                <a:lnTo>
                  <a:pt x="175498" y="638472"/>
                </a:lnTo>
                <a:close/>
              </a:path>
              <a:path w="718820" h="638810">
                <a:moveTo>
                  <a:pt x="520202" y="401419"/>
                </a:moveTo>
                <a:lnTo>
                  <a:pt x="359509" y="401419"/>
                </a:lnTo>
                <a:lnTo>
                  <a:pt x="525184" y="0"/>
                </a:lnTo>
                <a:lnTo>
                  <a:pt x="717053" y="0"/>
                </a:lnTo>
                <a:lnTo>
                  <a:pt x="717763" y="345757"/>
                </a:lnTo>
                <a:lnTo>
                  <a:pt x="542865" y="345757"/>
                </a:lnTo>
                <a:lnTo>
                  <a:pt x="520202" y="401419"/>
                </a:lnTo>
                <a:close/>
              </a:path>
              <a:path w="718820" h="638810">
                <a:moveTo>
                  <a:pt x="423683" y="638472"/>
                </a:moveTo>
                <a:lnTo>
                  <a:pt x="295989" y="638472"/>
                </a:lnTo>
                <a:lnTo>
                  <a:pt x="174843" y="345757"/>
                </a:lnTo>
                <a:lnTo>
                  <a:pt x="336263" y="345757"/>
                </a:lnTo>
                <a:lnTo>
                  <a:pt x="359509" y="401419"/>
                </a:lnTo>
                <a:lnTo>
                  <a:pt x="520202" y="401419"/>
                </a:lnTo>
                <a:lnTo>
                  <a:pt x="423683" y="638472"/>
                </a:lnTo>
                <a:close/>
              </a:path>
              <a:path w="718820" h="638810">
                <a:moveTo>
                  <a:pt x="718363" y="638472"/>
                </a:moveTo>
                <a:lnTo>
                  <a:pt x="543520" y="638472"/>
                </a:lnTo>
                <a:lnTo>
                  <a:pt x="542865" y="345757"/>
                </a:lnTo>
                <a:lnTo>
                  <a:pt x="717763" y="345757"/>
                </a:lnTo>
                <a:lnTo>
                  <a:pt x="718363" y="6384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5014198" y="3112115"/>
            <a:ext cx="636270" cy="652780"/>
          </a:xfrm>
          <a:custGeom>
            <a:avLst/>
            <a:gdLst/>
            <a:ahLst/>
            <a:cxnLst/>
            <a:rect l="l" t="t" r="r" b="b"/>
            <a:pathLst>
              <a:path w="636270" h="652779">
                <a:moveTo>
                  <a:pt x="326766" y="652224"/>
                </a:moveTo>
                <a:lnTo>
                  <a:pt x="274059" y="648531"/>
                </a:lnTo>
                <a:lnTo>
                  <a:pt x="224464" y="637451"/>
                </a:lnTo>
                <a:lnTo>
                  <a:pt x="178106" y="618984"/>
                </a:lnTo>
                <a:lnTo>
                  <a:pt x="135112" y="593131"/>
                </a:lnTo>
                <a:lnTo>
                  <a:pt x="95607" y="559891"/>
                </a:lnTo>
                <a:lnTo>
                  <a:pt x="61586" y="520930"/>
                </a:lnTo>
                <a:lnTo>
                  <a:pt x="34984" y="477978"/>
                </a:lnTo>
                <a:lnTo>
                  <a:pt x="15831" y="431128"/>
                </a:lnTo>
                <a:lnTo>
                  <a:pt x="4159" y="380474"/>
                </a:lnTo>
                <a:lnTo>
                  <a:pt x="0" y="326112"/>
                </a:lnTo>
                <a:lnTo>
                  <a:pt x="3771" y="271686"/>
                </a:lnTo>
                <a:lnTo>
                  <a:pt x="15087" y="220907"/>
                </a:lnTo>
                <a:lnTo>
                  <a:pt x="33947" y="173963"/>
                </a:lnTo>
                <a:lnTo>
                  <a:pt x="60350" y="131042"/>
                </a:lnTo>
                <a:lnTo>
                  <a:pt x="94297" y="92333"/>
                </a:lnTo>
                <a:lnTo>
                  <a:pt x="134441" y="59093"/>
                </a:lnTo>
                <a:lnTo>
                  <a:pt x="177823" y="33239"/>
                </a:lnTo>
                <a:lnTo>
                  <a:pt x="224380" y="14773"/>
                </a:lnTo>
                <a:lnTo>
                  <a:pt x="274048" y="3693"/>
                </a:lnTo>
                <a:lnTo>
                  <a:pt x="326766" y="0"/>
                </a:lnTo>
                <a:lnTo>
                  <a:pt x="378048" y="3550"/>
                </a:lnTo>
                <a:lnTo>
                  <a:pt x="426630" y="14160"/>
                </a:lnTo>
                <a:lnTo>
                  <a:pt x="472264" y="31770"/>
                </a:lnTo>
                <a:lnTo>
                  <a:pt x="514706" y="56316"/>
                </a:lnTo>
                <a:lnTo>
                  <a:pt x="552892" y="87217"/>
                </a:lnTo>
                <a:lnTo>
                  <a:pt x="584938" y="123765"/>
                </a:lnTo>
                <a:lnTo>
                  <a:pt x="608798" y="162401"/>
                </a:lnTo>
                <a:lnTo>
                  <a:pt x="328731" y="162401"/>
                </a:lnTo>
                <a:lnTo>
                  <a:pt x="295047" y="165112"/>
                </a:lnTo>
                <a:lnTo>
                  <a:pt x="239958" y="186988"/>
                </a:lnTo>
                <a:lnTo>
                  <a:pt x="200391" y="230341"/>
                </a:lnTo>
                <a:lnTo>
                  <a:pt x="180030" y="290259"/>
                </a:lnTo>
                <a:lnTo>
                  <a:pt x="177462" y="326112"/>
                </a:lnTo>
                <a:lnTo>
                  <a:pt x="180030" y="361688"/>
                </a:lnTo>
                <a:lnTo>
                  <a:pt x="200391" y="421791"/>
                </a:lnTo>
                <a:lnTo>
                  <a:pt x="240061" y="465235"/>
                </a:lnTo>
                <a:lnTo>
                  <a:pt x="295600" y="487111"/>
                </a:lnTo>
                <a:lnTo>
                  <a:pt x="329385" y="489823"/>
                </a:lnTo>
                <a:lnTo>
                  <a:pt x="608537" y="489823"/>
                </a:lnTo>
                <a:lnTo>
                  <a:pt x="584857" y="528458"/>
                </a:lnTo>
                <a:lnTo>
                  <a:pt x="552882" y="565007"/>
                </a:lnTo>
                <a:lnTo>
                  <a:pt x="514707" y="595907"/>
                </a:lnTo>
                <a:lnTo>
                  <a:pt x="472265" y="620454"/>
                </a:lnTo>
                <a:lnTo>
                  <a:pt x="426630" y="638063"/>
                </a:lnTo>
                <a:lnTo>
                  <a:pt x="378049" y="648674"/>
                </a:lnTo>
                <a:lnTo>
                  <a:pt x="326766" y="652224"/>
                </a:lnTo>
                <a:close/>
              </a:path>
              <a:path w="636270" h="652779">
                <a:moveTo>
                  <a:pt x="635852" y="229850"/>
                </a:moveTo>
                <a:lnTo>
                  <a:pt x="432851" y="229850"/>
                </a:lnTo>
                <a:lnTo>
                  <a:pt x="428922" y="222646"/>
                </a:lnTo>
                <a:lnTo>
                  <a:pt x="410965" y="196105"/>
                </a:lnTo>
                <a:lnTo>
                  <a:pt x="388403" y="177298"/>
                </a:lnTo>
                <a:lnTo>
                  <a:pt x="361053" y="166105"/>
                </a:lnTo>
                <a:lnTo>
                  <a:pt x="328731" y="162401"/>
                </a:lnTo>
                <a:lnTo>
                  <a:pt x="608798" y="162401"/>
                </a:lnTo>
                <a:lnTo>
                  <a:pt x="610845" y="165716"/>
                </a:lnTo>
                <a:lnTo>
                  <a:pt x="630614" y="212824"/>
                </a:lnTo>
                <a:lnTo>
                  <a:pt x="635852" y="229850"/>
                </a:lnTo>
                <a:close/>
              </a:path>
              <a:path w="636270" h="652779">
                <a:moveTo>
                  <a:pt x="608537" y="489823"/>
                </a:moveTo>
                <a:lnTo>
                  <a:pt x="329385" y="489823"/>
                </a:lnTo>
                <a:lnTo>
                  <a:pt x="361606" y="486119"/>
                </a:lnTo>
                <a:lnTo>
                  <a:pt x="388731" y="474925"/>
                </a:lnTo>
                <a:lnTo>
                  <a:pt x="411067" y="456119"/>
                </a:lnTo>
                <a:lnTo>
                  <a:pt x="428922" y="429577"/>
                </a:lnTo>
                <a:lnTo>
                  <a:pt x="432196" y="422374"/>
                </a:lnTo>
                <a:lnTo>
                  <a:pt x="635198" y="422374"/>
                </a:lnTo>
                <a:lnTo>
                  <a:pt x="629959" y="439400"/>
                </a:lnTo>
                <a:lnTo>
                  <a:pt x="610569" y="486508"/>
                </a:lnTo>
                <a:lnTo>
                  <a:pt x="608537" y="489823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4325957" y="3119318"/>
            <a:ext cx="640715" cy="640080"/>
          </a:xfrm>
          <a:custGeom>
            <a:avLst/>
            <a:gdLst/>
            <a:ahLst/>
            <a:cxnLst/>
            <a:rect l="l" t="t" r="r" b="b"/>
            <a:pathLst>
              <a:path w="640714" h="640079">
                <a:moveTo>
                  <a:pt x="185975" y="639782"/>
                </a:moveTo>
                <a:lnTo>
                  <a:pt x="0" y="639782"/>
                </a:lnTo>
                <a:lnTo>
                  <a:pt x="219372" y="0"/>
                </a:lnTo>
                <a:lnTo>
                  <a:pt x="419100" y="0"/>
                </a:lnTo>
                <a:lnTo>
                  <a:pt x="499751" y="233124"/>
                </a:lnTo>
                <a:lnTo>
                  <a:pt x="318909" y="233124"/>
                </a:lnTo>
                <a:lnTo>
                  <a:pt x="265211" y="397490"/>
                </a:lnTo>
                <a:lnTo>
                  <a:pt x="556614" y="397490"/>
                </a:lnTo>
                <a:lnTo>
                  <a:pt x="604869" y="536971"/>
                </a:lnTo>
                <a:lnTo>
                  <a:pt x="219372" y="536971"/>
                </a:lnTo>
                <a:lnTo>
                  <a:pt x="185975" y="639782"/>
                </a:lnTo>
                <a:close/>
              </a:path>
              <a:path w="640714" h="640079">
                <a:moveTo>
                  <a:pt x="556614" y="397490"/>
                </a:moveTo>
                <a:lnTo>
                  <a:pt x="373916" y="397490"/>
                </a:lnTo>
                <a:lnTo>
                  <a:pt x="318909" y="233124"/>
                </a:lnTo>
                <a:lnTo>
                  <a:pt x="499751" y="233124"/>
                </a:lnTo>
                <a:lnTo>
                  <a:pt x="556614" y="397490"/>
                </a:lnTo>
                <a:close/>
              </a:path>
              <a:path w="640714" h="640079">
                <a:moveTo>
                  <a:pt x="640437" y="639782"/>
                </a:moveTo>
                <a:lnTo>
                  <a:pt x="453806" y="639782"/>
                </a:lnTo>
                <a:lnTo>
                  <a:pt x="419754" y="536971"/>
                </a:lnTo>
                <a:lnTo>
                  <a:pt x="604869" y="536971"/>
                </a:lnTo>
                <a:lnTo>
                  <a:pt x="640437" y="6397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5758755" y="3120628"/>
            <a:ext cx="560070" cy="638810"/>
          </a:xfrm>
          <a:custGeom>
            <a:avLst/>
            <a:gdLst/>
            <a:ahLst/>
            <a:cxnLst/>
            <a:rect l="l" t="t" r="r" b="b"/>
            <a:pathLst>
              <a:path w="560070" h="638810">
                <a:moveTo>
                  <a:pt x="175498" y="638472"/>
                </a:moveTo>
                <a:lnTo>
                  <a:pt x="1309" y="638472"/>
                </a:lnTo>
                <a:lnTo>
                  <a:pt x="0" y="0"/>
                </a:lnTo>
                <a:lnTo>
                  <a:pt x="174188" y="0"/>
                </a:lnTo>
                <a:lnTo>
                  <a:pt x="174843" y="245566"/>
                </a:lnTo>
                <a:lnTo>
                  <a:pt x="559085" y="245566"/>
                </a:lnTo>
                <a:lnTo>
                  <a:pt x="559370" y="384393"/>
                </a:lnTo>
                <a:lnTo>
                  <a:pt x="175498" y="384393"/>
                </a:lnTo>
                <a:lnTo>
                  <a:pt x="175498" y="638472"/>
                </a:lnTo>
                <a:close/>
              </a:path>
              <a:path w="560070" h="638810">
                <a:moveTo>
                  <a:pt x="559085" y="245566"/>
                </a:moveTo>
                <a:lnTo>
                  <a:pt x="385048" y="245566"/>
                </a:lnTo>
                <a:lnTo>
                  <a:pt x="384393" y="0"/>
                </a:lnTo>
                <a:lnTo>
                  <a:pt x="558581" y="0"/>
                </a:lnTo>
                <a:lnTo>
                  <a:pt x="559085" y="245566"/>
                </a:lnTo>
                <a:close/>
              </a:path>
              <a:path w="560070" h="638810">
                <a:moveTo>
                  <a:pt x="559891" y="638472"/>
                </a:moveTo>
                <a:lnTo>
                  <a:pt x="385703" y="638472"/>
                </a:lnTo>
                <a:lnTo>
                  <a:pt x="385048" y="384393"/>
                </a:lnTo>
                <a:lnTo>
                  <a:pt x="559370" y="384393"/>
                </a:lnTo>
                <a:lnTo>
                  <a:pt x="559891" y="6384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6465332" y="3120628"/>
            <a:ext cx="176530" cy="638810"/>
          </a:xfrm>
          <a:custGeom>
            <a:avLst/>
            <a:gdLst/>
            <a:ahLst/>
            <a:cxnLst/>
            <a:rect l="l" t="t" r="r" b="b"/>
            <a:pathLst>
              <a:path w="176529" h="638810">
                <a:moveTo>
                  <a:pt x="176152" y="638472"/>
                </a:moveTo>
                <a:lnTo>
                  <a:pt x="1964" y="638472"/>
                </a:lnTo>
                <a:lnTo>
                  <a:pt x="0" y="0"/>
                </a:lnTo>
                <a:lnTo>
                  <a:pt x="174843" y="0"/>
                </a:lnTo>
                <a:lnTo>
                  <a:pt x="176152" y="63847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6788170" y="3119318"/>
            <a:ext cx="573405" cy="640080"/>
          </a:xfrm>
          <a:custGeom>
            <a:avLst/>
            <a:gdLst/>
            <a:ahLst/>
            <a:cxnLst/>
            <a:rect l="l" t="t" r="r" b="b"/>
            <a:pathLst>
              <a:path w="573404" h="640079">
                <a:moveTo>
                  <a:pt x="176152" y="639782"/>
                </a:moveTo>
                <a:lnTo>
                  <a:pt x="1309" y="639782"/>
                </a:lnTo>
                <a:lnTo>
                  <a:pt x="0" y="0"/>
                </a:lnTo>
                <a:lnTo>
                  <a:pt x="168294" y="0"/>
                </a:lnTo>
                <a:lnTo>
                  <a:pt x="352344" y="284202"/>
                </a:lnTo>
                <a:lnTo>
                  <a:pt x="174843" y="284202"/>
                </a:lnTo>
                <a:lnTo>
                  <a:pt x="176152" y="639782"/>
                </a:lnTo>
                <a:close/>
              </a:path>
              <a:path w="573404" h="640079">
                <a:moveTo>
                  <a:pt x="572405" y="354925"/>
                </a:moveTo>
                <a:lnTo>
                  <a:pt x="398144" y="354925"/>
                </a:lnTo>
                <a:lnTo>
                  <a:pt x="397490" y="0"/>
                </a:lnTo>
                <a:lnTo>
                  <a:pt x="571678" y="0"/>
                </a:lnTo>
                <a:lnTo>
                  <a:pt x="572405" y="354925"/>
                </a:lnTo>
                <a:close/>
              </a:path>
              <a:path w="573404" h="640079">
                <a:moveTo>
                  <a:pt x="572988" y="639782"/>
                </a:moveTo>
                <a:lnTo>
                  <a:pt x="404693" y="639782"/>
                </a:lnTo>
                <a:lnTo>
                  <a:pt x="174843" y="284202"/>
                </a:lnTo>
                <a:lnTo>
                  <a:pt x="352344" y="284202"/>
                </a:lnTo>
                <a:lnTo>
                  <a:pt x="398144" y="354925"/>
                </a:lnTo>
                <a:lnTo>
                  <a:pt x="572405" y="354925"/>
                </a:lnTo>
                <a:lnTo>
                  <a:pt x="572988" y="6397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7507843" y="3119318"/>
            <a:ext cx="396875" cy="640080"/>
          </a:xfrm>
          <a:custGeom>
            <a:avLst/>
            <a:gdLst/>
            <a:ahLst/>
            <a:cxnLst/>
            <a:rect l="l" t="t" r="r" b="b"/>
            <a:pathLst>
              <a:path w="396875" h="640079">
                <a:moveTo>
                  <a:pt x="396835" y="639782"/>
                </a:moveTo>
                <a:lnTo>
                  <a:pt x="1964" y="639782"/>
                </a:lnTo>
                <a:lnTo>
                  <a:pt x="0" y="0"/>
                </a:lnTo>
                <a:lnTo>
                  <a:pt x="395525" y="0"/>
                </a:lnTo>
                <a:lnTo>
                  <a:pt x="396180" y="138826"/>
                </a:lnTo>
                <a:lnTo>
                  <a:pt x="174843" y="138826"/>
                </a:lnTo>
                <a:lnTo>
                  <a:pt x="175498" y="244911"/>
                </a:lnTo>
                <a:lnTo>
                  <a:pt x="369986" y="244911"/>
                </a:lnTo>
                <a:lnTo>
                  <a:pt x="370641" y="384393"/>
                </a:lnTo>
                <a:lnTo>
                  <a:pt x="175498" y="384393"/>
                </a:lnTo>
                <a:lnTo>
                  <a:pt x="176153" y="500300"/>
                </a:lnTo>
                <a:lnTo>
                  <a:pt x="396835" y="500300"/>
                </a:lnTo>
                <a:lnTo>
                  <a:pt x="396835" y="6397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4116407" y="2929413"/>
            <a:ext cx="66040" cy="17145"/>
          </a:xfrm>
          <a:custGeom>
            <a:avLst/>
            <a:gdLst/>
            <a:ahLst/>
            <a:cxnLst/>
            <a:rect l="l" t="t" r="r" b="b"/>
            <a:pathLst>
              <a:path w="66039" h="17144">
                <a:moveTo>
                  <a:pt x="37083" y="17025"/>
                </a:moveTo>
                <a:lnTo>
                  <a:pt x="28400" y="17025"/>
                </a:lnTo>
                <a:lnTo>
                  <a:pt x="24223" y="16809"/>
                </a:lnTo>
                <a:lnTo>
                  <a:pt x="0" y="9641"/>
                </a:lnTo>
                <a:lnTo>
                  <a:pt x="0" y="7384"/>
                </a:lnTo>
                <a:lnTo>
                  <a:pt x="28400" y="0"/>
                </a:lnTo>
                <a:lnTo>
                  <a:pt x="37083" y="0"/>
                </a:lnTo>
                <a:lnTo>
                  <a:pt x="65484" y="7384"/>
                </a:lnTo>
                <a:lnTo>
                  <a:pt x="65484" y="9641"/>
                </a:lnTo>
                <a:lnTo>
                  <a:pt x="37083" y="17025"/>
                </a:lnTo>
                <a:close/>
              </a:path>
            </a:pathLst>
          </a:custGeom>
          <a:solidFill>
            <a:srgbClr val="A6A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5551169" y="2929413"/>
            <a:ext cx="66040" cy="17145"/>
          </a:xfrm>
          <a:custGeom>
            <a:avLst/>
            <a:gdLst/>
            <a:ahLst/>
            <a:cxnLst/>
            <a:rect l="l" t="t" r="r" b="b"/>
            <a:pathLst>
              <a:path w="66039" h="17144">
                <a:moveTo>
                  <a:pt x="37084" y="17025"/>
                </a:moveTo>
                <a:lnTo>
                  <a:pt x="28400" y="17025"/>
                </a:lnTo>
                <a:lnTo>
                  <a:pt x="24223" y="16809"/>
                </a:lnTo>
                <a:lnTo>
                  <a:pt x="0" y="9641"/>
                </a:lnTo>
                <a:lnTo>
                  <a:pt x="0" y="7384"/>
                </a:lnTo>
                <a:lnTo>
                  <a:pt x="28400" y="0"/>
                </a:lnTo>
                <a:lnTo>
                  <a:pt x="37084" y="0"/>
                </a:lnTo>
                <a:lnTo>
                  <a:pt x="65484" y="7384"/>
                </a:lnTo>
                <a:lnTo>
                  <a:pt x="65484" y="9641"/>
                </a:lnTo>
                <a:lnTo>
                  <a:pt x="37084" y="17025"/>
                </a:lnTo>
                <a:close/>
              </a:path>
            </a:pathLst>
          </a:custGeom>
          <a:solidFill>
            <a:srgbClr val="A6A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6657200" y="2929413"/>
            <a:ext cx="66040" cy="17145"/>
          </a:xfrm>
          <a:custGeom>
            <a:avLst/>
            <a:gdLst/>
            <a:ahLst/>
            <a:cxnLst/>
            <a:rect l="l" t="t" r="r" b="b"/>
            <a:pathLst>
              <a:path w="66040" h="17144">
                <a:moveTo>
                  <a:pt x="37084" y="17025"/>
                </a:moveTo>
                <a:lnTo>
                  <a:pt x="28400" y="17025"/>
                </a:lnTo>
                <a:lnTo>
                  <a:pt x="24223" y="16809"/>
                </a:lnTo>
                <a:lnTo>
                  <a:pt x="0" y="9641"/>
                </a:lnTo>
                <a:lnTo>
                  <a:pt x="0" y="7384"/>
                </a:lnTo>
                <a:lnTo>
                  <a:pt x="28400" y="0"/>
                </a:lnTo>
                <a:lnTo>
                  <a:pt x="37084" y="0"/>
                </a:lnTo>
                <a:lnTo>
                  <a:pt x="65484" y="7384"/>
                </a:lnTo>
                <a:lnTo>
                  <a:pt x="65484" y="9641"/>
                </a:lnTo>
                <a:lnTo>
                  <a:pt x="37084" y="17025"/>
                </a:lnTo>
                <a:close/>
              </a:path>
            </a:pathLst>
          </a:custGeom>
          <a:solidFill>
            <a:srgbClr val="A6A8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/>
          <p:nvPr/>
        </p:nvSpPr>
        <p:spPr>
          <a:xfrm>
            <a:off x="7904678" y="3505675"/>
            <a:ext cx="1533525" cy="284480"/>
          </a:xfrm>
          <a:custGeom>
            <a:avLst/>
            <a:gdLst/>
            <a:ahLst/>
            <a:cxnLst/>
            <a:rect l="l" t="t" r="r" b="b"/>
            <a:pathLst>
              <a:path w="1533525" h="284479">
                <a:moveTo>
                  <a:pt x="0" y="212824"/>
                </a:moveTo>
                <a:lnTo>
                  <a:pt x="42044" y="213296"/>
                </a:lnTo>
                <a:lnTo>
                  <a:pt x="85579" y="214649"/>
                </a:lnTo>
                <a:lnTo>
                  <a:pt x="130472" y="216792"/>
                </a:lnTo>
                <a:lnTo>
                  <a:pt x="176590" y="219630"/>
                </a:lnTo>
                <a:lnTo>
                  <a:pt x="223800" y="223071"/>
                </a:lnTo>
                <a:lnTo>
                  <a:pt x="271970" y="227021"/>
                </a:lnTo>
                <a:lnTo>
                  <a:pt x="320966" y="231388"/>
                </a:lnTo>
                <a:lnTo>
                  <a:pt x="370657" y="236079"/>
                </a:lnTo>
                <a:lnTo>
                  <a:pt x="420909" y="240999"/>
                </a:lnTo>
                <a:lnTo>
                  <a:pt x="471589" y="246057"/>
                </a:lnTo>
                <a:lnTo>
                  <a:pt x="522566" y="251159"/>
                </a:lnTo>
                <a:lnTo>
                  <a:pt x="573705" y="256212"/>
                </a:lnTo>
                <a:lnTo>
                  <a:pt x="624876" y="261124"/>
                </a:lnTo>
                <a:lnTo>
                  <a:pt x="675943" y="265800"/>
                </a:lnTo>
                <a:lnTo>
                  <a:pt x="726776" y="270148"/>
                </a:lnTo>
                <a:lnTo>
                  <a:pt x="777241" y="274075"/>
                </a:lnTo>
                <a:lnTo>
                  <a:pt x="827206" y="277488"/>
                </a:lnTo>
                <a:lnTo>
                  <a:pt x="876537" y="280294"/>
                </a:lnTo>
                <a:lnTo>
                  <a:pt x="925103" y="282399"/>
                </a:lnTo>
                <a:lnTo>
                  <a:pt x="972770" y="283711"/>
                </a:lnTo>
                <a:lnTo>
                  <a:pt x="1019405" y="284136"/>
                </a:lnTo>
                <a:lnTo>
                  <a:pt x="1064877" y="283582"/>
                </a:lnTo>
                <a:lnTo>
                  <a:pt x="1109051" y="281955"/>
                </a:lnTo>
                <a:lnTo>
                  <a:pt x="1151796" y="279162"/>
                </a:lnTo>
                <a:lnTo>
                  <a:pt x="1192979" y="275111"/>
                </a:lnTo>
                <a:lnTo>
                  <a:pt x="1232467" y="269707"/>
                </a:lnTo>
                <a:lnTo>
                  <a:pt x="1270127" y="262859"/>
                </a:lnTo>
                <a:lnTo>
                  <a:pt x="1339432" y="244456"/>
                </a:lnTo>
                <a:lnTo>
                  <a:pt x="1399834" y="219156"/>
                </a:lnTo>
                <a:lnTo>
                  <a:pt x="1450271" y="186215"/>
                </a:lnTo>
                <a:lnTo>
                  <a:pt x="1489680" y="144889"/>
                </a:lnTo>
                <a:lnTo>
                  <a:pt x="1516999" y="94432"/>
                </a:lnTo>
                <a:lnTo>
                  <a:pt x="1531168" y="34101"/>
                </a:lnTo>
                <a:lnTo>
                  <a:pt x="1532989" y="0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5" name="object 185"/>
          <p:cNvSpPr/>
          <p:nvPr/>
        </p:nvSpPr>
        <p:spPr>
          <a:xfrm>
            <a:off x="7878484" y="3471624"/>
            <a:ext cx="1348105" cy="217170"/>
          </a:xfrm>
          <a:custGeom>
            <a:avLst/>
            <a:gdLst/>
            <a:ahLst/>
            <a:cxnLst/>
            <a:rect l="l" t="t" r="r" b="b"/>
            <a:pathLst>
              <a:path w="1348104" h="217170">
                <a:moveTo>
                  <a:pt x="0" y="0"/>
                </a:moveTo>
                <a:lnTo>
                  <a:pt x="69730" y="3860"/>
                </a:lnTo>
                <a:lnTo>
                  <a:pt x="107727" y="8444"/>
                </a:lnTo>
                <a:lnTo>
                  <a:pt x="147577" y="14582"/>
                </a:lnTo>
                <a:lnTo>
                  <a:pt x="189104" y="22113"/>
                </a:lnTo>
                <a:lnTo>
                  <a:pt x="232131" y="30876"/>
                </a:lnTo>
                <a:lnTo>
                  <a:pt x="276482" y="40709"/>
                </a:lnTo>
                <a:lnTo>
                  <a:pt x="321980" y="51452"/>
                </a:lnTo>
                <a:lnTo>
                  <a:pt x="368449" y="62943"/>
                </a:lnTo>
                <a:lnTo>
                  <a:pt x="415713" y="75021"/>
                </a:lnTo>
                <a:lnTo>
                  <a:pt x="463595" y="87525"/>
                </a:lnTo>
                <a:lnTo>
                  <a:pt x="511919" y="100293"/>
                </a:lnTo>
                <a:lnTo>
                  <a:pt x="560508" y="113165"/>
                </a:lnTo>
                <a:lnTo>
                  <a:pt x="609187" y="125980"/>
                </a:lnTo>
                <a:lnTo>
                  <a:pt x="657778" y="138575"/>
                </a:lnTo>
                <a:lnTo>
                  <a:pt x="706105" y="150790"/>
                </a:lnTo>
                <a:lnTo>
                  <a:pt x="753992" y="162465"/>
                </a:lnTo>
                <a:lnTo>
                  <a:pt x="801263" y="173436"/>
                </a:lnTo>
                <a:lnTo>
                  <a:pt x="847740" y="183544"/>
                </a:lnTo>
                <a:lnTo>
                  <a:pt x="893249" y="192627"/>
                </a:lnTo>
                <a:lnTo>
                  <a:pt x="937611" y="200524"/>
                </a:lnTo>
                <a:lnTo>
                  <a:pt x="980652" y="207074"/>
                </a:lnTo>
                <a:lnTo>
                  <a:pt x="1022194" y="212116"/>
                </a:lnTo>
                <a:lnTo>
                  <a:pt x="1062062" y="215488"/>
                </a:lnTo>
                <a:lnTo>
                  <a:pt x="1100078" y="217029"/>
                </a:lnTo>
                <a:lnTo>
                  <a:pt x="1136066" y="216578"/>
                </a:lnTo>
                <a:lnTo>
                  <a:pt x="1201255" y="209056"/>
                </a:lnTo>
                <a:lnTo>
                  <a:pt x="1256216" y="191632"/>
                </a:lnTo>
                <a:lnTo>
                  <a:pt x="1299539" y="163016"/>
                </a:lnTo>
                <a:lnTo>
                  <a:pt x="1329812" y="121919"/>
                </a:lnTo>
                <a:lnTo>
                  <a:pt x="1345625" y="67052"/>
                </a:lnTo>
                <a:lnTo>
                  <a:pt x="1347668" y="34051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6" name="object 186"/>
          <p:cNvSpPr/>
          <p:nvPr/>
        </p:nvSpPr>
        <p:spPr>
          <a:xfrm>
            <a:off x="7904678" y="3220819"/>
            <a:ext cx="1109980" cy="382905"/>
          </a:xfrm>
          <a:custGeom>
            <a:avLst/>
            <a:gdLst/>
            <a:ahLst/>
            <a:cxnLst/>
            <a:rect l="l" t="t" r="r" b="b"/>
            <a:pathLst>
              <a:path w="1109979" h="382904">
                <a:moveTo>
                  <a:pt x="0" y="0"/>
                </a:moveTo>
                <a:lnTo>
                  <a:pt x="49803" y="6846"/>
                </a:lnTo>
                <a:lnTo>
                  <a:pt x="112745" y="25857"/>
                </a:lnTo>
                <a:lnTo>
                  <a:pt x="148438" y="39207"/>
                </a:lnTo>
                <a:lnTo>
                  <a:pt x="186568" y="54738"/>
                </a:lnTo>
                <a:lnTo>
                  <a:pt x="226856" y="72164"/>
                </a:lnTo>
                <a:lnTo>
                  <a:pt x="269017" y="91197"/>
                </a:lnTo>
                <a:lnTo>
                  <a:pt x="312771" y="111551"/>
                </a:lnTo>
                <a:lnTo>
                  <a:pt x="357836" y="132939"/>
                </a:lnTo>
                <a:lnTo>
                  <a:pt x="403928" y="155074"/>
                </a:lnTo>
                <a:lnTo>
                  <a:pt x="450767" y="177671"/>
                </a:lnTo>
                <a:lnTo>
                  <a:pt x="498070" y="200441"/>
                </a:lnTo>
                <a:lnTo>
                  <a:pt x="545556" y="223099"/>
                </a:lnTo>
                <a:lnTo>
                  <a:pt x="592941" y="245358"/>
                </a:lnTo>
                <a:lnTo>
                  <a:pt x="639945" y="266930"/>
                </a:lnTo>
                <a:lnTo>
                  <a:pt x="686285" y="287530"/>
                </a:lnTo>
                <a:lnTo>
                  <a:pt x="731680" y="306871"/>
                </a:lnTo>
                <a:lnTo>
                  <a:pt x="775846" y="324665"/>
                </a:lnTo>
                <a:lnTo>
                  <a:pt x="818503" y="340627"/>
                </a:lnTo>
                <a:lnTo>
                  <a:pt x="859367" y="354469"/>
                </a:lnTo>
                <a:lnTo>
                  <a:pt x="898158" y="365905"/>
                </a:lnTo>
                <a:lnTo>
                  <a:pt x="968390" y="380413"/>
                </a:lnTo>
                <a:lnTo>
                  <a:pt x="999267" y="382910"/>
                </a:lnTo>
                <a:lnTo>
                  <a:pt x="1026942" y="381855"/>
                </a:lnTo>
                <a:lnTo>
                  <a:pt x="1071559" y="367939"/>
                </a:lnTo>
                <a:lnTo>
                  <a:pt x="1099983" y="336370"/>
                </a:lnTo>
                <a:lnTo>
                  <a:pt x="1107418" y="313250"/>
                </a:lnTo>
                <a:lnTo>
                  <a:pt x="1109959" y="284857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7" name="object 187"/>
          <p:cNvSpPr/>
          <p:nvPr/>
        </p:nvSpPr>
        <p:spPr>
          <a:xfrm>
            <a:off x="4146836" y="2937926"/>
            <a:ext cx="458470" cy="127635"/>
          </a:xfrm>
          <a:custGeom>
            <a:avLst/>
            <a:gdLst/>
            <a:ahLst/>
            <a:cxnLst/>
            <a:rect l="l" t="t" r="r" b="b"/>
            <a:pathLst>
              <a:path w="458470" h="127635">
                <a:moveTo>
                  <a:pt x="2312" y="0"/>
                </a:moveTo>
                <a:lnTo>
                  <a:pt x="7697" y="43116"/>
                </a:lnTo>
                <a:lnTo>
                  <a:pt x="48026" y="64511"/>
                </a:lnTo>
                <a:lnTo>
                  <a:pt x="113109" y="70744"/>
                </a:lnTo>
                <a:lnTo>
                  <a:pt x="151748" y="70224"/>
                </a:lnTo>
                <a:lnTo>
                  <a:pt x="192753" y="68372"/>
                </a:lnTo>
                <a:lnTo>
                  <a:pt x="234851" y="66008"/>
                </a:lnTo>
                <a:lnTo>
                  <a:pt x="276767" y="63952"/>
                </a:lnTo>
                <a:lnTo>
                  <a:pt x="317228" y="63024"/>
                </a:lnTo>
                <a:lnTo>
                  <a:pt x="388686" y="67829"/>
                </a:lnTo>
                <a:lnTo>
                  <a:pt x="439036" y="86982"/>
                </a:lnTo>
                <a:lnTo>
                  <a:pt x="453109" y="103988"/>
                </a:lnTo>
                <a:lnTo>
                  <a:pt x="458084" y="127039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8" name="object 188"/>
          <p:cNvSpPr/>
          <p:nvPr/>
        </p:nvSpPr>
        <p:spPr>
          <a:xfrm>
            <a:off x="5577363" y="2931378"/>
            <a:ext cx="248840" cy="13882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9" name="object 189"/>
          <p:cNvSpPr/>
          <p:nvPr/>
        </p:nvSpPr>
        <p:spPr>
          <a:xfrm>
            <a:off x="6676191" y="2931378"/>
            <a:ext cx="178772" cy="14013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0" name="object 190"/>
          <p:cNvSpPr/>
          <p:nvPr/>
        </p:nvSpPr>
        <p:spPr>
          <a:xfrm>
            <a:off x="1842135" y="2209799"/>
            <a:ext cx="440690" cy="422909"/>
          </a:xfrm>
          <a:custGeom>
            <a:avLst/>
            <a:gdLst/>
            <a:ahLst/>
            <a:cxnLst/>
            <a:rect l="l" t="t" r="r" b="b"/>
            <a:pathLst>
              <a:path w="440689" h="422910">
                <a:moveTo>
                  <a:pt x="0" y="422314"/>
                </a:moveTo>
                <a:lnTo>
                  <a:pt x="14762" y="385094"/>
                </a:lnTo>
                <a:lnTo>
                  <a:pt x="32637" y="348948"/>
                </a:lnTo>
                <a:lnTo>
                  <a:pt x="53472" y="313888"/>
                </a:lnTo>
                <a:lnTo>
                  <a:pt x="77111" y="279925"/>
                </a:lnTo>
                <a:lnTo>
                  <a:pt x="103400" y="247072"/>
                </a:lnTo>
                <a:lnTo>
                  <a:pt x="132184" y="215341"/>
                </a:lnTo>
                <a:lnTo>
                  <a:pt x="163309" y="184742"/>
                </a:lnTo>
                <a:lnTo>
                  <a:pt x="196621" y="155289"/>
                </a:lnTo>
                <a:lnTo>
                  <a:pt x="231965" y="126993"/>
                </a:lnTo>
                <a:lnTo>
                  <a:pt x="269186" y="99866"/>
                </a:lnTo>
                <a:lnTo>
                  <a:pt x="308129" y="73920"/>
                </a:lnTo>
                <a:lnTo>
                  <a:pt x="348641" y="49166"/>
                </a:lnTo>
                <a:lnTo>
                  <a:pt x="390567" y="25617"/>
                </a:lnTo>
                <a:lnTo>
                  <a:pt x="433752" y="3284"/>
                </a:lnTo>
                <a:lnTo>
                  <a:pt x="440646" y="0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1" name="object 191"/>
          <p:cNvSpPr/>
          <p:nvPr/>
        </p:nvSpPr>
        <p:spPr>
          <a:xfrm>
            <a:off x="3397885" y="2209799"/>
            <a:ext cx="635" cy="1905"/>
          </a:xfrm>
          <a:custGeom>
            <a:avLst/>
            <a:gdLst/>
            <a:ahLst/>
            <a:cxnLst/>
            <a:rect l="l" t="t" r="r" b="b"/>
            <a:pathLst>
              <a:path w="635" h="1905">
                <a:moveTo>
                  <a:pt x="0" y="0"/>
                </a:moveTo>
                <a:lnTo>
                  <a:pt x="157" y="1905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2" name="object 192"/>
          <p:cNvSpPr/>
          <p:nvPr/>
        </p:nvSpPr>
        <p:spPr>
          <a:xfrm>
            <a:off x="2122408" y="2209799"/>
            <a:ext cx="360680" cy="422909"/>
          </a:xfrm>
          <a:custGeom>
            <a:avLst/>
            <a:gdLst/>
            <a:ahLst/>
            <a:cxnLst/>
            <a:rect l="l" t="t" r="r" b="b"/>
            <a:pathLst>
              <a:path w="360680" h="422910">
                <a:moveTo>
                  <a:pt x="0" y="422314"/>
                </a:moveTo>
                <a:lnTo>
                  <a:pt x="13338" y="378771"/>
                </a:lnTo>
                <a:lnTo>
                  <a:pt x="30282" y="336780"/>
                </a:lnTo>
                <a:lnTo>
                  <a:pt x="50598" y="296363"/>
                </a:lnTo>
                <a:lnTo>
                  <a:pt x="74058" y="257546"/>
                </a:lnTo>
                <a:lnTo>
                  <a:pt x="100430" y="220352"/>
                </a:lnTo>
                <a:lnTo>
                  <a:pt x="129483" y="184803"/>
                </a:lnTo>
                <a:lnTo>
                  <a:pt x="160986" y="150925"/>
                </a:lnTo>
                <a:lnTo>
                  <a:pt x="194710" y="118740"/>
                </a:lnTo>
                <a:lnTo>
                  <a:pt x="230423" y="88272"/>
                </a:lnTo>
                <a:lnTo>
                  <a:pt x="267894" y="59546"/>
                </a:lnTo>
                <a:lnTo>
                  <a:pt x="306892" y="32584"/>
                </a:lnTo>
                <a:lnTo>
                  <a:pt x="347188" y="7410"/>
                </a:lnTo>
                <a:lnTo>
                  <a:pt x="360309" y="0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3" name="object 193"/>
          <p:cNvSpPr/>
          <p:nvPr/>
        </p:nvSpPr>
        <p:spPr>
          <a:xfrm>
            <a:off x="3225709" y="2209799"/>
            <a:ext cx="635" cy="1270"/>
          </a:xfrm>
          <a:custGeom>
            <a:avLst/>
            <a:gdLst/>
            <a:ahLst/>
            <a:cxnLst/>
            <a:rect l="l" t="t" r="r" b="b"/>
            <a:pathLst>
              <a:path w="635" h="1269">
                <a:moveTo>
                  <a:pt x="0" y="0"/>
                </a:moveTo>
                <a:lnTo>
                  <a:pt x="110" y="1250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4" name="object 194"/>
          <p:cNvSpPr/>
          <p:nvPr/>
        </p:nvSpPr>
        <p:spPr>
          <a:xfrm>
            <a:off x="2367319" y="2209799"/>
            <a:ext cx="266065" cy="414020"/>
          </a:xfrm>
          <a:custGeom>
            <a:avLst/>
            <a:gdLst/>
            <a:ahLst/>
            <a:cxnLst/>
            <a:rect l="l" t="t" r="r" b="b"/>
            <a:pathLst>
              <a:path w="266064" h="414019">
                <a:moveTo>
                  <a:pt x="0" y="413801"/>
                </a:moveTo>
                <a:lnTo>
                  <a:pt x="2565" y="372747"/>
                </a:lnTo>
                <a:lnTo>
                  <a:pt x="10013" y="332334"/>
                </a:lnTo>
                <a:lnTo>
                  <a:pt x="21967" y="292715"/>
                </a:lnTo>
                <a:lnTo>
                  <a:pt x="38051" y="254040"/>
                </a:lnTo>
                <a:lnTo>
                  <a:pt x="57890" y="216461"/>
                </a:lnTo>
                <a:lnTo>
                  <a:pt x="81109" y="180128"/>
                </a:lnTo>
                <a:lnTo>
                  <a:pt x="107332" y="145193"/>
                </a:lnTo>
                <a:lnTo>
                  <a:pt x="136184" y="111806"/>
                </a:lnTo>
                <a:lnTo>
                  <a:pt x="167289" y="80119"/>
                </a:lnTo>
                <a:lnTo>
                  <a:pt x="200271" y="50282"/>
                </a:lnTo>
                <a:lnTo>
                  <a:pt x="234755" y="22447"/>
                </a:lnTo>
                <a:lnTo>
                  <a:pt x="265881" y="0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5" name="object 195"/>
          <p:cNvSpPr/>
          <p:nvPr/>
        </p:nvSpPr>
        <p:spPr>
          <a:xfrm>
            <a:off x="3054083" y="2209799"/>
            <a:ext cx="635" cy="1905"/>
          </a:xfrm>
          <a:custGeom>
            <a:avLst/>
            <a:gdLst/>
            <a:ahLst/>
            <a:cxnLst/>
            <a:rect l="l" t="t" r="r" b="b"/>
            <a:pathLst>
              <a:path w="635" h="1905">
                <a:moveTo>
                  <a:pt x="0" y="0"/>
                </a:moveTo>
                <a:lnTo>
                  <a:pt x="166" y="1905"/>
                </a:lnTo>
              </a:path>
            </a:pathLst>
          </a:custGeom>
          <a:ln w="13096">
            <a:solidFill>
              <a:srgbClr val="A0A0A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6" name="object 196"/>
          <p:cNvSpPr/>
          <p:nvPr/>
        </p:nvSpPr>
        <p:spPr>
          <a:xfrm>
            <a:off x="1689556" y="2623601"/>
            <a:ext cx="832485" cy="832485"/>
          </a:xfrm>
          <a:custGeom>
            <a:avLst/>
            <a:gdLst/>
            <a:ahLst/>
            <a:cxnLst/>
            <a:rect l="l" t="t" r="r" b="b"/>
            <a:pathLst>
              <a:path w="832485" h="832485">
                <a:moveTo>
                  <a:pt x="733425" y="832306"/>
                </a:moveTo>
                <a:lnTo>
                  <a:pt x="0" y="832306"/>
                </a:lnTo>
                <a:lnTo>
                  <a:pt x="0" y="98226"/>
                </a:lnTo>
                <a:lnTo>
                  <a:pt x="98226" y="0"/>
                </a:lnTo>
                <a:lnTo>
                  <a:pt x="832306" y="0"/>
                </a:lnTo>
                <a:lnTo>
                  <a:pt x="832306" y="734079"/>
                </a:lnTo>
                <a:lnTo>
                  <a:pt x="733425" y="832306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7" name="object 197"/>
          <p:cNvSpPr/>
          <p:nvPr/>
        </p:nvSpPr>
        <p:spPr>
          <a:xfrm>
            <a:off x="1787782" y="2623601"/>
            <a:ext cx="733425" cy="733425"/>
          </a:xfrm>
          <a:custGeom>
            <a:avLst/>
            <a:gdLst/>
            <a:ahLst/>
            <a:cxnLst/>
            <a:rect l="l" t="t" r="r" b="b"/>
            <a:pathLst>
              <a:path w="733425" h="733425">
                <a:moveTo>
                  <a:pt x="0" y="0"/>
                </a:moveTo>
                <a:lnTo>
                  <a:pt x="733425" y="0"/>
                </a:lnTo>
                <a:lnTo>
                  <a:pt x="733425" y="733425"/>
                </a:lnTo>
                <a:lnTo>
                  <a:pt x="0" y="7334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8" name="object 198"/>
          <p:cNvSpPr/>
          <p:nvPr/>
        </p:nvSpPr>
        <p:spPr>
          <a:xfrm>
            <a:off x="1689556" y="2623601"/>
            <a:ext cx="98425" cy="832485"/>
          </a:xfrm>
          <a:custGeom>
            <a:avLst/>
            <a:gdLst/>
            <a:ahLst/>
            <a:cxnLst/>
            <a:rect l="l" t="t" r="r" b="b"/>
            <a:pathLst>
              <a:path w="98425" h="832485">
                <a:moveTo>
                  <a:pt x="0" y="832306"/>
                </a:moveTo>
                <a:lnTo>
                  <a:pt x="0" y="98226"/>
                </a:lnTo>
                <a:lnTo>
                  <a:pt x="98226" y="0"/>
                </a:lnTo>
                <a:lnTo>
                  <a:pt x="98226" y="734079"/>
                </a:lnTo>
                <a:lnTo>
                  <a:pt x="0" y="832306"/>
                </a:lnTo>
                <a:close/>
              </a:path>
            </a:pathLst>
          </a:custGeom>
          <a:solidFill>
            <a:srgbClr val="C3C3C3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9" name="object 199"/>
          <p:cNvSpPr/>
          <p:nvPr/>
        </p:nvSpPr>
        <p:spPr>
          <a:xfrm>
            <a:off x="2086391" y="2938581"/>
            <a:ext cx="115252" cy="11525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0" name="object 200"/>
          <p:cNvSpPr/>
          <p:nvPr/>
        </p:nvSpPr>
        <p:spPr>
          <a:xfrm>
            <a:off x="1963935" y="2815470"/>
            <a:ext cx="361315" cy="325755"/>
          </a:xfrm>
          <a:custGeom>
            <a:avLst/>
            <a:gdLst/>
            <a:ahLst/>
            <a:cxnLst/>
            <a:rect l="l" t="t" r="r" b="b"/>
            <a:pathLst>
              <a:path w="361314" h="325755">
                <a:moveTo>
                  <a:pt x="267831" y="36016"/>
                </a:moveTo>
                <a:lnTo>
                  <a:pt x="92987" y="36016"/>
                </a:lnTo>
                <a:lnTo>
                  <a:pt x="125730" y="0"/>
                </a:lnTo>
                <a:lnTo>
                  <a:pt x="235088" y="0"/>
                </a:lnTo>
                <a:lnTo>
                  <a:pt x="267831" y="36016"/>
                </a:lnTo>
                <a:close/>
              </a:path>
              <a:path w="361314" h="325755">
                <a:moveTo>
                  <a:pt x="324802" y="325457"/>
                </a:moveTo>
                <a:lnTo>
                  <a:pt x="36016" y="325457"/>
                </a:lnTo>
                <a:lnTo>
                  <a:pt x="22100" y="322592"/>
                </a:lnTo>
                <a:lnTo>
                  <a:pt x="10641" y="314816"/>
                </a:lnTo>
                <a:lnTo>
                  <a:pt x="2864" y="303356"/>
                </a:lnTo>
                <a:lnTo>
                  <a:pt x="0" y="289440"/>
                </a:lnTo>
                <a:lnTo>
                  <a:pt x="0" y="72032"/>
                </a:lnTo>
                <a:lnTo>
                  <a:pt x="2864" y="58117"/>
                </a:lnTo>
                <a:lnTo>
                  <a:pt x="10641" y="46657"/>
                </a:lnTo>
                <a:lnTo>
                  <a:pt x="22100" y="38881"/>
                </a:lnTo>
                <a:lnTo>
                  <a:pt x="36016" y="36016"/>
                </a:lnTo>
                <a:lnTo>
                  <a:pt x="324802" y="36016"/>
                </a:lnTo>
                <a:lnTo>
                  <a:pt x="338717" y="38881"/>
                </a:lnTo>
                <a:lnTo>
                  <a:pt x="350177" y="46657"/>
                </a:lnTo>
                <a:lnTo>
                  <a:pt x="357953" y="58117"/>
                </a:lnTo>
                <a:lnTo>
                  <a:pt x="360818" y="72032"/>
                </a:lnTo>
                <a:lnTo>
                  <a:pt x="360818" y="90368"/>
                </a:lnTo>
                <a:lnTo>
                  <a:pt x="180082" y="90368"/>
                </a:lnTo>
                <a:lnTo>
                  <a:pt x="144966" y="97489"/>
                </a:lnTo>
                <a:lnTo>
                  <a:pt x="116234" y="116889"/>
                </a:lnTo>
                <a:lnTo>
                  <a:pt x="96835" y="145620"/>
                </a:lnTo>
                <a:lnTo>
                  <a:pt x="89713" y="180736"/>
                </a:lnTo>
                <a:lnTo>
                  <a:pt x="96835" y="215852"/>
                </a:lnTo>
                <a:lnTo>
                  <a:pt x="116234" y="244584"/>
                </a:lnTo>
                <a:lnTo>
                  <a:pt x="144966" y="263983"/>
                </a:lnTo>
                <a:lnTo>
                  <a:pt x="180082" y="271105"/>
                </a:lnTo>
                <a:lnTo>
                  <a:pt x="360818" y="271105"/>
                </a:lnTo>
                <a:lnTo>
                  <a:pt x="360818" y="289440"/>
                </a:lnTo>
                <a:lnTo>
                  <a:pt x="357953" y="303356"/>
                </a:lnTo>
                <a:lnTo>
                  <a:pt x="350177" y="314816"/>
                </a:lnTo>
                <a:lnTo>
                  <a:pt x="338717" y="322592"/>
                </a:lnTo>
                <a:lnTo>
                  <a:pt x="324802" y="325457"/>
                </a:lnTo>
                <a:close/>
              </a:path>
              <a:path w="361314" h="325755">
                <a:moveTo>
                  <a:pt x="360818" y="271105"/>
                </a:moveTo>
                <a:lnTo>
                  <a:pt x="180082" y="271105"/>
                </a:lnTo>
                <a:lnTo>
                  <a:pt x="215198" y="263983"/>
                </a:lnTo>
                <a:lnTo>
                  <a:pt x="243929" y="244584"/>
                </a:lnTo>
                <a:lnTo>
                  <a:pt x="263329" y="215852"/>
                </a:lnTo>
                <a:lnTo>
                  <a:pt x="270450" y="180736"/>
                </a:lnTo>
                <a:lnTo>
                  <a:pt x="263329" y="145620"/>
                </a:lnTo>
                <a:lnTo>
                  <a:pt x="243929" y="116889"/>
                </a:lnTo>
                <a:lnTo>
                  <a:pt x="215198" y="97489"/>
                </a:lnTo>
                <a:lnTo>
                  <a:pt x="180082" y="90368"/>
                </a:lnTo>
                <a:lnTo>
                  <a:pt x="360818" y="90368"/>
                </a:lnTo>
                <a:lnTo>
                  <a:pt x="360818" y="271105"/>
                </a:lnTo>
                <a:close/>
              </a:path>
            </a:pathLst>
          </a:custGeom>
          <a:solidFill>
            <a:srgbClr val="A6A7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1" name="object 201"/>
          <p:cNvSpPr txBox="1"/>
          <p:nvPr/>
        </p:nvSpPr>
        <p:spPr>
          <a:xfrm>
            <a:off x="933450" y="4504054"/>
            <a:ext cx="9696450" cy="1259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378835" marR="3371215" indent="-635">
              <a:lnSpc>
                <a:spcPct val="130200"/>
              </a:lnSpc>
              <a:spcBef>
                <a:spcPts val="100"/>
              </a:spcBef>
            </a:pPr>
            <a:r>
              <a:rPr dirty="0" sz="1200" spc="50">
                <a:solidFill>
                  <a:srgbClr val="525353"/>
                </a:solidFill>
                <a:latin typeface="Lucida Sans Unicode"/>
                <a:cs typeface="Lucida Sans Unicode"/>
              </a:rPr>
              <a:t>Teach</a:t>
            </a:r>
            <a:r>
              <a:rPr dirty="0" sz="1200" spc="-60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145">
                <a:solidFill>
                  <a:srgbClr val="525353"/>
                </a:solidFill>
                <a:latin typeface="Lucida Sans Unicode"/>
                <a:cs typeface="Lucida Sans Unicode"/>
              </a:rPr>
              <a:t>a</a:t>
            </a:r>
            <a:r>
              <a:rPr dirty="0" sz="1200" spc="-60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60">
                <a:solidFill>
                  <a:srgbClr val="525353"/>
                </a:solidFill>
                <a:latin typeface="Lucida Sans Unicode"/>
                <a:cs typeface="Lucida Sans Unicode"/>
              </a:rPr>
              <a:t>machine</a:t>
            </a:r>
            <a:r>
              <a:rPr dirty="0" sz="1200" spc="-60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10">
                <a:solidFill>
                  <a:srgbClr val="525353"/>
                </a:solidFill>
                <a:latin typeface="Lucida Sans Unicode"/>
                <a:cs typeface="Lucida Sans Unicode"/>
              </a:rPr>
              <a:t>using</a:t>
            </a:r>
            <a:r>
              <a:rPr dirty="0" sz="1200" spc="-60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10">
                <a:solidFill>
                  <a:srgbClr val="525353"/>
                </a:solidFill>
                <a:latin typeface="Lucida Sans Unicode"/>
                <a:cs typeface="Lucida Sans Unicode"/>
              </a:rPr>
              <a:t>your</a:t>
            </a:r>
            <a:r>
              <a:rPr dirty="0" sz="1200" spc="-55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55">
                <a:solidFill>
                  <a:srgbClr val="525353"/>
                </a:solidFill>
                <a:latin typeface="Lucida Sans Unicode"/>
                <a:cs typeface="Lucida Sans Unicode"/>
              </a:rPr>
              <a:t>camera,  </a:t>
            </a:r>
            <a:r>
              <a:rPr dirty="0" sz="1200" spc="5">
                <a:solidFill>
                  <a:srgbClr val="525353"/>
                </a:solidFill>
                <a:latin typeface="Lucida Sans Unicode"/>
                <a:cs typeface="Lucida Sans Unicode"/>
              </a:rPr>
              <a:t>live</a:t>
            </a:r>
            <a:r>
              <a:rPr dirty="0" sz="1200" spc="-65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5">
                <a:solidFill>
                  <a:srgbClr val="525353"/>
                </a:solidFill>
                <a:latin typeface="Lucida Sans Unicode"/>
                <a:cs typeface="Lucida Sans Unicode"/>
              </a:rPr>
              <a:t>in</a:t>
            </a:r>
            <a:r>
              <a:rPr dirty="0" sz="1200" spc="-60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25">
                <a:solidFill>
                  <a:srgbClr val="525353"/>
                </a:solidFill>
                <a:latin typeface="Lucida Sans Unicode"/>
                <a:cs typeface="Lucida Sans Unicode"/>
              </a:rPr>
              <a:t>the</a:t>
            </a:r>
            <a:r>
              <a:rPr dirty="0" sz="1200" spc="-60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525353"/>
                </a:solidFill>
                <a:latin typeface="Lucida Sans Unicode"/>
                <a:cs typeface="Lucida Sans Unicode"/>
              </a:rPr>
              <a:t>browser.</a:t>
            </a:r>
            <a:r>
              <a:rPr dirty="0" sz="1200" spc="-65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-10">
                <a:solidFill>
                  <a:srgbClr val="525353"/>
                </a:solidFill>
                <a:latin typeface="Lucida Sans Unicode"/>
                <a:cs typeface="Lucida Sans Unicode"/>
              </a:rPr>
              <a:t>No</a:t>
            </a:r>
            <a:r>
              <a:rPr dirty="0" sz="1200" spc="-60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 spc="35">
                <a:solidFill>
                  <a:srgbClr val="525353"/>
                </a:solidFill>
                <a:latin typeface="Lucida Sans Unicode"/>
                <a:cs typeface="Lucida Sans Unicode"/>
              </a:rPr>
              <a:t>coding</a:t>
            </a:r>
            <a:r>
              <a:rPr dirty="0" sz="1200" spc="-60">
                <a:solidFill>
                  <a:srgbClr val="525353"/>
                </a:solidFill>
                <a:latin typeface="Lucida Sans Unicode"/>
                <a:cs typeface="Lucida Sans Unicode"/>
              </a:rPr>
              <a:t> </a:t>
            </a:r>
            <a:r>
              <a:rPr dirty="0" sz="1200">
                <a:solidFill>
                  <a:srgbClr val="525353"/>
                </a:solidFill>
                <a:latin typeface="Lucida Sans Unicode"/>
                <a:cs typeface="Lucida Sans Unicode"/>
              </a:rPr>
              <a:t>required.</a:t>
            </a:r>
            <a:endParaRPr sz="12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</a:pPr>
            <a:endParaRPr sz="17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350">
              <a:latin typeface="Lucida Sans Unicode"/>
              <a:cs typeface="Lucida Sans Unicode"/>
            </a:endParaRPr>
          </a:p>
          <a:p>
            <a:pPr algn="r" marR="182880">
              <a:lnSpc>
                <a:spcPct val="100000"/>
              </a:lnSpc>
            </a:pPr>
            <a:r>
              <a:rPr dirty="0" sz="1050" spc="35">
                <a:solidFill>
                  <a:srgbClr val="3F4040"/>
                </a:solidFill>
                <a:latin typeface="Lucida Sans Unicode"/>
                <a:cs typeface="Lucida Sans Unicode"/>
                <a:hlinkClick r:id="rId33"/>
              </a:rPr>
              <a:t>Privacy </a:t>
            </a:r>
            <a:r>
              <a:rPr dirty="0" sz="1050" spc="40">
                <a:solidFill>
                  <a:srgbClr val="3F4040"/>
                </a:solidFill>
                <a:latin typeface="Lucida Sans Unicode"/>
                <a:cs typeface="Lucida Sans Unicode"/>
                <a:hlinkClick r:id="rId33"/>
              </a:rPr>
              <a:t>&amp;</a:t>
            </a:r>
            <a:r>
              <a:rPr dirty="0" sz="1050" spc="-204">
                <a:solidFill>
                  <a:srgbClr val="3F4040"/>
                </a:solidFill>
                <a:latin typeface="Lucida Sans Unicode"/>
                <a:cs typeface="Lucida Sans Unicode"/>
                <a:hlinkClick r:id="rId33"/>
              </a:rPr>
              <a:t> </a:t>
            </a:r>
            <a:r>
              <a:rPr dirty="0" sz="1050" spc="5">
                <a:solidFill>
                  <a:srgbClr val="3F4040"/>
                </a:solidFill>
                <a:latin typeface="Lucida Sans Unicode"/>
                <a:cs typeface="Lucida Sans Unicode"/>
                <a:hlinkClick r:id="rId33"/>
              </a:rPr>
              <a:t>Terms</a:t>
            </a:r>
            <a:endParaRPr sz="1050">
              <a:latin typeface="Lucida Sans Unicode"/>
              <a:cs typeface="Lucida Sans Unicode"/>
            </a:endParaRPr>
          </a:p>
        </p:txBody>
      </p:sp>
      <p:sp>
        <p:nvSpPr>
          <p:cNvPr id="202" name="object 202"/>
          <p:cNvSpPr/>
          <p:nvPr/>
        </p:nvSpPr>
        <p:spPr>
          <a:xfrm>
            <a:off x="5105399" y="5219699"/>
            <a:ext cx="1428750" cy="447675"/>
          </a:xfrm>
          <a:custGeom>
            <a:avLst/>
            <a:gdLst/>
            <a:ahLst/>
            <a:cxnLst/>
            <a:rect l="l" t="t" r="r" b="b"/>
            <a:pathLst>
              <a:path w="1428750" h="447675">
                <a:moveTo>
                  <a:pt x="0" y="0"/>
                </a:moveTo>
                <a:lnTo>
                  <a:pt x="1428749" y="0"/>
                </a:lnTo>
                <a:lnTo>
                  <a:pt x="1428749" y="447674"/>
                </a:lnTo>
                <a:lnTo>
                  <a:pt x="0" y="447674"/>
                </a:lnTo>
                <a:lnTo>
                  <a:pt x="0" y="0"/>
                </a:lnTo>
                <a:close/>
              </a:path>
            </a:pathLst>
          </a:custGeom>
          <a:solidFill>
            <a:srgbClr val="3D80F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3" name="object 203"/>
          <p:cNvSpPr/>
          <p:nvPr/>
        </p:nvSpPr>
        <p:spPr>
          <a:xfrm>
            <a:off x="5029199" y="5667374"/>
            <a:ext cx="1504950" cy="76200"/>
          </a:xfrm>
          <a:custGeom>
            <a:avLst/>
            <a:gdLst/>
            <a:ahLst/>
            <a:cxnLst/>
            <a:rect l="l" t="t" r="r" b="b"/>
            <a:pathLst>
              <a:path w="1504950" h="76200">
                <a:moveTo>
                  <a:pt x="1428749" y="76199"/>
                </a:moveTo>
                <a:lnTo>
                  <a:pt x="0" y="76199"/>
                </a:lnTo>
                <a:lnTo>
                  <a:pt x="76199" y="0"/>
                </a:lnTo>
                <a:lnTo>
                  <a:pt x="1504949" y="0"/>
                </a:lnTo>
                <a:lnTo>
                  <a:pt x="1428749" y="76199"/>
                </a:lnTo>
                <a:close/>
              </a:path>
            </a:pathLst>
          </a:custGeom>
          <a:solidFill>
            <a:srgbClr val="2067D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4" name="object 204"/>
          <p:cNvSpPr/>
          <p:nvPr/>
        </p:nvSpPr>
        <p:spPr>
          <a:xfrm>
            <a:off x="5029199" y="5219699"/>
            <a:ext cx="76200" cy="523875"/>
          </a:xfrm>
          <a:custGeom>
            <a:avLst/>
            <a:gdLst/>
            <a:ahLst/>
            <a:cxnLst/>
            <a:rect l="l" t="t" r="r" b="b"/>
            <a:pathLst>
              <a:path w="76200" h="523875">
                <a:moveTo>
                  <a:pt x="0" y="523874"/>
                </a:moveTo>
                <a:lnTo>
                  <a:pt x="0" y="76199"/>
                </a:lnTo>
                <a:lnTo>
                  <a:pt x="76199" y="0"/>
                </a:lnTo>
                <a:lnTo>
                  <a:pt x="76199" y="447674"/>
                </a:lnTo>
                <a:lnTo>
                  <a:pt x="0" y="523874"/>
                </a:lnTo>
                <a:close/>
              </a:path>
            </a:pathLst>
          </a:custGeom>
          <a:solidFill>
            <a:srgbClr val="2873E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5" name="object 205"/>
          <p:cNvSpPr txBox="1"/>
          <p:nvPr/>
        </p:nvSpPr>
        <p:spPr>
          <a:xfrm>
            <a:off x="5105399" y="5321300"/>
            <a:ext cx="1428750" cy="2311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72440">
              <a:lnSpc>
                <a:spcPct val="100000"/>
              </a:lnSpc>
              <a:spcBef>
                <a:spcPts val="100"/>
              </a:spcBef>
            </a:pPr>
            <a:r>
              <a:rPr dirty="0" sz="1350" spc="-40">
                <a:solidFill>
                  <a:srgbClr val="ABABAB"/>
                </a:solidFill>
                <a:latin typeface="Lucida Sans Unicode"/>
                <a:cs typeface="Lucida Sans Unicode"/>
              </a:rPr>
              <a:t>Let’s</a:t>
            </a:r>
            <a:r>
              <a:rPr dirty="0" sz="1350" spc="-85">
                <a:solidFill>
                  <a:srgbClr val="ABABAB"/>
                </a:solidFill>
                <a:latin typeface="Lucida Sans Unicode"/>
                <a:cs typeface="Lucida Sans Unicode"/>
              </a:rPr>
              <a:t> </a:t>
            </a:r>
            <a:r>
              <a:rPr dirty="0" sz="1350" spc="25">
                <a:solidFill>
                  <a:srgbClr val="ABABAB"/>
                </a:solidFill>
                <a:latin typeface="Lucida Sans Unicode"/>
                <a:cs typeface="Lucida Sans Unicode"/>
              </a:rPr>
              <a:t>Go!</a:t>
            </a:r>
            <a:endParaRPr sz="1350">
              <a:latin typeface="Lucida Sans Unicode"/>
              <a:cs typeface="Lucida Sans Unicode"/>
            </a:endParaRPr>
          </a:p>
        </p:txBody>
      </p:sp>
      <p:sp>
        <p:nvSpPr>
          <p:cNvPr id="206" name="object 206"/>
          <p:cNvSpPr/>
          <p:nvPr/>
        </p:nvSpPr>
        <p:spPr>
          <a:xfrm>
            <a:off x="5353049" y="5391149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0" y="0"/>
                </a:moveTo>
                <a:lnTo>
                  <a:pt x="133349" y="0"/>
                </a:lnTo>
                <a:lnTo>
                  <a:pt x="133349" y="133349"/>
                </a:lnTo>
                <a:lnTo>
                  <a:pt x="0" y="1333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7" name="object 207"/>
          <p:cNvSpPr/>
          <p:nvPr/>
        </p:nvSpPr>
        <p:spPr>
          <a:xfrm>
            <a:off x="9403080" y="182880"/>
            <a:ext cx="1978660" cy="966469"/>
          </a:xfrm>
          <a:custGeom>
            <a:avLst/>
            <a:gdLst/>
            <a:ahLst/>
            <a:cxnLst/>
            <a:rect l="l" t="t" r="r" b="b"/>
            <a:pathLst>
              <a:path w="1978659" h="966469">
                <a:moveTo>
                  <a:pt x="1978152" y="966216"/>
                </a:moveTo>
                <a:lnTo>
                  <a:pt x="0" y="966216"/>
                </a:lnTo>
                <a:lnTo>
                  <a:pt x="0" y="0"/>
                </a:lnTo>
                <a:lnTo>
                  <a:pt x="1978152" y="0"/>
                </a:lnTo>
                <a:lnTo>
                  <a:pt x="1978152" y="102870"/>
                </a:lnTo>
                <a:lnTo>
                  <a:pt x="274319" y="102870"/>
                </a:lnTo>
                <a:lnTo>
                  <a:pt x="261182" y="103504"/>
                </a:lnTo>
                <a:lnTo>
                  <a:pt x="223287" y="113020"/>
                </a:lnTo>
                <a:lnTo>
                  <a:pt x="189762" y="133087"/>
                </a:lnTo>
                <a:lnTo>
                  <a:pt x="163420" y="162120"/>
                </a:lnTo>
                <a:lnTo>
                  <a:pt x="146677" y="197568"/>
                </a:lnTo>
                <a:lnTo>
                  <a:pt x="140969" y="236220"/>
                </a:lnTo>
                <a:lnTo>
                  <a:pt x="140969" y="655320"/>
                </a:lnTo>
                <a:lnTo>
                  <a:pt x="146677" y="693971"/>
                </a:lnTo>
                <a:lnTo>
                  <a:pt x="163420" y="729419"/>
                </a:lnTo>
                <a:lnTo>
                  <a:pt x="189762" y="758452"/>
                </a:lnTo>
                <a:lnTo>
                  <a:pt x="223287" y="778519"/>
                </a:lnTo>
                <a:lnTo>
                  <a:pt x="261182" y="788035"/>
                </a:lnTo>
                <a:lnTo>
                  <a:pt x="274319" y="788670"/>
                </a:lnTo>
                <a:lnTo>
                  <a:pt x="1978152" y="788670"/>
                </a:lnTo>
                <a:lnTo>
                  <a:pt x="1978152" y="966216"/>
                </a:lnTo>
                <a:close/>
              </a:path>
              <a:path w="1978659" h="966469">
                <a:moveTo>
                  <a:pt x="1978152" y="788670"/>
                </a:moveTo>
                <a:lnTo>
                  <a:pt x="1703069" y="788670"/>
                </a:lnTo>
                <a:lnTo>
                  <a:pt x="1716205" y="788035"/>
                </a:lnTo>
                <a:lnTo>
                  <a:pt x="1729088" y="786132"/>
                </a:lnTo>
                <a:lnTo>
                  <a:pt x="1765992" y="772906"/>
                </a:lnTo>
                <a:lnTo>
                  <a:pt x="1797360" y="749612"/>
                </a:lnTo>
                <a:lnTo>
                  <a:pt x="1820653" y="718244"/>
                </a:lnTo>
                <a:lnTo>
                  <a:pt x="1833880" y="681340"/>
                </a:lnTo>
                <a:lnTo>
                  <a:pt x="1836419" y="655320"/>
                </a:lnTo>
                <a:lnTo>
                  <a:pt x="1836419" y="236220"/>
                </a:lnTo>
                <a:lnTo>
                  <a:pt x="1830708" y="197568"/>
                </a:lnTo>
                <a:lnTo>
                  <a:pt x="1813965" y="162120"/>
                </a:lnTo>
                <a:lnTo>
                  <a:pt x="1787623" y="133087"/>
                </a:lnTo>
                <a:lnTo>
                  <a:pt x="1754098" y="113020"/>
                </a:lnTo>
                <a:lnTo>
                  <a:pt x="1716205" y="103504"/>
                </a:lnTo>
                <a:lnTo>
                  <a:pt x="1703069" y="102870"/>
                </a:lnTo>
                <a:lnTo>
                  <a:pt x="1978152" y="102870"/>
                </a:lnTo>
                <a:lnTo>
                  <a:pt x="1978152" y="788670"/>
                </a:lnTo>
                <a:close/>
              </a:path>
            </a:pathLst>
          </a:custGeom>
          <a:solidFill>
            <a:srgbClr val="323232">
              <a:alpha val="3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08" name="object 208"/>
          <p:cNvSpPr/>
          <p:nvPr/>
        </p:nvSpPr>
        <p:spPr>
          <a:xfrm>
            <a:off x="9548811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1565780" y="676274"/>
                </a:moveTo>
                <a:lnTo>
                  <a:pt x="120144" y="676274"/>
                </a:lnTo>
                <a:lnTo>
                  <a:pt x="111782" y="675451"/>
                </a:lnTo>
                <a:lnTo>
                  <a:pt x="71578" y="663255"/>
                </a:lnTo>
                <a:lnTo>
                  <a:pt x="31692" y="632642"/>
                </a:lnTo>
                <a:lnTo>
                  <a:pt x="6556" y="589095"/>
                </a:lnTo>
                <a:lnTo>
                  <a:pt x="0" y="556130"/>
                </a:lnTo>
                <a:lnTo>
                  <a:pt x="0" y="120144"/>
                </a:lnTo>
                <a:lnTo>
                  <a:pt x="13018" y="71578"/>
                </a:lnTo>
                <a:lnTo>
                  <a:pt x="43632" y="31692"/>
                </a:lnTo>
                <a:lnTo>
                  <a:pt x="87178" y="6557"/>
                </a:lnTo>
                <a:lnTo>
                  <a:pt x="120144" y="0"/>
                </a:lnTo>
                <a:lnTo>
                  <a:pt x="1565780" y="0"/>
                </a:lnTo>
                <a:lnTo>
                  <a:pt x="1614345" y="13019"/>
                </a:lnTo>
                <a:lnTo>
                  <a:pt x="1654232" y="43632"/>
                </a:lnTo>
                <a:lnTo>
                  <a:pt x="1679366" y="87179"/>
                </a:lnTo>
                <a:lnTo>
                  <a:pt x="1685925" y="120144"/>
                </a:lnTo>
                <a:lnTo>
                  <a:pt x="1685925" y="556130"/>
                </a:lnTo>
                <a:lnTo>
                  <a:pt x="1672904" y="604696"/>
                </a:lnTo>
                <a:lnTo>
                  <a:pt x="1642292" y="644582"/>
                </a:lnTo>
                <a:lnTo>
                  <a:pt x="1598743" y="669717"/>
                </a:lnTo>
                <a:lnTo>
                  <a:pt x="1565780" y="67627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9" name="object 209"/>
          <p:cNvSpPr/>
          <p:nvPr/>
        </p:nvSpPr>
        <p:spPr>
          <a:xfrm>
            <a:off x="9548810" y="290512"/>
            <a:ext cx="1685925" cy="676275"/>
          </a:xfrm>
          <a:custGeom>
            <a:avLst/>
            <a:gdLst/>
            <a:ahLst/>
            <a:cxnLst/>
            <a:rect l="l" t="t" r="r" b="b"/>
            <a:pathLst>
              <a:path w="1685925" h="676275">
                <a:moveTo>
                  <a:pt x="0" y="547687"/>
                </a:moveTo>
                <a:lnTo>
                  <a:pt x="0" y="128587"/>
                </a:lnTo>
                <a:lnTo>
                  <a:pt x="0" y="120144"/>
                </a:lnTo>
                <a:lnTo>
                  <a:pt x="823" y="111782"/>
                </a:lnTo>
                <a:lnTo>
                  <a:pt x="2470" y="103501"/>
                </a:lnTo>
                <a:lnTo>
                  <a:pt x="4117" y="95220"/>
                </a:lnTo>
                <a:lnTo>
                  <a:pt x="6556" y="87179"/>
                </a:lnTo>
                <a:lnTo>
                  <a:pt x="9787" y="79379"/>
                </a:lnTo>
                <a:lnTo>
                  <a:pt x="13018" y="71578"/>
                </a:lnTo>
                <a:lnTo>
                  <a:pt x="37662" y="37662"/>
                </a:lnTo>
                <a:lnTo>
                  <a:pt x="43632" y="31692"/>
                </a:lnTo>
                <a:lnTo>
                  <a:pt x="50127" y="26361"/>
                </a:lnTo>
                <a:lnTo>
                  <a:pt x="57147" y="21670"/>
                </a:lnTo>
                <a:lnTo>
                  <a:pt x="64167" y="16980"/>
                </a:lnTo>
                <a:lnTo>
                  <a:pt x="71577" y="13019"/>
                </a:lnTo>
                <a:lnTo>
                  <a:pt x="79378" y="9788"/>
                </a:lnTo>
                <a:lnTo>
                  <a:pt x="87178" y="6557"/>
                </a:lnTo>
                <a:lnTo>
                  <a:pt x="95219" y="4117"/>
                </a:lnTo>
                <a:lnTo>
                  <a:pt x="103501" y="2470"/>
                </a:lnTo>
                <a:lnTo>
                  <a:pt x="111782" y="823"/>
                </a:lnTo>
                <a:lnTo>
                  <a:pt x="120144" y="0"/>
                </a:lnTo>
                <a:lnTo>
                  <a:pt x="128588" y="0"/>
                </a:lnTo>
                <a:lnTo>
                  <a:pt x="1557337" y="0"/>
                </a:lnTo>
                <a:lnTo>
                  <a:pt x="1565780" y="0"/>
                </a:lnTo>
                <a:lnTo>
                  <a:pt x="1574142" y="823"/>
                </a:lnTo>
                <a:lnTo>
                  <a:pt x="1582422" y="2470"/>
                </a:lnTo>
                <a:lnTo>
                  <a:pt x="1590703" y="4117"/>
                </a:lnTo>
                <a:lnTo>
                  <a:pt x="1598743" y="6557"/>
                </a:lnTo>
                <a:lnTo>
                  <a:pt x="1606544" y="9788"/>
                </a:lnTo>
                <a:lnTo>
                  <a:pt x="1614344" y="13019"/>
                </a:lnTo>
                <a:lnTo>
                  <a:pt x="1648262" y="37662"/>
                </a:lnTo>
                <a:lnTo>
                  <a:pt x="1672904" y="71578"/>
                </a:lnTo>
                <a:lnTo>
                  <a:pt x="1685101" y="111782"/>
                </a:lnTo>
                <a:lnTo>
                  <a:pt x="1685925" y="120144"/>
                </a:lnTo>
                <a:lnTo>
                  <a:pt x="1685925" y="128587"/>
                </a:lnTo>
                <a:lnTo>
                  <a:pt x="1685925" y="547687"/>
                </a:lnTo>
                <a:lnTo>
                  <a:pt x="1685925" y="556130"/>
                </a:lnTo>
                <a:lnTo>
                  <a:pt x="1685101" y="564492"/>
                </a:lnTo>
                <a:lnTo>
                  <a:pt x="1672904" y="604696"/>
                </a:lnTo>
                <a:lnTo>
                  <a:pt x="1648262" y="638612"/>
                </a:lnTo>
                <a:lnTo>
                  <a:pt x="1628775" y="654603"/>
                </a:lnTo>
                <a:lnTo>
                  <a:pt x="1621754" y="659294"/>
                </a:lnTo>
                <a:lnTo>
                  <a:pt x="1614344" y="663255"/>
                </a:lnTo>
                <a:lnTo>
                  <a:pt x="1606544" y="666486"/>
                </a:lnTo>
                <a:lnTo>
                  <a:pt x="1598743" y="669717"/>
                </a:lnTo>
                <a:lnTo>
                  <a:pt x="1590703" y="672156"/>
                </a:lnTo>
                <a:lnTo>
                  <a:pt x="1582422" y="673804"/>
                </a:lnTo>
                <a:lnTo>
                  <a:pt x="1574142" y="675451"/>
                </a:lnTo>
                <a:lnTo>
                  <a:pt x="1565780" y="676274"/>
                </a:lnTo>
                <a:lnTo>
                  <a:pt x="1557337" y="676274"/>
                </a:lnTo>
                <a:lnTo>
                  <a:pt x="128588" y="676274"/>
                </a:lnTo>
                <a:lnTo>
                  <a:pt x="120144" y="676274"/>
                </a:lnTo>
                <a:lnTo>
                  <a:pt x="111782" y="675451"/>
                </a:lnTo>
                <a:lnTo>
                  <a:pt x="103501" y="673804"/>
                </a:lnTo>
                <a:lnTo>
                  <a:pt x="95219" y="672156"/>
                </a:lnTo>
                <a:lnTo>
                  <a:pt x="87178" y="669717"/>
                </a:lnTo>
                <a:lnTo>
                  <a:pt x="79378" y="666486"/>
                </a:lnTo>
                <a:lnTo>
                  <a:pt x="71578" y="663255"/>
                </a:lnTo>
                <a:lnTo>
                  <a:pt x="64167" y="659294"/>
                </a:lnTo>
                <a:lnTo>
                  <a:pt x="57147" y="654603"/>
                </a:lnTo>
                <a:lnTo>
                  <a:pt x="50127" y="649913"/>
                </a:lnTo>
                <a:lnTo>
                  <a:pt x="21670" y="619126"/>
                </a:lnTo>
                <a:lnTo>
                  <a:pt x="16979" y="612106"/>
                </a:lnTo>
                <a:lnTo>
                  <a:pt x="13018" y="604696"/>
                </a:lnTo>
                <a:lnTo>
                  <a:pt x="9787" y="596895"/>
                </a:lnTo>
                <a:lnTo>
                  <a:pt x="6556" y="589095"/>
                </a:lnTo>
                <a:lnTo>
                  <a:pt x="4117" y="581054"/>
                </a:lnTo>
                <a:lnTo>
                  <a:pt x="2470" y="572773"/>
                </a:lnTo>
                <a:lnTo>
                  <a:pt x="823" y="564492"/>
                </a:lnTo>
                <a:lnTo>
                  <a:pt x="0" y="556130"/>
                </a:lnTo>
                <a:lnTo>
                  <a:pt x="0" y="547687"/>
                </a:lnTo>
                <a:close/>
              </a:path>
            </a:pathLst>
          </a:custGeom>
          <a:ln w="28574">
            <a:solidFill>
              <a:srgbClr val="DDDDD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0" name="object 210"/>
          <p:cNvSpPr txBox="1">
            <a:spLocks noGrp="1"/>
          </p:cNvSpPr>
          <p:nvPr>
            <p:ph type="title"/>
          </p:nvPr>
        </p:nvSpPr>
        <p:spPr>
          <a:xfrm>
            <a:off x="9694912" y="320675"/>
            <a:ext cx="1397635" cy="57404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>
                <a:solidFill>
                  <a:srgbClr val="C2132D"/>
                </a:solidFill>
                <a:latin typeface="Courier New"/>
                <a:cs typeface="Courier New"/>
              </a:rPr>
              <a:t>05:00</a:t>
            </a:r>
            <a:endParaRPr sz="3600">
              <a:latin typeface="Courier New"/>
              <a:cs typeface="Courier New"/>
            </a:endParaRPr>
          </a:p>
        </p:txBody>
      </p:sp>
      <p:sp>
        <p:nvSpPr>
          <p:cNvPr id="211" name="object 2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13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4920" y="2758440"/>
            <a:ext cx="9004300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1105"/>
              </a:spcBef>
            </a:pPr>
            <a:r>
              <a:rPr dirty="0" spc="-1050">
                <a:solidFill>
                  <a:srgbClr val="000000"/>
                </a:solidFill>
              </a:rPr>
              <a:t>P</a:t>
            </a:r>
            <a:r>
              <a:rPr dirty="0" spc="-1050"/>
              <a:t>P</a:t>
            </a:r>
            <a:r>
              <a:rPr dirty="0" spc="-1050">
                <a:solidFill>
                  <a:srgbClr val="000000"/>
                </a:solidFill>
              </a:rPr>
              <a:t>r</a:t>
            </a:r>
            <a:r>
              <a:rPr dirty="0" spc="-1050"/>
              <a:t>r</a:t>
            </a:r>
            <a:r>
              <a:rPr dirty="0" spc="-1050">
                <a:solidFill>
                  <a:srgbClr val="000000"/>
                </a:solidFill>
              </a:rPr>
              <a:t>e</a:t>
            </a:r>
            <a:r>
              <a:rPr dirty="0" spc="-1050"/>
              <a:t>e</a:t>
            </a:r>
            <a:r>
              <a:rPr dirty="0" spc="-1050">
                <a:solidFill>
                  <a:srgbClr val="000000"/>
                </a:solidFill>
              </a:rPr>
              <a:t>p</a:t>
            </a:r>
            <a:r>
              <a:rPr dirty="0" spc="-1050"/>
              <a:t>p</a:t>
            </a:r>
            <a:r>
              <a:rPr dirty="0" spc="-1050">
                <a:solidFill>
                  <a:srgbClr val="000000"/>
                </a:solidFill>
              </a:rPr>
              <a:t>r</a:t>
            </a:r>
            <a:r>
              <a:rPr dirty="0" spc="-1050"/>
              <a:t>r</a:t>
            </a:r>
            <a:r>
              <a:rPr dirty="0" spc="-1050">
                <a:solidFill>
                  <a:srgbClr val="000000"/>
                </a:solidFill>
              </a:rPr>
              <a:t>o</a:t>
            </a:r>
            <a:r>
              <a:rPr dirty="0" spc="-1050"/>
              <a:t>o</a:t>
            </a:r>
            <a:r>
              <a:rPr dirty="0" spc="-1050">
                <a:solidFill>
                  <a:srgbClr val="000000"/>
                </a:solidFill>
              </a:rPr>
              <a:t>c</a:t>
            </a:r>
            <a:r>
              <a:rPr dirty="0" spc="-1050"/>
              <a:t>c</a:t>
            </a:r>
            <a:r>
              <a:rPr dirty="0" spc="-1050">
                <a:solidFill>
                  <a:srgbClr val="000000"/>
                </a:solidFill>
              </a:rPr>
              <a:t>e</a:t>
            </a:r>
            <a:r>
              <a:rPr dirty="0" spc="-1050"/>
              <a:t>e</a:t>
            </a:r>
            <a:r>
              <a:rPr dirty="0" spc="-1050">
                <a:solidFill>
                  <a:srgbClr val="000000"/>
                </a:solidFill>
              </a:rPr>
              <a:t>s</a:t>
            </a:r>
            <a:r>
              <a:rPr dirty="0" spc="-1050"/>
              <a:t>s</a:t>
            </a:r>
            <a:r>
              <a:rPr dirty="0" spc="-1050">
                <a:solidFill>
                  <a:srgbClr val="000000"/>
                </a:solidFill>
              </a:rPr>
              <a:t>s</a:t>
            </a:r>
            <a:r>
              <a:rPr dirty="0" spc="-1050"/>
              <a:t>s</a:t>
            </a:r>
            <a:r>
              <a:rPr dirty="0" spc="-1050">
                <a:solidFill>
                  <a:srgbClr val="000000"/>
                </a:solidFill>
              </a:rPr>
              <a:t>i</a:t>
            </a:r>
            <a:r>
              <a:rPr dirty="0" spc="-1050"/>
              <a:t>i</a:t>
            </a:r>
            <a:r>
              <a:rPr dirty="0" spc="-1050">
                <a:solidFill>
                  <a:srgbClr val="000000"/>
                </a:solidFill>
              </a:rPr>
              <a:t>n</a:t>
            </a:r>
            <a:r>
              <a:rPr dirty="0" spc="-1050"/>
              <a:t>n</a:t>
            </a:r>
            <a:r>
              <a:rPr dirty="0" spc="-1050">
                <a:solidFill>
                  <a:srgbClr val="000000"/>
                </a:solidFill>
              </a:rPr>
              <a:t>g</a:t>
            </a:r>
            <a:r>
              <a:rPr dirty="0" spc="-1050"/>
              <a:t>g </a:t>
            </a:r>
            <a:r>
              <a:rPr dirty="0" spc="-1040">
                <a:solidFill>
                  <a:srgbClr val="000000"/>
                </a:solidFill>
              </a:rPr>
              <a:t>S</a:t>
            </a:r>
            <a:r>
              <a:rPr dirty="0" spc="-1040"/>
              <a:t>S</a:t>
            </a:r>
            <a:r>
              <a:rPr dirty="0" spc="-1040">
                <a:solidFill>
                  <a:srgbClr val="000000"/>
                </a:solidFill>
              </a:rPr>
              <a:t>t</a:t>
            </a:r>
            <a:r>
              <a:rPr dirty="0" spc="-1040"/>
              <a:t>t</a:t>
            </a:r>
            <a:r>
              <a:rPr dirty="0" spc="-1040">
                <a:solidFill>
                  <a:srgbClr val="000000"/>
                </a:solidFill>
              </a:rPr>
              <a:t>e</a:t>
            </a:r>
            <a:r>
              <a:rPr dirty="0" spc="-1040"/>
              <a:t>e</a:t>
            </a:r>
            <a:r>
              <a:rPr dirty="0" spc="-1040">
                <a:solidFill>
                  <a:srgbClr val="000000"/>
                </a:solidFill>
              </a:rPr>
              <a:t>p</a:t>
            </a:r>
            <a:r>
              <a:rPr dirty="0" spc="-1040"/>
              <a:t>p</a:t>
            </a:r>
            <a:r>
              <a:rPr dirty="0" spc="-1040">
                <a:solidFill>
                  <a:srgbClr val="000000"/>
                </a:solidFill>
              </a:rPr>
              <a:t>s</a:t>
            </a:r>
            <a:r>
              <a:rPr dirty="0" spc="-1040"/>
              <a:t>s </a:t>
            </a:r>
            <a:r>
              <a:rPr dirty="0" spc="-969">
                <a:solidFill>
                  <a:srgbClr val="000000"/>
                </a:solidFill>
              </a:rPr>
              <a:t>i</a:t>
            </a:r>
            <a:r>
              <a:rPr dirty="0" spc="-969"/>
              <a:t>i</a:t>
            </a:r>
            <a:r>
              <a:rPr dirty="0" spc="-969">
                <a:solidFill>
                  <a:srgbClr val="000000"/>
                </a:solidFill>
              </a:rPr>
              <a:t>n</a:t>
            </a:r>
            <a:r>
              <a:rPr dirty="0" spc="-969"/>
              <a:t>n </a:t>
            </a:r>
            <a:r>
              <a:rPr dirty="0" spc="-1155">
                <a:solidFill>
                  <a:srgbClr val="000000"/>
                </a:solidFill>
              </a:rPr>
              <a:t>M</a:t>
            </a:r>
            <a:r>
              <a:rPr dirty="0" spc="-1155"/>
              <a:t>M</a:t>
            </a:r>
            <a:r>
              <a:rPr dirty="0" spc="-1155">
                <a:solidFill>
                  <a:srgbClr val="000000"/>
                </a:solidFill>
              </a:rPr>
              <a:t>a</a:t>
            </a:r>
            <a:r>
              <a:rPr dirty="0" spc="-1155"/>
              <a:t>a</a:t>
            </a:r>
            <a:r>
              <a:rPr dirty="0" spc="-1155">
                <a:solidFill>
                  <a:srgbClr val="000000"/>
                </a:solidFill>
              </a:rPr>
              <a:t>c</a:t>
            </a:r>
            <a:r>
              <a:rPr dirty="0" spc="-1155"/>
              <a:t>c</a:t>
            </a:r>
            <a:r>
              <a:rPr dirty="0" spc="-1155">
                <a:solidFill>
                  <a:srgbClr val="000000"/>
                </a:solidFill>
              </a:rPr>
              <a:t>h</a:t>
            </a:r>
            <a:r>
              <a:rPr dirty="0" spc="-1155"/>
              <a:t>h</a:t>
            </a:r>
            <a:r>
              <a:rPr dirty="0" spc="-1155">
                <a:solidFill>
                  <a:srgbClr val="000000"/>
                </a:solidFill>
              </a:rPr>
              <a:t>i</a:t>
            </a:r>
            <a:r>
              <a:rPr dirty="0" spc="-1155"/>
              <a:t>i</a:t>
            </a:r>
            <a:r>
              <a:rPr dirty="0" spc="-1155">
                <a:solidFill>
                  <a:srgbClr val="000000"/>
                </a:solidFill>
              </a:rPr>
              <a:t>n</a:t>
            </a:r>
            <a:r>
              <a:rPr dirty="0" spc="-1155"/>
              <a:t>n</a:t>
            </a:r>
            <a:r>
              <a:rPr dirty="0" spc="-1155">
                <a:solidFill>
                  <a:srgbClr val="000000"/>
                </a:solidFill>
              </a:rPr>
              <a:t>e</a:t>
            </a:r>
            <a:r>
              <a:rPr dirty="0" spc="-1155"/>
              <a:t>e</a:t>
            </a:r>
            <a:r>
              <a:rPr dirty="0" spc="-1145"/>
              <a:t> </a:t>
            </a:r>
            <a:r>
              <a:rPr dirty="0" spc="-1095">
                <a:solidFill>
                  <a:srgbClr val="000000"/>
                </a:solidFill>
              </a:rPr>
              <a:t>L</a:t>
            </a:r>
            <a:r>
              <a:rPr dirty="0" spc="-1095"/>
              <a:t>L</a:t>
            </a:r>
            <a:r>
              <a:rPr dirty="0" spc="-1095">
                <a:solidFill>
                  <a:srgbClr val="000000"/>
                </a:solidFill>
              </a:rPr>
              <a:t>e</a:t>
            </a:r>
            <a:r>
              <a:rPr dirty="0" spc="-1095"/>
              <a:t>e</a:t>
            </a:r>
            <a:r>
              <a:rPr dirty="0" spc="-1095">
                <a:solidFill>
                  <a:srgbClr val="000000"/>
                </a:solidFill>
              </a:rPr>
              <a:t>a</a:t>
            </a:r>
            <a:r>
              <a:rPr dirty="0" spc="-1095"/>
              <a:t>a</a:t>
            </a:r>
            <a:r>
              <a:rPr dirty="0" spc="-1095">
                <a:solidFill>
                  <a:srgbClr val="000000"/>
                </a:solidFill>
              </a:rPr>
              <a:t>r</a:t>
            </a:r>
            <a:r>
              <a:rPr dirty="0" spc="-1095"/>
              <a:t>r</a:t>
            </a:r>
            <a:r>
              <a:rPr dirty="0" spc="-1095">
                <a:solidFill>
                  <a:srgbClr val="000000"/>
                </a:solidFill>
              </a:rPr>
              <a:t>n</a:t>
            </a:r>
            <a:r>
              <a:rPr dirty="0" spc="-1095"/>
              <a:t>n</a:t>
            </a:r>
            <a:r>
              <a:rPr dirty="0" spc="-1095">
                <a:solidFill>
                  <a:srgbClr val="000000"/>
                </a:solidFill>
              </a:rPr>
              <a:t>i</a:t>
            </a:r>
            <a:r>
              <a:rPr dirty="0" spc="-1095"/>
              <a:t>i</a:t>
            </a:r>
            <a:r>
              <a:rPr dirty="0" spc="-1095">
                <a:solidFill>
                  <a:srgbClr val="000000"/>
                </a:solidFill>
              </a:rPr>
              <a:t>n</a:t>
            </a:r>
            <a:r>
              <a:rPr dirty="0" spc="-1095"/>
              <a:t>n</a:t>
            </a:r>
            <a:r>
              <a:rPr dirty="0" spc="-1095">
                <a:solidFill>
                  <a:srgbClr val="000000"/>
                </a:solidFill>
              </a:rPr>
              <a:t>g</a:t>
            </a:r>
            <a:r>
              <a:rPr dirty="0" spc="-1095"/>
              <a:t>g</a:t>
            </a:r>
          </a:p>
        </p:txBody>
      </p:sp>
      <p:sp>
        <p:nvSpPr>
          <p:cNvPr id="3" name="object 3"/>
          <p:cNvSpPr/>
          <p:nvPr/>
        </p:nvSpPr>
        <p:spPr>
          <a:xfrm>
            <a:off x="10637519" y="5995415"/>
            <a:ext cx="887730" cy="491490"/>
          </a:xfrm>
          <a:custGeom>
            <a:avLst/>
            <a:gdLst/>
            <a:ahLst/>
            <a:cxnLst/>
            <a:rect l="l" t="t" r="r" b="b"/>
            <a:pathLst>
              <a:path w="887729" h="491489">
                <a:moveTo>
                  <a:pt x="0" y="0"/>
                </a:moveTo>
                <a:lnTo>
                  <a:pt x="887729" y="0"/>
                </a:lnTo>
                <a:lnTo>
                  <a:pt x="887729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dirty="0" sz="1200" spc="-295">
                <a:latin typeface="Trebuchet MS"/>
                <a:cs typeface="Trebuchet MS"/>
              </a:rPr>
              <a:t>7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7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400" y="2852737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914400" y="5681662"/>
            <a:ext cx="9696450" cy="0"/>
          </a:xfrm>
          <a:custGeom>
            <a:avLst/>
            <a:gdLst/>
            <a:ahLst/>
            <a:cxnLst/>
            <a:rect l="l" t="t" r="r" b="b"/>
            <a:pathLst>
              <a:path w="9696450" h="0">
                <a:moveTo>
                  <a:pt x="0" y="0"/>
                </a:moveTo>
                <a:lnTo>
                  <a:pt x="9696449" y="0"/>
                </a:lnTo>
              </a:path>
            </a:pathLst>
          </a:custGeom>
          <a:ln w="9524">
            <a:solidFill>
              <a:srgbClr val="666666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914400" y="2876550"/>
          <a:ext cx="9696450" cy="27324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95475"/>
                <a:gridCol w="7800975"/>
              </a:tblGrid>
              <a:tr h="366712"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Step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90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6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Description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DEDED"/>
                    </a:solidFill>
                  </a:tcPr>
                </a:tc>
              </a:tr>
              <a:tr h="661987">
                <a:tc>
                  <a:txBody>
                    <a:bodyPr/>
                    <a:lstStyle/>
                    <a:p>
                      <a:pPr marL="66040">
                        <a:lnSpc>
                          <a:spcPts val="2095"/>
                        </a:lnSpc>
                        <a:spcBef>
                          <a:spcPts val="409"/>
                        </a:spcBef>
                      </a:pPr>
                      <a:r>
                        <a:rPr dirty="0" sz="1800" spc="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Z-</a:t>
                      </a:r>
                      <a:endParaRPr sz="1800">
                        <a:latin typeface="Arial"/>
                        <a:cs typeface="Arial"/>
                      </a:endParaRPr>
                    </a:p>
                    <a:p>
                      <a:pPr marL="66040">
                        <a:lnSpc>
                          <a:spcPts val="2090"/>
                        </a:lnSpc>
                      </a:pPr>
                      <a:r>
                        <a:rPr dirty="0" sz="180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Transformation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52069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56515" marR="293370">
                        <a:lnSpc>
                          <a:spcPts val="2030"/>
                        </a:lnSpc>
                        <a:spcBef>
                          <a:spcPts val="585"/>
                        </a:spcBef>
                      </a:pPr>
                      <a:r>
                        <a:rPr dirty="0" sz="1800" spc="11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Scaling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continuous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data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15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so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2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they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114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9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mean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9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114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standard  </a:t>
                      </a:r>
                      <a:r>
                        <a:rPr dirty="0" sz="1800" spc="5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deviation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1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5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1.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74295">
                    <a:lnT w="9525">
                      <a:solidFill>
                        <a:srgbClr val="DDDDDD"/>
                      </a:solidFill>
                      <a:prstDash val="solid"/>
                    </a:lnT>
                  </a:tcPr>
                </a:tc>
              </a:tr>
              <a:tr h="361949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800" spc="-6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6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Scaling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2857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dirty="0" sz="1800" spc="11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Scaling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continuous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variables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15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so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that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2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they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have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114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min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9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0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114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12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max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5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1.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28575">
                    <a:solidFill>
                      <a:srgbClr val="EDEDED"/>
                    </a:solidFill>
                  </a:tcPr>
                </a:tc>
              </a:tr>
              <a:tr h="390524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800" spc="-7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9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Encoding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7625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dirty="0" sz="1800" spc="9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Encoding </a:t>
                      </a:r>
                      <a:r>
                        <a:rPr dirty="0" sz="1800" spc="8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categorical </a:t>
                      </a:r>
                      <a:r>
                        <a:rPr dirty="0" sz="1800" spc="7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800" spc="10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using </a:t>
                      </a:r>
                      <a:r>
                        <a:rPr dirty="0" sz="1800" spc="5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label </a:t>
                      </a:r>
                      <a:r>
                        <a:rPr dirty="0" sz="1800" spc="2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or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one-hot</a:t>
                      </a:r>
                      <a:r>
                        <a:rPr dirty="0" sz="1800" spc="-16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encoding.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/>
                </a:tc>
              </a:tr>
              <a:tr h="619124">
                <a:tc>
                  <a:txBody>
                    <a:bodyPr/>
                    <a:lstStyle/>
                    <a:p>
                      <a:pPr marL="66040">
                        <a:lnSpc>
                          <a:spcPct val="100000"/>
                        </a:lnSpc>
                        <a:spcBef>
                          <a:spcPts val="1275"/>
                        </a:spcBef>
                      </a:pPr>
                      <a:r>
                        <a:rPr dirty="0" sz="180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800" spc="-7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800" spc="-45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Imputation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161925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marL="56515" marR="104775">
                        <a:lnSpc>
                          <a:spcPts val="2100"/>
                        </a:lnSpc>
                        <a:spcBef>
                          <a:spcPts val="345"/>
                        </a:spcBef>
                      </a:pPr>
                      <a:r>
                        <a:rPr dirty="0" sz="1800" spc="6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Filling 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dirty="0" sz="1800" spc="12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missing </a:t>
                      </a:r>
                      <a:r>
                        <a:rPr dirty="0" sz="1800" spc="7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data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(apply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with </a:t>
                      </a:r>
                      <a:r>
                        <a:rPr dirty="0" sz="1800" spc="4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caution, only </a:t>
                      </a:r>
                      <a:r>
                        <a:rPr dirty="0" sz="1800" spc="4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after </a:t>
                      </a:r>
                      <a:r>
                        <a:rPr dirty="0" sz="1800" spc="6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understanding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12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type 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of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114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missingness).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3815">
                    <a:solidFill>
                      <a:srgbClr val="EDEDED"/>
                    </a:solidFill>
                  </a:tcPr>
                </a:tc>
              </a:tr>
              <a:tr h="332035">
                <a:tc>
                  <a:txBody>
                    <a:bodyPr/>
                    <a:lstStyle/>
                    <a:p>
                      <a:pPr marL="66040">
                        <a:lnSpc>
                          <a:spcPts val="2140"/>
                        </a:lnSpc>
                        <a:spcBef>
                          <a:spcPts val="375"/>
                        </a:spcBef>
                      </a:pPr>
                      <a:r>
                        <a:rPr dirty="0" sz="1800" spc="-5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Data</a:t>
                      </a:r>
                      <a:r>
                        <a:rPr dirty="0" sz="1800" spc="-70" b="1">
                          <a:solidFill>
                            <a:srgbClr val="C2132D"/>
                          </a:solidFill>
                          <a:latin typeface="Arial"/>
                          <a:cs typeface="Arial"/>
                        </a:rPr>
                        <a:t> Reduction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B="0" marT="47625"/>
                </a:tc>
                <a:tc>
                  <a:txBody>
                    <a:bodyPr/>
                    <a:lstStyle/>
                    <a:p>
                      <a:pPr marL="56515">
                        <a:lnSpc>
                          <a:spcPts val="2140"/>
                        </a:lnSpc>
                        <a:spcBef>
                          <a:spcPts val="375"/>
                        </a:spcBef>
                      </a:pPr>
                      <a:r>
                        <a:rPr dirty="0" sz="1800" spc="9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Reducing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the </a:t>
                      </a:r>
                      <a:r>
                        <a:rPr dirty="0" sz="1800" spc="5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number </a:t>
                      </a:r>
                      <a:r>
                        <a:rPr dirty="0" sz="1800" spc="7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of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features </a:t>
                      </a:r>
                      <a:r>
                        <a:rPr dirty="0" sz="1800" spc="3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in </a:t>
                      </a:r>
                      <a:r>
                        <a:rPr dirty="0" sz="1800" spc="3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the</a:t>
                      </a:r>
                      <a:r>
                        <a:rPr dirty="0" sz="1800" spc="-105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800" spc="60">
                          <a:solidFill>
                            <a:srgbClr val="585D60"/>
                          </a:solidFill>
                          <a:latin typeface="Calibri"/>
                          <a:cs typeface="Calibri"/>
                        </a:rPr>
                        <a:t>data.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B="0" marT="47625"/>
                </a:tc>
              </a:tr>
            </a:tbl>
          </a:graphicData>
        </a:graphic>
      </p:graphicFrame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19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0135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20">
                <a:solidFill>
                  <a:srgbClr val="C2132D"/>
                </a:solidFill>
              </a:rPr>
              <a:t>Preprocessing </a:t>
            </a:r>
            <a:r>
              <a:rPr dirty="0" sz="3350" spc="-95">
                <a:solidFill>
                  <a:srgbClr val="C2132D"/>
                </a:solidFill>
              </a:rPr>
              <a:t>Steps </a:t>
            </a:r>
            <a:r>
              <a:rPr dirty="0" sz="3350" spc="-190">
                <a:solidFill>
                  <a:srgbClr val="C2132D"/>
                </a:solidFill>
              </a:rPr>
              <a:t>in </a:t>
            </a:r>
            <a:r>
              <a:rPr dirty="0" sz="3350" spc="-130">
                <a:solidFill>
                  <a:srgbClr val="C2132D"/>
                </a:solidFill>
              </a:rPr>
              <a:t>Machine</a:t>
            </a:r>
            <a:r>
              <a:rPr dirty="0" sz="3350" spc="-555">
                <a:solidFill>
                  <a:srgbClr val="C2132D"/>
                </a:solidFill>
              </a:rPr>
              <a:t> </a:t>
            </a:r>
            <a:r>
              <a:rPr dirty="0" sz="3350" spc="-170">
                <a:solidFill>
                  <a:srgbClr val="C2132D"/>
                </a:solidFill>
              </a:rPr>
              <a:t>Learning</a:t>
            </a:r>
            <a:endParaRPr sz="3350"/>
          </a:p>
        </p:txBody>
      </p:sp>
      <p:sp>
        <p:nvSpPr>
          <p:cNvPr id="6" name="object 6"/>
          <p:cNvSpPr txBox="1"/>
          <p:nvPr/>
        </p:nvSpPr>
        <p:spPr>
          <a:xfrm>
            <a:off x="1148754" y="1425575"/>
            <a:ext cx="8387715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There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several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preprocessing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steps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typically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used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machine</a:t>
            </a:r>
            <a:r>
              <a:rPr dirty="0" sz="1800" spc="-2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learning.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These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steps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prepare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-2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model.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These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include: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19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0135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20">
                <a:solidFill>
                  <a:srgbClr val="C2132D"/>
                </a:solidFill>
              </a:rPr>
              <a:t>Preprocessing </a:t>
            </a:r>
            <a:r>
              <a:rPr dirty="0" sz="3350" spc="-95">
                <a:solidFill>
                  <a:srgbClr val="C2132D"/>
                </a:solidFill>
              </a:rPr>
              <a:t>Steps </a:t>
            </a:r>
            <a:r>
              <a:rPr dirty="0" sz="3350" spc="-190">
                <a:solidFill>
                  <a:srgbClr val="C2132D"/>
                </a:solidFill>
              </a:rPr>
              <a:t>in </a:t>
            </a:r>
            <a:r>
              <a:rPr dirty="0" sz="3350" spc="-130">
                <a:solidFill>
                  <a:srgbClr val="C2132D"/>
                </a:solidFill>
              </a:rPr>
              <a:t>Machine</a:t>
            </a:r>
            <a:r>
              <a:rPr dirty="0" sz="3350" spc="-555">
                <a:solidFill>
                  <a:srgbClr val="C2132D"/>
                </a:solidFill>
              </a:rPr>
              <a:t> </a:t>
            </a:r>
            <a:r>
              <a:rPr dirty="0" sz="3350" spc="-170">
                <a:solidFill>
                  <a:srgbClr val="C2132D"/>
                </a:solidFill>
              </a:rPr>
              <a:t>Learning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27210" cy="48526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Z-Transformation</a:t>
            </a:r>
            <a:r>
              <a:rPr dirty="0" sz="1800" spc="-40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done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ensure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have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mean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0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standard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deviation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lvl="1" marL="527050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important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algorithms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sensitive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scale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-27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(e.g.,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K-Means 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clustering).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also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important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algorithms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gradient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descent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(e.g., neural</a:t>
            </a:r>
            <a:r>
              <a:rPr dirty="0" sz="1800" spc="-2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networks).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Data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 Scaling</a:t>
            </a:r>
            <a:r>
              <a:rPr dirty="0" sz="1800" spc="-60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done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ensure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have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minimum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0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maximum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has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similar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use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45">
                <a:solidFill>
                  <a:srgbClr val="585D60"/>
                </a:solidFill>
                <a:latin typeface="Calibri"/>
                <a:cs typeface="Calibri"/>
              </a:rPr>
              <a:t>case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Z-Transformation.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1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Data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85" b="1">
                <a:solidFill>
                  <a:srgbClr val="C2132D"/>
                </a:solidFill>
                <a:latin typeface="Arial"/>
                <a:cs typeface="Arial"/>
              </a:rPr>
              <a:t>Encoding</a:t>
            </a:r>
            <a:r>
              <a:rPr dirty="0" sz="1800" spc="-85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done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convert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categorical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data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into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format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used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by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model.</a:t>
            </a:r>
            <a:endParaRPr sz="1800">
              <a:latin typeface="Calibri"/>
              <a:cs typeface="Calibri"/>
            </a:endParaRPr>
          </a:p>
          <a:p>
            <a:pPr lvl="1" marL="527050" marR="1061085" indent="-133985">
              <a:lnSpc>
                <a:spcPct val="118100"/>
              </a:lnSpc>
              <a:spcBef>
                <a:spcPts val="819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important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because most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models</a:t>
            </a:r>
            <a:r>
              <a:rPr dirty="0" sz="1800" spc="-2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(e.g., neural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networks)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cannot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handle 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categorical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19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701357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20">
                <a:solidFill>
                  <a:srgbClr val="C2132D"/>
                </a:solidFill>
              </a:rPr>
              <a:t>Preprocessing </a:t>
            </a:r>
            <a:r>
              <a:rPr dirty="0" sz="3350" spc="-95">
                <a:solidFill>
                  <a:srgbClr val="C2132D"/>
                </a:solidFill>
              </a:rPr>
              <a:t>Steps </a:t>
            </a:r>
            <a:r>
              <a:rPr dirty="0" sz="3350" spc="-190">
                <a:solidFill>
                  <a:srgbClr val="C2132D"/>
                </a:solidFill>
              </a:rPr>
              <a:t>in </a:t>
            </a:r>
            <a:r>
              <a:rPr dirty="0" sz="3350" spc="-130">
                <a:solidFill>
                  <a:srgbClr val="C2132D"/>
                </a:solidFill>
              </a:rPr>
              <a:t>Machine</a:t>
            </a:r>
            <a:r>
              <a:rPr dirty="0" sz="3350" spc="-555">
                <a:solidFill>
                  <a:srgbClr val="C2132D"/>
                </a:solidFill>
              </a:rPr>
              <a:t> </a:t>
            </a:r>
            <a:r>
              <a:rPr dirty="0" sz="3350" spc="-170">
                <a:solidFill>
                  <a:srgbClr val="C2132D"/>
                </a:solidFill>
              </a:rPr>
              <a:t>Learning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296400" cy="3233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Data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Imputation</a:t>
            </a:r>
            <a:r>
              <a:rPr dirty="0" sz="1800" spc="-45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done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fill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missing</a:t>
            </a:r>
            <a:r>
              <a:rPr dirty="0" sz="1800" spc="-1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important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because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most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models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cannot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handle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missing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However,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this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should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done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with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caution, </a:t>
            </a:r>
            <a:r>
              <a:rPr dirty="0" sz="1800" spc="170">
                <a:solidFill>
                  <a:srgbClr val="585D60"/>
                </a:solidFill>
                <a:latin typeface="Calibri"/>
                <a:cs typeface="Calibri"/>
              </a:rPr>
              <a:t>as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it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introduce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bias</a:t>
            </a:r>
            <a:r>
              <a:rPr dirty="0" sz="1800" spc="-26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into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model.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Data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Reduction</a:t>
            </a:r>
            <a:r>
              <a:rPr dirty="0" sz="1800" spc="-65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done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reduce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number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features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-25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lvl="1" marL="527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important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because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help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reduce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complexity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model,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which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can 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help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reduce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overfitting.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9655" y="2758440"/>
            <a:ext cx="7891780" cy="1039494"/>
          </a:xfrm>
          <a:prstGeom prst="rect"/>
          <a:solidFill>
            <a:srgbClr val="333333"/>
          </a:solidFill>
        </p:spPr>
        <p:txBody>
          <a:bodyPr wrap="square" lIns="0" tIns="14033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105"/>
              </a:spcBef>
            </a:pPr>
            <a:r>
              <a:rPr dirty="0" spc="-1055">
                <a:solidFill>
                  <a:srgbClr val="000000"/>
                </a:solidFill>
              </a:rPr>
              <a:t>E</a:t>
            </a:r>
            <a:r>
              <a:rPr dirty="0" spc="-1055"/>
              <a:t>E</a:t>
            </a:r>
            <a:r>
              <a:rPr dirty="0" spc="-1055">
                <a:solidFill>
                  <a:srgbClr val="000000"/>
                </a:solidFill>
              </a:rPr>
              <a:t>r</a:t>
            </a:r>
            <a:r>
              <a:rPr dirty="0" spc="-1055"/>
              <a:t>r</a:t>
            </a:r>
            <a:r>
              <a:rPr dirty="0" spc="-1055">
                <a:solidFill>
                  <a:srgbClr val="000000"/>
                </a:solidFill>
              </a:rPr>
              <a:t>r</a:t>
            </a:r>
            <a:r>
              <a:rPr dirty="0" spc="-1055"/>
              <a:t>r</a:t>
            </a:r>
            <a:r>
              <a:rPr dirty="0" spc="-1055">
                <a:solidFill>
                  <a:srgbClr val="000000"/>
                </a:solidFill>
              </a:rPr>
              <a:t>o</a:t>
            </a:r>
            <a:r>
              <a:rPr dirty="0" spc="-1055"/>
              <a:t>o</a:t>
            </a:r>
            <a:r>
              <a:rPr dirty="0" spc="-1055">
                <a:solidFill>
                  <a:srgbClr val="000000"/>
                </a:solidFill>
              </a:rPr>
              <a:t>r</a:t>
            </a:r>
            <a:r>
              <a:rPr dirty="0" spc="-1055"/>
              <a:t>r </a:t>
            </a:r>
            <a:r>
              <a:rPr dirty="0" spc="-1095">
                <a:solidFill>
                  <a:srgbClr val="000000"/>
                </a:solidFill>
              </a:rPr>
              <a:t>M</a:t>
            </a:r>
            <a:r>
              <a:rPr dirty="0" spc="-1095"/>
              <a:t>M</a:t>
            </a:r>
            <a:r>
              <a:rPr dirty="0" spc="-1095">
                <a:solidFill>
                  <a:srgbClr val="000000"/>
                </a:solidFill>
              </a:rPr>
              <a:t>e</a:t>
            </a:r>
            <a:r>
              <a:rPr dirty="0" spc="-1095"/>
              <a:t>e</a:t>
            </a:r>
            <a:r>
              <a:rPr dirty="0" spc="-1095">
                <a:solidFill>
                  <a:srgbClr val="000000"/>
                </a:solidFill>
              </a:rPr>
              <a:t>a</a:t>
            </a:r>
            <a:r>
              <a:rPr dirty="0" spc="-1095"/>
              <a:t>a</a:t>
            </a:r>
            <a:r>
              <a:rPr dirty="0" spc="-1095">
                <a:solidFill>
                  <a:srgbClr val="000000"/>
                </a:solidFill>
              </a:rPr>
              <a:t>s</a:t>
            </a:r>
            <a:r>
              <a:rPr dirty="0" spc="-1095"/>
              <a:t>s</a:t>
            </a:r>
            <a:r>
              <a:rPr dirty="0" spc="-1095">
                <a:solidFill>
                  <a:srgbClr val="000000"/>
                </a:solidFill>
              </a:rPr>
              <a:t>u</a:t>
            </a:r>
            <a:r>
              <a:rPr dirty="0" spc="-1095"/>
              <a:t>u</a:t>
            </a:r>
            <a:r>
              <a:rPr dirty="0" spc="-1095">
                <a:solidFill>
                  <a:srgbClr val="000000"/>
                </a:solidFill>
              </a:rPr>
              <a:t>r</a:t>
            </a:r>
            <a:r>
              <a:rPr dirty="0" spc="-1095"/>
              <a:t>r</a:t>
            </a:r>
            <a:r>
              <a:rPr dirty="0" spc="-1095">
                <a:solidFill>
                  <a:srgbClr val="000000"/>
                </a:solidFill>
              </a:rPr>
              <a:t>e</a:t>
            </a:r>
            <a:r>
              <a:rPr dirty="0" spc="-1095"/>
              <a:t>e</a:t>
            </a:r>
            <a:r>
              <a:rPr dirty="0" spc="-1095">
                <a:solidFill>
                  <a:srgbClr val="000000"/>
                </a:solidFill>
              </a:rPr>
              <a:t>s</a:t>
            </a:r>
            <a:r>
              <a:rPr dirty="0" spc="-1095"/>
              <a:t>s </a:t>
            </a:r>
            <a:r>
              <a:rPr dirty="0" spc="-969">
                <a:solidFill>
                  <a:srgbClr val="000000"/>
                </a:solidFill>
              </a:rPr>
              <a:t>i</a:t>
            </a:r>
            <a:r>
              <a:rPr dirty="0" spc="-969"/>
              <a:t>i</a:t>
            </a:r>
            <a:r>
              <a:rPr dirty="0" spc="-969">
                <a:solidFill>
                  <a:srgbClr val="000000"/>
                </a:solidFill>
              </a:rPr>
              <a:t>n</a:t>
            </a:r>
            <a:r>
              <a:rPr dirty="0" spc="-969"/>
              <a:t>n </a:t>
            </a:r>
            <a:r>
              <a:rPr dirty="0" spc="-1155">
                <a:solidFill>
                  <a:srgbClr val="000000"/>
                </a:solidFill>
              </a:rPr>
              <a:t>M</a:t>
            </a:r>
            <a:r>
              <a:rPr dirty="0" spc="-1155"/>
              <a:t>M</a:t>
            </a:r>
            <a:r>
              <a:rPr dirty="0" spc="-1155">
                <a:solidFill>
                  <a:srgbClr val="000000"/>
                </a:solidFill>
              </a:rPr>
              <a:t>a</a:t>
            </a:r>
            <a:r>
              <a:rPr dirty="0" spc="-1155"/>
              <a:t>a</a:t>
            </a:r>
            <a:r>
              <a:rPr dirty="0" spc="-1155">
                <a:solidFill>
                  <a:srgbClr val="000000"/>
                </a:solidFill>
              </a:rPr>
              <a:t>c</a:t>
            </a:r>
            <a:r>
              <a:rPr dirty="0" spc="-1155"/>
              <a:t>c</a:t>
            </a:r>
            <a:r>
              <a:rPr dirty="0" spc="-1155">
                <a:solidFill>
                  <a:srgbClr val="000000"/>
                </a:solidFill>
              </a:rPr>
              <a:t>h</a:t>
            </a:r>
            <a:r>
              <a:rPr dirty="0" spc="-1155"/>
              <a:t>h</a:t>
            </a:r>
            <a:r>
              <a:rPr dirty="0" spc="-1155">
                <a:solidFill>
                  <a:srgbClr val="000000"/>
                </a:solidFill>
              </a:rPr>
              <a:t>i</a:t>
            </a:r>
            <a:r>
              <a:rPr dirty="0" spc="-1155"/>
              <a:t>i</a:t>
            </a:r>
            <a:r>
              <a:rPr dirty="0" spc="-1155">
                <a:solidFill>
                  <a:srgbClr val="000000"/>
                </a:solidFill>
              </a:rPr>
              <a:t>n</a:t>
            </a:r>
            <a:r>
              <a:rPr dirty="0" spc="-1155"/>
              <a:t>n</a:t>
            </a:r>
            <a:r>
              <a:rPr dirty="0" spc="-1155">
                <a:solidFill>
                  <a:srgbClr val="000000"/>
                </a:solidFill>
              </a:rPr>
              <a:t>e</a:t>
            </a:r>
            <a:r>
              <a:rPr dirty="0" spc="-1155"/>
              <a:t>e</a:t>
            </a:r>
            <a:r>
              <a:rPr dirty="0" spc="-1090"/>
              <a:t> </a:t>
            </a:r>
            <a:r>
              <a:rPr dirty="0" spc="-1095">
                <a:solidFill>
                  <a:srgbClr val="000000"/>
                </a:solidFill>
              </a:rPr>
              <a:t>L</a:t>
            </a:r>
            <a:r>
              <a:rPr dirty="0" spc="-1095"/>
              <a:t>L</a:t>
            </a:r>
            <a:r>
              <a:rPr dirty="0" spc="-1095">
                <a:solidFill>
                  <a:srgbClr val="000000"/>
                </a:solidFill>
              </a:rPr>
              <a:t>e</a:t>
            </a:r>
            <a:r>
              <a:rPr dirty="0" spc="-1095"/>
              <a:t>e</a:t>
            </a:r>
            <a:r>
              <a:rPr dirty="0" spc="-1095">
                <a:solidFill>
                  <a:srgbClr val="000000"/>
                </a:solidFill>
              </a:rPr>
              <a:t>a</a:t>
            </a:r>
            <a:r>
              <a:rPr dirty="0" spc="-1095"/>
              <a:t>a</a:t>
            </a:r>
            <a:r>
              <a:rPr dirty="0" spc="-1095">
                <a:solidFill>
                  <a:srgbClr val="000000"/>
                </a:solidFill>
              </a:rPr>
              <a:t>r</a:t>
            </a:r>
            <a:r>
              <a:rPr dirty="0" spc="-1095"/>
              <a:t>r</a:t>
            </a:r>
            <a:r>
              <a:rPr dirty="0" spc="-1095">
                <a:solidFill>
                  <a:srgbClr val="000000"/>
                </a:solidFill>
              </a:rPr>
              <a:t>n</a:t>
            </a:r>
            <a:r>
              <a:rPr dirty="0" spc="-1095"/>
              <a:t>n</a:t>
            </a:r>
            <a:r>
              <a:rPr dirty="0" spc="-1095">
                <a:solidFill>
                  <a:srgbClr val="000000"/>
                </a:solidFill>
              </a:rPr>
              <a:t>i</a:t>
            </a:r>
            <a:r>
              <a:rPr dirty="0" spc="-1095"/>
              <a:t>i</a:t>
            </a:r>
            <a:r>
              <a:rPr dirty="0" spc="-1095">
                <a:solidFill>
                  <a:srgbClr val="000000"/>
                </a:solidFill>
              </a:rPr>
              <a:t>n</a:t>
            </a:r>
            <a:r>
              <a:rPr dirty="0" spc="-1095"/>
              <a:t>n</a:t>
            </a:r>
            <a:r>
              <a:rPr dirty="0" spc="-1095">
                <a:solidFill>
                  <a:srgbClr val="000000"/>
                </a:solidFill>
              </a:rPr>
              <a:t>g</a:t>
            </a:r>
            <a:r>
              <a:rPr dirty="0" spc="-1095"/>
              <a:t>g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18137"/>
            <a:ext cx="506730" cy="204470"/>
          </a:xfrm>
          <a:prstGeom prst="rect">
            <a:avLst/>
          </a:prstGeom>
        </p:spPr>
        <p:txBody>
          <a:bodyPr wrap="square" lIns="0" tIns="12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3743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40">
                <a:solidFill>
                  <a:srgbClr val="C2132D"/>
                </a:solidFill>
              </a:rPr>
              <a:t>Supervised </a:t>
            </a:r>
            <a:r>
              <a:rPr dirty="0" sz="3350" spc="-170">
                <a:solidFill>
                  <a:srgbClr val="C2132D"/>
                </a:solidFill>
              </a:rPr>
              <a:t>Learning </a:t>
            </a:r>
            <a:r>
              <a:rPr dirty="0" sz="3350" spc="-120">
                <a:solidFill>
                  <a:srgbClr val="C2132D"/>
                </a:solidFill>
              </a:rPr>
              <a:t>Model </a:t>
            </a:r>
            <a:r>
              <a:rPr dirty="0" sz="3350" spc="-215">
                <a:solidFill>
                  <a:srgbClr val="C2132D"/>
                </a:solidFill>
              </a:rPr>
              <a:t>Evaluation:</a:t>
            </a:r>
            <a:r>
              <a:rPr dirty="0" sz="3350" spc="-495">
                <a:solidFill>
                  <a:srgbClr val="C2132D"/>
                </a:solidFill>
              </a:rPr>
              <a:t> </a:t>
            </a:r>
            <a:r>
              <a:rPr dirty="0" sz="3350" spc="-160">
                <a:solidFill>
                  <a:srgbClr val="C2132D"/>
                </a:solidFill>
              </a:rPr>
              <a:t>Clustering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1040992" y="1544568"/>
            <a:ext cx="4823983" cy="457618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62224" y="6276974"/>
            <a:ext cx="6400799" cy="20955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914400" y="6176962"/>
            <a:ext cx="2143125" cy="0"/>
          </a:xfrm>
          <a:custGeom>
            <a:avLst/>
            <a:gdLst/>
            <a:ahLst/>
            <a:cxnLst/>
            <a:rect l="l" t="t" r="r" b="b"/>
            <a:pathLst>
              <a:path w="2143125" h="0">
                <a:moveTo>
                  <a:pt x="0" y="0"/>
                </a:moveTo>
                <a:lnTo>
                  <a:pt x="2143124" y="0"/>
                </a:lnTo>
              </a:path>
            </a:pathLst>
          </a:custGeom>
          <a:ln w="9524">
            <a:solidFill>
              <a:srgbClr val="9999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14400" y="6186487"/>
            <a:ext cx="2143125" cy="0"/>
          </a:xfrm>
          <a:custGeom>
            <a:avLst/>
            <a:gdLst/>
            <a:ahLst/>
            <a:cxnLst/>
            <a:rect l="l" t="t" r="r" b="b"/>
            <a:pathLst>
              <a:path w="2143125" h="0">
                <a:moveTo>
                  <a:pt x="0" y="0"/>
                </a:moveTo>
                <a:lnTo>
                  <a:pt x="2143124" y="0"/>
                </a:lnTo>
              </a:path>
            </a:pathLst>
          </a:custGeom>
          <a:ln w="9524">
            <a:solidFill>
              <a:srgbClr val="EDEDE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047999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9524" y="19049"/>
                </a:moveTo>
                <a:lnTo>
                  <a:pt x="0" y="19049"/>
                </a:lnTo>
                <a:lnTo>
                  <a:pt x="0" y="9524"/>
                </a:lnTo>
                <a:lnTo>
                  <a:pt x="9524" y="0"/>
                </a:lnTo>
                <a:lnTo>
                  <a:pt x="9524" y="19049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4400" y="6172199"/>
            <a:ext cx="9525" cy="19050"/>
          </a:xfrm>
          <a:custGeom>
            <a:avLst/>
            <a:gdLst/>
            <a:ahLst/>
            <a:cxnLst/>
            <a:rect l="l" t="t" r="r" b="b"/>
            <a:pathLst>
              <a:path w="9525" h="19050">
                <a:moveTo>
                  <a:pt x="0" y="19049"/>
                </a:moveTo>
                <a:lnTo>
                  <a:pt x="0" y="0"/>
                </a:lnTo>
                <a:lnTo>
                  <a:pt x="9524" y="0"/>
                </a:lnTo>
                <a:lnTo>
                  <a:pt x="9524" y="9524"/>
                </a:lnTo>
                <a:lnTo>
                  <a:pt x="0" y="19049"/>
                </a:lnTo>
                <a:close/>
              </a:path>
            </a:pathLst>
          </a:custGeom>
          <a:solidFill>
            <a:srgbClr val="9999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22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01700" y="6274743"/>
            <a:ext cx="2165985" cy="156845"/>
          </a:xfrm>
          <a:prstGeom prst="rect">
            <a:avLst/>
          </a:prstGeom>
        </p:spPr>
        <p:txBody>
          <a:bodyPr wrap="square" lIns="0" tIns="8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dirty="0" sz="850" spc="-10" b="1">
                <a:solidFill>
                  <a:srgbClr val="C2132D"/>
                </a:solidFill>
                <a:latin typeface="Arial"/>
                <a:cs typeface="Arial"/>
              </a:rPr>
              <a:t>Created </a:t>
            </a:r>
            <a:r>
              <a:rPr dirty="0" sz="850" spc="-40" b="1">
                <a:solidFill>
                  <a:srgbClr val="C2132D"/>
                </a:solidFill>
                <a:latin typeface="Arial"/>
                <a:cs typeface="Arial"/>
              </a:rPr>
              <a:t>By: </a:t>
            </a:r>
            <a:r>
              <a:rPr dirty="0" sz="850" spc="50">
                <a:solidFill>
                  <a:srgbClr val="585D60"/>
                </a:solidFill>
                <a:latin typeface="Calibri"/>
                <a:cs typeface="Calibri"/>
              </a:rPr>
              <a:t>Fadel </a:t>
            </a:r>
            <a:r>
              <a:rPr dirty="0" sz="850" spc="30">
                <a:solidFill>
                  <a:srgbClr val="585D60"/>
                </a:solidFill>
                <a:latin typeface="Calibri"/>
                <a:cs typeface="Calibri"/>
              </a:rPr>
              <a:t>M. </a:t>
            </a:r>
            <a:r>
              <a:rPr dirty="0" sz="850" spc="55">
                <a:solidFill>
                  <a:srgbClr val="585D60"/>
                </a:solidFill>
                <a:latin typeface="Calibri"/>
                <a:cs typeface="Calibri"/>
              </a:rPr>
              <a:t>Megahed </a:t>
            </a:r>
            <a:r>
              <a:rPr dirty="0" sz="850" spc="30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850" spc="80">
                <a:solidFill>
                  <a:srgbClr val="585D60"/>
                </a:solidFill>
                <a:latin typeface="Calibri"/>
                <a:cs typeface="Calibri"/>
              </a:rPr>
              <a:t>ISA</a:t>
            </a:r>
            <a:r>
              <a:rPr dirty="0" sz="850" spc="-6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850" spc="50">
                <a:solidFill>
                  <a:srgbClr val="585D60"/>
                </a:solidFill>
                <a:latin typeface="Calibri"/>
                <a:cs typeface="Calibri"/>
              </a:rPr>
              <a:t>419.</a:t>
            </a:r>
            <a:endParaRPr sz="8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28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37438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40">
                <a:solidFill>
                  <a:srgbClr val="C2132D"/>
                </a:solidFill>
              </a:rPr>
              <a:t>Supervised </a:t>
            </a:r>
            <a:r>
              <a:rPr dirty="0" sz="3350" spc="-170">
                <a:solidFill>
                  <a:srgbClr val="C2132D"/>
                </a:solidFill>
              </a:rPr>
              <a:t>Learning </a:t>
            </a:r>
            <a:r>
              <a:rPr dirty="0" sz="3350" spc="-120">
                <a:solidFill>
                  <a:srgbClr val="C2132D"/>
                </a:solidFill>
              </a:rPr>
              <a:t>Model </a:t>
            </a:r>
            <a:r>
              <a:rPr dirty="0" sz="3350" spc="-215">
                <a:solidFill>
                  <a:srgbClr val="C2132D"/>
                </a:solidFill>
              </a:rPr>
              <a:t>Evaluation:</a:t>
            </a:r>
            <a:r>
              <a:rPr dirty="0" sz="3350" spc="-495">
                <a:solidFill>
                  <a:srgbClr val="C2132D"/>
                </a:solidFill>
              </a:rPr>
              <a:t> </a:t>
            </a:r>
            <a:r>
              <a:rPr dirty="0" sz="3350" spc="-160">
                <a:solidFill>
                  <a:srgbClr val="C2132D"/>
                </a:solidFill>
              </a:rPr>
              <a:t>Clustering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335770" cy="2242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Silhouette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65" b="1">
                <a:solidFill>
                  <a:srgbClr val="C2132D"/>
                </a:solidFill>
                <a:latin typeface="Arial"/>
                <a:cs typeface="Arial"/>
              </a:rPr>
              <a:t>Score</a:t>
            </a:r>
            <a:r>
              <a:rPr dirty="0" sz="1800" spc="-65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27050" marR="5080" indent="-133985">
              <a:lnSpc>
                <a:spcPct val="118100"/>
              </a:lnSpc>
              <a:spcBef>
                <a:spcPts val="90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how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similar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an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object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its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own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cluster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(cohesion)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compared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other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clusters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(separation).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silhouette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score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ranges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from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-1 to</a:t>
            </a:r>
            <a:r>
              <a:rPr dirty="0" sz="1800" spc="-18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1.</a:t>
            </a:r>
            <a:endParaRPr sz="1800">
              <a:latin typeface="Calibri"/>
              <a:cs typeface="Calibri"/>
            </a:endParaRPr>
          </a:p>
          <a:p>
            <a:pPr lvl="1" marL="527050" marR="95885" indent="-133985">
              <a:lnSpc>
                <a:spcPct val="114599"/>
              </a:lnSpc>
              <a:spcBef>
                <a:spcPts val="969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high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silhouette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score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indicates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that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object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well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matched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its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own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cluster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poorly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matched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neighboring</a:t>
            </a:r>
            <a:r>
              <a:rPr dirty="0" sz="1800" spc="-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clusters.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9515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40">
                <a:solidFill>
                  <a:srgbClr val="C2132D"/>
                </a:solidFill>
              </a:rPr>
              <a:t>Supervised </a:t>
            </a:r>
            <a:r>
              <a:rPr dirty="0" sz="3350" spc="-170">
                <a:solidFill>
                  <a:srgbClr val="C2132D"/>
                </a:solidFill>
              </a:rPr>
              <a:t>Learning </a:t>
            </a:r>
            <a:r>
              <a:rPr dirty="0" sz="3350" spc="-120">
                <a:solidFill>
                  <a:srgbClr val="C2132D"/>
                </a:solidFill>
              </a:rPr>
              <a:t>Model </a:t>
            </a:r>
            <a:r>
              <a:rPr dirty="0" sz="3350" spc="-215">
                <a:solidFill>
                  <a:srgbClr val="C2132D"/>
                </a:solidFill>
              </a:rPr>
              <a:t>Evaluation:</a:t>
            </a:r>
            <a:r>
              <a:rPr dirty="0" sz="3350" spc="-500">
                <a:solidFill>
                  <a:srgbClr val="C2132D"/>
                </a:solidFill>
              </a:rPr>
              <a:t> </a:t>
            </a:r>
            <a:r>
              <a:rPr dirty="0" sz="3350" spc="-135">
                <a:solidFill>
                  <a:srgbClr val="C2132D"/>
                </a:solidFill>
              </a:rPr>
              <a:t>Classification</a:t>
            </a:r>
            <a:endParaRPr sz="3350"/>
          </a:p>
        </p:txBody>
      </p:sp>
      <p:sp>
        <p:nvSpPr>
          <p:cNvPr id="3" name="object 3"/>
          <p:cNvSpPr/>
          <p:nvPr/>
        </p:nvSpPr>
        <p:spPr>
          <a:xfrm>
            <a:off x="3662552" y="1788413"/>
            <a:ext cx="3928871" cy="4069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62224" y="6000749"/>
            <a:ext cx="6400799" cy="48577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28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28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9515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40">
                <a:solidFill>
                  <a:srgbClr val="C2132D"/>
                </a:solidFill>
              </a:rPr>
              <a:t>Supervised </a:t>
            </a:r>
            <a:r>
              <a:rPr dirty="0" sz="3350" spc="-170">
                <a:solidFill>
                  <a:srgbClr val="C2132D"/>
                </a:solidFill>
              </a:rPr>
              <a:t>Learning </a:t>
            </a:r>
            <a:r>
              <a:rPr dirty="0" sz="3350" spc="-120">
                <a:solidFill>
                  <a:srgbClr val="C2132D"/>
                </a:solidFill>
              </a:rPr>
              <a:t>Model </a:t>
            </a:r>
            <a:r>
              <a:rPr dirty="0" sz="3350" spc="-215">
                <a:solidFill>
                  <a:srgbClr val="C2132D"/>
                </a:solidFill>
              </a:rPr>
              <a:t>Evaluation:</a:t>
            </a:r>
            <a:r>
              <a:rPr dirty="0" sz="3350" spc="-500">
                <a:solidFill>
                  <a:srgbClr val="C2132D"/>
                </a:solidFill>
              </a:rPr>
              <a:t> </a:t>
            </a:r>
            <a:r>
              <a:rPr dirty="0" sz="3350" spc="-135">
                <a:solidFill>
                  <a:srgbClr val="C2132D"/>
                </a:solidFill>
              </a:rPr>
              <a:t>Classification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117157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80" b="1">
                <a:solidFill>
                  <a:srgbClr val="C2132D"/>
                </a:solidFill>
                <a:latin typeface="Arial"/>
                <a:cs typeface="Arial"/>
              </a:rPr>
              <a:t>Accu</a:t>
            </a:r>
            <a:r>
              <a:rPr dirty="0" sz="1800" spc="-80" b="1">
                <a:solidFill>
                  <a:srgbClr val="C2132D"/>
                </a:solidFill>
                <a:latin typeface="Arial"/>
                <a:cs typeface="Arial"/>
              </a:rPr>
              <a:t>r</a:t>
            </a: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acy</a:t>
            </a:r>
            <a:r>
              <a:rPr dirty="0" sz="1800" spc="-50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9754" y="4416425"/>
            <a:ext cx="6734809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false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positives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not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false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negatives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354" y="1863725"/>
            <a:ext cx="77235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72085" algn="l"/>
                <a:tab pos="6563995" algn="l"/>
                <a:tab pos="7581900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proportion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correctly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classified</a:t>
            </a:r>
            <a:r>
              <a:rPr dirty="0" sz="1800" spc="-1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instances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(i.e.,</a:t>
            </a:r>
            <a:r>
              <a:rPr dirty="0" u="sng" baseline="24691" sz="2700" spc="22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Calibri"/>
                <a:cs typeface="Calibri"/>
              </a:rPr>
              <a:t> 	</a:t>
            </a:r>
            <a:r>
              <a:rPr dirty="0" u="sng" baseline="40404" sz="1650" spc="225" i="1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Arial"/>
                <a:cs typeface="Arial"/>
              </a:rPr>
              <a:t>TP</a:t>
            </a:r>
            <a:r>
              <a:rPr dirty="0" u="sng" baseline="40404" sz="1650" spc="-247" i="1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Arial"/>
                <a:cs typeface="Arial"/>
              </a:rPr>
              <a:t> </a:t>
            </a:r>
            <a:r>
              <a:rPr dirty="0" u="sng" baseline="46783" sz="1425" spc="367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ahoma"/>
                <a:cs typeface="Tahoma"/>
              </a:rPr>
              <a:t>+</a:t>
            </a:r>
            <a:r>
              <a:rPr dirty="0" u="sng" baseline="40404" sz="1650" spc="367" i="1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Arial"/>
                <a:cs typeface="Arial"/>
              </a:rPr>
              <a:t>TN	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)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76653" y="2034598"/>
            <a:ext cx="138811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50" i="1">
                <a:solidFill>
                  <a:srgbClr val="585D60"/>
                </a:solidFill>
                <a:latin typeface="Arial"/>
                <a:cs typeface="Arial"/>
              </a:rPr>
              <a:t>TP</a:t>
            </a:r>
            <a:r>
              <a:rPr dirty="0" sz="1100" spc="-20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950" spc="250">
                <a:solidFill>
                  <a:srgbClr val="585D60"/>
                </a:solidFill>
                <a:latin typeface="Tahoma"/>
                <a:cs typeface="Tahoma"/>
              </a:rPr>
              <a:t>+</a:t>
            </a:r>
            <a:r>
              <a:rPr dirty="0" sz="1100" spc="250" i="1">
                <a:solidFill>
                  <a:srgbClr val="585D60"/>
                </a:solidFill>
                <a:latin typeface="Arial"/>
                <a:cs typeface="Arial"/>
              </a:rPr>
              <a:t>TN</a:t>
            </a:r>
            <a:r>
              <a:rPr dirty="0" sz="950" spc="250">
                <a:solidFill>
                  <a:srgbClr val="585D60"/>
                </a:solidFill>
                <a:latin typeface="Tahoma"/>
                <a:cs typeface="Tahoma"/>
              </a:rPr>
              <a:t>+</a:t>
            </a:r>
            <a:r>
              <a:rPr dirty="0" sz="1100" spc="250" i="1">
                <a:solidFill>
                  <a:srgbClr val="585D60"/>
                </a:solidFill>
                <a:latin typeface="Arial"/>
                <a:cs typeface="Arial"/>
              </a:rPr>
              <a:t>FP</a:t>
            </a:r>
            <a:r>
              <a:rPr dirty="0" sz="1100" spc="-20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950" spc="265">
                <a:solidFill>
                  <a:srgbClr val="585D60"/>
                </a:solidFill>
                <a:latin typeface="Tahoma"/>
                <a:cs typeface="Tahoma"/>
              </a:rPr>
              <a:t>+</a:t>
            </a:r>
            <a:r>
              <a:rPr dirty="0" sz="1100" spc="265" i="1">
                <a:solidFill>
                  <a:srgbClr val="585D60"/>
                </a:solidFill>
                <a:latin typeface="Arial"/>
                <a:cs typeface="Arial"/>
              </a:rPr>
              <a:t>FN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36054" y="2290445"/>
            <a:ext cx="8958580" cy="18732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39750" marR="509905" indent="-133985">
              <a:lnSpc>
                <a:spcPct val="114599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5403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not</a:t>
            </a:r>
            <a:r>
              <a:rPr dirty="0" sz="1800" spc="-5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50">
                <a:solidFill>
                  <a:srgbClr val="585D60"/>
                </a:solidFill>
                <a:latin typeface="Calibri"/>
                <a:cs typeface="Calibri"/>
              </a:rPr>
              <a:t>classes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imbalanced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or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misclassification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-3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Calibri"/>
              <a:cs typeface="Calibri"/>
            </a:endParaRPr>
          </a:p>
          <a:p>
            <a:pPr marL="158750" indent="-133985">
              <a:lnSpc>
                <a:spcPct val="100000"/>
              </a:lnSpc>
              <a:buFont typeface="Trebuchet MS"/>
              <a:buChar char="•"/>
              <a:tabLst>
                <a:tab pos="159385" algn="l"/>
              </a:tabLst>
            </a:pP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Precision</a:t>
            </a:r>
            <a:r>
              <a:rPr dirty="0" sz="1800" spc="-55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39750" indent="-134620">
              <a:lnSpc>
                <a:spcPts val="198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403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proportion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true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positive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predictions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out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all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positive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predictions</a:t>
            </a:r>
            <a:r>
              <a:rPr dirty="0" sz="1800" spc="-27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(i.e.,</a:t>
            </a:r>
            <a:endParaRPr sz="1800">
              <a:latin typeface="Calibri"/>
              <a:cs typeface="Calibri"/>
            </a:endParaRPr>
          </a:p>
          <a:p>
            <a:pPr marL="568325">
              <a:lnSpc>
                <a:spcPts val="1980"/>
              </a:lnSpc>
              <a:tabLst>
                <a:tab pos="767715" algn="l"/>
                <a:tab pos="1206500" algn="l"/>
              </a:tabLst>
            </a:pPr>
            <a:r>
              <a:rPr dirty="0" u="sng" sz="1250" spc="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50" spc="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150" i="1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Arial"/>
                <a:cs typeface="Arial"/>
              </a:rPr>
              <a:t>TP	</a:t>
            </a:r>
            <a:r>
              <a:rPr dirty="0" baseline="-21604" sz="2700" spc="75">
                <a:solidFill>
                  <a:srgbClr val="585D60"/>
                </a:solidFill>
                <a:latin typeface="Calibri"/>
                <a:cs typeface="Calibri"/>
              </a:rPr>
              <a:t>).</a:t>
            </a:r>
            <a:endParaRPr baseline="-21604"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7306" y="4120573"/>
            <a:ext cx="61087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50" i="1">
                <a:solidFill>
                  <a:srgbClr val="585D60"/>
                </a:solidFill>
                <a:latin typeface="Arial"/>
                <a:cs typeface="Arial"/>
              </a:rPr>
              <a:t>TP</a:t>
            </a:r>
            <a:r>
              <a:rPr dirty="0" sz="1100" spc="-22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950" spc="215">
                <a:solidFill>
                  <a:srgbClr val="585D60"/>
                </a:solidFill>
                <a:latin typeface="Tahoma"/>
                <a:cs typeface="Tahoma"/>
              </a:rPr>
              <a:t>+</a:t>
            </a:r>
            <a:r>
              <a:rPr dirty="0" sz="1100" spc="215" i="1">
                <a:solidFill>
                  <a:srgbClr val="585D60"/>
                </a:solidFill>
                <a:latin typeface="Arial"/>
                <a:cs typeface="Arial"/>
              </a:rPr>
              <a:t>FP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9515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40">
                <a:solidFill>
                  <a:srgbClr val="C2132D"/>
                </a:solidFill>
              </a:rPr>
              <a:t>Supervised </a:t>
            </a:r>
            <a:r>
              <a:rPr dirty="0" sz="3350" spc="-170">
                <a:solidFill>
                  <a:srgbClr val="C2132D"/>
                </a:solidFill>
              </a:rPr>
              <a:t>Learning </a:t>
            </a:r>
            <a:r>
              <a:rPr dirty="0" sz="3350" spc="-120">
                <a:solidFill>
                  <a:srgbClr val="C2132D"/>
                </a:solidFill>
              </a:rPr>
              <a:t>Model </a:t>
            </a:r>
            <a:r>
              <a:rPr dirty="0" sz="3350" spc="-215">
                <a:solidFill>
                  <a:srgbClr val="C2132D"/>
                </a:solidFill>
              </a:rPr>
              <a:t>Evaluation:</a:t>
            </a:r>
            <a:r>
              <a:rPr dirty="0" sz="3350" spc="-500">
                <a:solidFill>
                  <a:srgbClr val="C2132D"/>
                </a:solidFill>
              </a:rPr>
              <a:t> </a:t>
            </a:r>
            <a:r>
              <a:rPr dirty="0" sz="3350" spc="-135">
                <a:solidFill>
                  <a:srgbClr val="C2132D"/>
                </a:solidFill>
              </a:rPr>
              <a:t>Classification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2644775"/>
            <a:ext cx="7047865" cy="11760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27050" indent="-134620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false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negatives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  <a:p>
            <a:pPr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not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false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positives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40" b="1">
                <a:solidFill>
                  <a:srgbClr val="C2132D"/>
                </a:solidFill>
                <a:latin typeface="Arial"/>
                <a:cs typeface="Arial"/>
              </a:rPr>
              <a:t>F1-Score</a:t>
            </a:r>
            <a:r>
              <a:rPr dirty="0" sz="1800" spc="-40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9754" y="4445000"/>
            <a:ext cx="8305800" cy="737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false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positives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false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negatives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50">
                <a:solidFill>
                  <a:srgbClr val="585D60"/>
                </a:solidFill>
                <a:latin typeface="Calibri"/>
                <a:cs typeface="Calibri"/>
              </a:rPr>
              <a:t>classes</a:t>
            </a:r>
            <a:r>
              <a:rPr dirty="0" sz="1800" spc="-2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imbalanced.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36054" y="1425575"/>
            <a:ext cx="9489440" cy="9664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87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59385" algn="l"/>
              </a:tabLst>
            </a:pPr>
            <a:r>
              <a:rPr dirty="0" sz="1800" spc="-55" b="1">
                <a:solidFill>
                  <a:srgbClr val="C2132D"/>
                </a:solidFill>
                <a:latin typeface="Arial"/>
                <a:cs typeface="Arial"/>
              </a:rPr>
              <a:t>Recall</a:t>
            </a:r>
            <a:r>
              <a:rPr dirty="0" sz="1800" spc="-55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39750" indent="-134620">
              <a:lnSpc>
                <a:spcPts val="198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403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</a:t>
            </a:r>
            <a:r>
              <a:rPr dirty="0" sz="1800" spc="-2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proportion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true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positive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predictions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out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all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actual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positive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instances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(i.e.,</a:t>
            </a:r>
            <a:endParaRPr sz="1800">
              <a:latin typeface="Calibri"/>
              <a:cs typeface="Calibri"/>
            </a:endParaRPr>
          </a:p>
          <a:p>
            <a:pPr marL="568325">
              <a:lnSpc>
                <a:spcPts val="1980"/>
              </a:lnSpc>
              <a:tabLst>
                <a:tab pos="778510" algn="l"/>
                <a:tab pos="1225550" algn="l"/>
              </a:tabLst>
            </a:pPr>
            <a:r>
              <a:rPr dirty="0" u="sng" sz="1250" spc="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50" spc="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150" i="1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Arial"/>
                <a:cs typeface="Arial"/>
              </a:rPr>
              <a:t>TP	</a:t>
            </a:r>
            <a:r>
              <a:rPr dirty="0" baseline="-23148" sz="2700" spc="75">
                <a:solidFill>
                  <a:srgbClr val="585D60"/>
                </a:solidFill>
                <a:latin typeface="Calibri"/>
                <a:cs typeface="Calibri"/>
              </a:rPr>
              <a:t>).</a:t>
            </a:r>
            <a:endParaRPr baseline="-23148" sz="27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07306" y="2348923"/>
            <a:ext cx="63690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50" i="1">
                <a:solidFill>
                  <a:srgbClr val="585D60"/>
                </a:solidFill>
                <a:latin typeface="Arial"/>
                <a:cs typeface="Arial"/>
              </a:rPr>
              <a:t>TP</a:t>
            </a:r>
            <a:r>
              <a:rPr dirty="0" sz="1100" spc="-22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950" spc="265">
                <a:solidFill>
                  <a:srgbClr val="585D60"/>
                </a:solidFill>
                <a:latin typeface="Tahoma"/>
                <a:cs typeface="Tahoma"/>
              </a:rPr>
              <a:t>+</a:t>
            </a:r>
            <a:r>
              <a:rPr dirty="0" sz="1100" spc="265" i="1">
                <a:solidFill>
                  <a:srgbClr val="585D60"/>
                </a:solidFill>
                <a:latin typeface="Arial"/>
                <a:cs typeface="Arial"/>
              </a:rPr>
              <a:t>FN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29754" y="3959225"/>
            <a:ext cx="6025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46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harmonic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mean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precision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recall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(i.e.,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350" spc="160">
                <a:solidFill>
                  <a:srgbClr val="585D60"/>
                </a:solidFill>
                <a:latin typeface="Tahoma"/>
                <a:cs typeface="Tahoma"/>
              </a:rPr>
              <a:t>2</a:t>
            </a:r>
            <a:r>
              <a:rPr dirty="0" sz="1350" spc="-25">
                <a:solidFill>
                  <a:srgbClr val="585D60"/>
                </a:solidFill>
                <a:latin typeface="Tahoma"/>
                <a:cs typeface="Tahoma"/>
              </a:rPr>
              <a:t> </a:t>
            </a:r>
            <a:r>
              <a:rPr dirty="0" sz="1350" spc="415">
                <a:solidFill>
                  <a:srgbClr val="585D60"/>
                </a:solidFill>
                <a:latin typeface="Tahoma"/>
                <a:cs typeface="Tahoma"/>
              </a:rPr>
              <a:t>×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597824" y="3835400"/>
            <a:ext cx="144843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100" spc="100" i="1">
                <a:solidFill>
                  <a:srgbClr val="585D60"/>
                </a:solidFill>
                <a:latin typeface="Arial"/>
                <a:cs typeface="Arial"/>
              </a:rPr>
              <a:t>precision</a:t>
            </a:r>
            <a:r>
              <a:rPr dirty="0" sz="950" spc="100">
                <a:solidFill>
                  <a:srgbClr val="585D60"/>
                </a:solidFill>
                <a:latin typeface="Tahoma"/>
                <a:cs typeface="Tahoma"/>
              </a:rPr>
              <a:t>×</a:t>
            </a:r>
            <a:r>
              <a:rPr dirty="0" sz="1100" spc="100" i="1">
                <a:solidFill>
                  <a:srgbClr val="585D60"/>
                </a:solidFill>
                <a:latin typeface="Arial"/>
                <a:cs typeface="Arial"/>
              </a:rPr>
              <a:t>recall</a:t>
            </a:r>
            <a:r>
              <a:rPr dirty="0" sz="1100" spc="-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baseline="-29320" sz="2700" spc="75">
                <a:solidFill>
                  <a:srgbClr val="585D60"/>
                </a:solidFill>
                <a:latin typeface="Calibri"/>
                <a:cs typeface="Calibri"/>
              </a:rPr>
              <a:t>).</a:t>
            </a:r>
            <a:endParaRPr baseline="-29320" sz="27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623224" y="4130098"/>
            <a:ext cx="1214120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00" i="1">
                <a:solidFill>
                  <a:srgbClr val="585D60"/>
                </a:solidFill>
                <a:latin typeface="Arial"/>
                <a:cs typeface="Arial"/>
              </a:rPr>
              <a:t>precision</a:t>
            </a:r>
            <a:r>
              <a:rPr dirty="0" sz="950" spc="100">
                <a:solidFill>
                  <a:srgbClr val="585D60"/>
                </a:solidFill>
                <a:latin typeface="Tahoma"/>
                <a:cs typeface="Tahoma"/>
              </a:rPr>
              <a:t>+</a:t>
            </a:r>
            <a:r>
              <a:rPr dirty="0" sz="1100" spc="100" i="1">
                <a:solidFill>
                  <a:srgbClr val="585D60"/>
                </a:solidFill>
                <a:latin typeface="Arial"/>
                <a:cs typeface="Arial"/>
              </a:rPr>
              <a:t>recall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620000" y="4138612"/>
            <a:ext cx="1219200" cy="0"/>
          </a:xfrm>
          <a:custGeom>
            <a:avLst/>
            <a:gdLst/>
            <a:ahLst/>
            <a:cxnLst/>
            <a:rect l="l" t="t" r="r" b="b"/>
            <a:pathLst>
              <a:path w="1219200" h="0">
                <a:moveTo>
                  <a:pt x="0" y="0"/>
                </a:moveTo>
                <a:lnTo>
                  <a:pt x="1219199" y="0"/>
                </a:lnTo>
              </a:path>
            </a:pathLst>
          </a:custGeom>
          <a:ln w="9524">
            <a:solidFill>
              <a:srgbClr val="585D6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28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28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9515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40">
                <a:solidFill>
                  <a:srgbClr val="C2132D"/>
                </a:solidFill>
              </a:rPr>
              <a:t>Supervised </a:t>
            </a:r>
            <a:r>
              <a:rPr dirty="0" sz="3350" spc="-170">
                <a:solidFill>
                  <a:srgbClr val="C2132D"/>
                </a:solidFill>
              </a:rPr>
              <a:t>Learning </a:t>
            </a:r>
            <a:r>
              <a:rPr dirty="0" sz="3350" spc="-120">
                <a:solidFill>
                  <a:srgbClr val="C2132D"/>
                </a:solidFill>
              </a:rPr>
              <a:t>Model </a:t>
            </a:r>
            <a:r>
              <a:rPr dirty="0" sz="3350" spc="-215">
                <a:solidFill>
                  <a:srgbClr val="C2132D"/>
                </a:solidFill>
              </a:rPr>
              <a:t>Evaluation:</a:t>
            </a:r>
            <a:r>
              <a:rPr dirty="0" sz="3350" spc="-500">
                <a:solidFill>
                  <a:srgbClr val="C2132D"/>
                </a:solidFill>
              </a:rPr>
              <a:t> </a:t>
            </a:r>
            <a:r>
              <a:rPr dirty="0" sz="3350" spc="-135">
                <a:solidFill>
                  <a:srgbClr val="C2132D"/>
                </a:solidFill>
              </a:rPr>
              <a:t>Classification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13265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145" b="1">
                <a:solidFill>
                  <a:srgbClr val="C2132D"/>
                </a:solidFill>
                <a:latin typeface="Arial"/>
                <a:cs typeface="Arial"/>
              </a:rPr>
              <a:t>ROC</a:t>
            </a:r>
            <a:r>
              <a:rPr dirty="0" sz="1800" spc="-130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Curve</a:t>
            </a:r>
            <a:r>
              <a:rPr dirty="0" sz="1800" spc="-70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67005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31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pc="-120"/>
              <a:t>AUROC</a:t>
            </a:r>
            <a:r>
              <a:rPr dirty="0" spc="-120" b="0">
                <a:solidFill>
                  <a:srgbClr val="585D60"/>
                </a:solidFill>
                <a:latin typeface="Calibri"/>
                <a:cs typeface="Calibri"/>
              </a:rPr>
              <a:t>:</a:t>
            </a: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area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under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ROC</a:t>
            </a:r>
            <a:r>
              <a:rPr dirty="0" sz="1800" spc="-1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curve.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false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positives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false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negatives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50">
                <a:solidFill>
                  <a:srgbClr val="585D60"/>
                </a:solidFill>
                <a:latin typeface="Calibri"/>
                <a:cs typeface="Calibri"/>
              </a:rPr>
              <a:t>classes</a:t>
            </a:r>
            <a:r>
              <a:rPr dirty="0" sz="1800" spc="-2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are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imbalanced.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04354" y="1863725"/>
            <a:ext cx="8539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1450" indent="-133985">
              <a:lnSpc>
                <a:spcPct val="100000"/>
              </a:lnSpc>
              <a:spcBef>
                <a:spcPts val="100"/>
              </a:spcBef>
              <a:buClr>
                <a:srgbClr val="C2132D"/>
              </a:buClr>
              <a:buFont typeface="Trebuchet MS"/>
              <a:buChar char="•"/>
              <a:tabLst>
                <a:tab pos="172085" algn="l"/>
                <a:tab pos="7680959" algn="l"/>
                <a:tab pos="812482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plot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true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positive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rate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against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false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positive</a:t>
            </a:r>
            <a:r>
              <a:rPr dirty="0" sz="1800" spc="-2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rate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5">
                <a:solidFill>
                  <a:srgbClr val="585D60"/>
                </a:solidFill>
                <a:latin typeface="Calibri"/>
                <a:cs typeface="Calibri"/>
              </a:rPr>
              <a:t>(i.e.,</a:t>
            </a:r>
            <a:r>
              <a:rPr dirty="0" u="sng" baseline="23148" sz="2700" spc="22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Calibri"/>
                <a:cs typeface="Calibri"/>
              </a:rPr>
              <a:t> 	</a:t>
            </a:r>
            <a:r>
              <a:rPr dirty="0" u="sng" baseline="37878" sz="1650" spc="225" i="1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Arial"/>
                <a:cs typeface="Arial"/>
              </a:rPr>
              <a:t>TP	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vs.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977858" y="2034598"/>
            <a:ext cx="63690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50" i="1">
                <a:solidFill>
                  <a:srgbClr val="585D60"/>
                </a:solidFill>
                <a:latin typeface="Arial"/>
                <a:cs typeface="Arial"/>
              </a:rPr>
              <a:t>TP</a:t>
            </a:r>
            <a:r>
              <a:rPr dirty="0" sz="1100" spc="-220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950" spc="265">
                <a:solidFill>
                  <a:srgbClr val="585D60"/>
                </a:solidFill>
                <a:latin typeface="Tahoma"/>
                <a:cs typeface="Tahoma"/>
              </a:rPr>
              <a:t>+</a:t>
            </a:r>
            <a:r>
              <a:rPr dirty="0" sz="1100" spc="265" i="1">
                <a:solidFill>
                  <a:srgbClr val="585D60"/>
                </a:solidFill>
                <a:latin typeface="Arial"/>
                <a:cs typeface="Arial"/>
              </a:rPr>
              <a:t>FN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66875" y="2120900"/>
            <a:ext cx="900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43840" algn="l"/>
                <a:tab pos="694690" algn="l"/>
              </a:tabLst>
            </a:pPr>
            <a:r>
              <a:rPr dirty="0" u="sng" sz="1250" spc="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250" spc="5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sng" sz="1100" spc="175" i="1">
                <a:solidFill>
                  <a:srgbClr val="585D60"/>
                </a:solidFill>
                <a:uFill>
                  <a:solidFill>
                    <a:srgbClr val="585D60"/>
                  </a:solidFill>
                </a:uFill>
                <a:latin typeface="Arial"/>
                <a:cs typeface="Arial"/>
              </a:rPr>
              <a:t>FP	</a:t>
            </a:r>
            <a:r>
              <a:rPr dirty="0" baseline="-23148" sz="2700" spc="75">
                <a:solidFill>
                  <a:srgbClr val="585D60"/>
                </a:solidFill>
                <a:latin typeface="Calibri"/>
                <a:cs typeface="Calibri"/>
              </a:rPr>
              <a:t>).</a:t>
            </a:r>
            <a:endParaRPr baseline="-23148" sz="27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707306" y="2387023"/>
            <a:ext cx="63690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175" i="1">
                <a:solidFill>
                  <a:srgbClr val="585D60"/>
                </a:solidFill>
                <a:latin typeface="Arial"/>
                <a:cs typeface="Arial"/>
              </a:rPr>
              <a:t>FP</a:t>
            </a:r>
            <a:r>
              <a:rPr dirty="0" sz="1100" spc="-215" i="1">
                <a:solidFill>
                  <a:srgbClr val="585D60"/>
                </a:solidFill>
                <a:latin typeface="Arial"/>
                <a:cs typeface="Arial"/>
              </a:rPr>
              <a:t> </a:t>
            </a:r>
            <a:r>
              <a:rPr dirty="0" sz="950" spc="245">
                <a:solidFill>
                  <a:srgbClr val="585D60"/>
                </a:solidFill>
                <a:latin typeface="Tahoma"/>
                <a:cs typeface="Tahoma"/>
              </a:rPr>
              <a:t>+</a:t>
            </a:r>
            <a:r>
              <a:rPr dirty="0" sz="1100" spc="245" i="1">
                <a:solidFill>
                  <a:srgbClr val="585D60"/>
                </a:solidFill>
                <a:latin typeface="Arial"/>
                <a:cs typeface="Arial"/>
              </a:rPr>
              <a:t>TN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28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853376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40">
                <a:solidFill>
                  <a:srgbClr val="C2132D"/>
                </a:solidFill>
              </a:rPr>
              <a:t>Supervised </a:t>
            </a:r>
            <a:r>
              <a:rPr dirty="0" sz="3350" spc="-170">
                <a:solidFill>
                  <a:srgbClr val="C2132D"/>
                </a:solidFill>
              </a:rPr>
              <a:t>Learning </a:t>
            </a:r>
            <a:r>
              <a:rPr dirty="0" sz="3350" spc="-120">
                <a:solidFill>
                  <a:srgbClr val="C2132D"/>
                </a:solidFill>
              </a:rPr>
              <a:t>Model </a:t>
            </a:r>
            <a:r>
              <a:rPr dirty="0" sz="3350" spc="-215">
                <a:solidFill>
                  <a:srgbClr val="C2132D"/>
                </a:solidFill>
              </a:rPr>
              <a:t>Evaluation:</a:t>
            </a:r>
            <a:r>
              <a:rPr dirty="0" sz="3350" spc="-520">
                <a:solidFill>
                  <a:srgbClr val="C2132D"/>
                </a:solidFill>
              </a:rPr>
              <a:t> </a:t>
            </a:r>
            <a:r>
              <a:rPr dirty="0" sz="3350" spc="-110">
                <a:solidFill>
                  <a:srgbClr val="C2132D"/>
                </a:solidFill>
              </a:rPr>
              <a:t>Regression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224645" cy="4757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25" b="1">
                <a:solidFill>
                  <a:srgbClr val="C2132D"/>
                </a:solidFill>
                <a:latin typeface="Arial"/>
                <a:cs typeface="Arial"/>
              </a:rPr>
              <a:t>Mean </a:t>
            </a: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Error </a:t>
            </a:r>
            <a:r>
              <a:rPr dirty="0" sz="1800" spc="-20" b="1">
                <a:solidFill>
                  <a:srgbClr val="C2132D"/>
                </a:solidFill>
                <a:latin typeface="Arial"/>
                <a:cs typeface="Arial"/>
              </a:rPr>
              <a:t>(ME)</a:t>
            </a:r>
            <a:r>
              <a:rPr dirty="0" sz="1800" spc="-20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</a:t>
            </a:r>
            <a:r>
              <a:rPr dirty="0" sz="1800" spc="-2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average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differences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predictions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actual values.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-1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bias.</a:t>
            </a:r>
            <a:endParaRPr sz="18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C2132D"/>
              </a:buClr>
              <a:buFont typeface="Trebuchet MS"/>
              <a:buChar char="•"/>
            </a:pPr>
            <a:endParaRPr sz="17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5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25" b="1">
                <a:solidFill>
                  <a:srgbClr val="C2132D"/>
                </a:solidFill>
                <a:latin typeface="Arial"/>
                <a:cs typeface="Arial"/>
              </a:rPr>
              <a:t>Mean </a:t>
            </a: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Absolute </a:t>
            </a: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Error</a:t>
            </a:r>
            <a:r>
              <a:rPr dirty="0" sz="1800" spc="-8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C2132D"/>
                </a:solidFill>
                <a:latin typeface="Arial"/>
                <a:cs typeface="Arial"/>
              </a:rPr>
              <a:t>(MAE)</a:t>
            </a:r>
            <a:r>
              <a:rPr dirty="0" sz="1800" spc="-30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average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absolute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differences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predictions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actual</a:t>
            </a:r>
            <a:r>
              <a:rPr dirty="0" sz="1800" spc="-27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values.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large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errors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not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small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errors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  <a:p>
            <a:pPr marL="146050" indent="-133985">
              <a:lnSpc>
                <a:spcPct val="100000"/>
              </a:lnSpc>
              <a:spcBef>
                <a:spcPts val="129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25" b="1">
                <a:solidFill>
                  <a:srgbClr val="C2132D"/>
                </a:solidFill>
                <a:latin typeface="Arial"/>
                <a:cs typeface="Arial"/>
              </a:rPr>
              <a:t>Mean </a:t>
            </a: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Squared </a:t>
            </a:r>
            <a:r>
              <a:rPr dirty="0" sz="1800" spc="-90" b="1">
                <a:solidFill>
                  <a:srgbClr val="C2132D"/>
                </a:solidFill>
                <a:latin typeface="Arial"/>
                <a:cs typeface="Arial"/>
              </a:rPr>
              <a:t>Error</a:t>
            </a: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1800" spc="-35" b="1">
                <a:solidFill>
                  <a:srgbClr val="C2132D"/>
                </a:solidFill>
                <a:latin typeface="Arial"/>
                <a:cs typeface="Arial"/>
              </a:rPr>
              <a:t>(MSE)</a:t>
            </a:r>
            <a:r>
              <a:rPr dirty="0" sz="1800" spc="-35">
                <a:solidFill>
                  <a:srgbClr val="585D60"/>
                </a:solidFill>
                <a:latin typeface="Calibri"/>
                <a:cs typeface="Calibri"/>
              </a:rPr>
              <a:t>: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This is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average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squared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differences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predictions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actual</a:t>
            </a:r>
            <a:r>
              <a:rPr dirty="0" sz="1800" spc="-25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values.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large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errors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  <a:p>
            <a:pPr lvl="1" marL="527050" indent="-134620">
              <a:lnSpc>
                <a:spcPct val="100000"/>
              </a:lnSpc>
              <a:spcBef>
                <a:spcPts val="1215"/>
              </a:spcBef>
              <a:buClr>
                <a:srgbClr val="C2132D"/>
              </a:buClr>
              <a:buFont typeface="Trebuchet MS"/>
              <a:buChar char="•"/>
              <a:tabLst>
                <a:tab pos="527685" algn="l"/>
              </a:tabLst>
            </a:pP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It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not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a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good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measure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cost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5">
                <a:solidFill>
                  <a:srgbClr val="585D60"/>
                </a:solidFill>
                <a:latin typeface="Calibri"/>
                <a:cs typeface="Calibri"/>
              </a:rPr>
              <a:t>small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errors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0">
                <a:solidFill>
                  <a:srgbClr val="585D60"/>
                </a:solidFill>
                <a:latin typeface="Calibri"/>
                <a:cs typeface="Calibri"/>
              </a:rPr>
              <a:t>is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high.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898136" y="2779776"/>
            <a:ext cx="1746885" cy="1015365"/>
          </a:xfrm>
          <a:prstGeom prst="rect"/>
          <a:solidFill>
            <a:srgbClr val="333333"/>
          </a:solidFill>
        </p:spPr>
        <p:txBody>
          <a:bodyPr wrap="square" lIns="0" tIns="118745" rIns="0" bIns="0" rtlCol="0" vert="horz">
            <a:spAutoFit/>
          </a:bodyPr>
          <a:lstStyle/>
          <a:p>
            <a:pPr marL="226695">
              <a:lnSpc>
                <a:spcPct val="100000"/>
              </a:lnSpc>
              <a:spcBef>
                <a:spcPts val="935"/>
              </a:spcBef>
            </a:pPr>
            <a:r>
              <a:rPr dirty="0" spc="-1220">
                <a:solidFill>
                  <a:srgbClr val="000000"/>
                </a:solidFill>
              </a:rPr>
              <a:t>R</a:t>
            </a:r>
            <a:r>
              <a:rPr dirty="0" spc="-1220"/>
              <a:t>R</a:t>
            </a:r>
            <a:r>
              <a:rPr dirty="0" spc="-1220">
                <a:solidFill>
                  <a:srgbClr val="000000"/>
                </a:solidFill>
              </a:rPr>
              <a:t>e</a:t>
            </a:r>
            <a:r>
              <a:rPr dirty="0" spc="-1220"/>
              <a:t>e</a:t>
            </a:r>
            <a:r>
              <a:rPr dirty="0" spc="-1220">
                <a:solidFill>
                  <a:srgbClr val="000000"/>
                </a:solidFill>
              </a:rPr>
              <a:t>c</a:t>
            </a:r>
            <a:r>
              <a:rPr dirty="0" spc="-1220"/>
              <a:t>c</a:t>
            </a:r>
            <a:r>
              <a:rPr dirty="0" spc="-1220">
                <a:solidFill>
                  <a:srgbClr val="000000"/>
                </a:solidFill>
              </a:rPr>
              <a:t>a</a:t>
            </a:r>
            <a:r>
              <a:rPr dirty="0" spc="-1220"/>
              <a:t>a</a:t>
            </a:r>
            <a:r>
              <a:rPr dirty="0" spc="-1220">
                <a:solidFill>
                  <a:srgbClr val="000000"/>
                </a:solidFill>
              </a:rPr>
              <a:t>p</a:t>
            </a:r>
            <a:r>
              <a:rPr dirty="0" spc="-1220"/>
              <a:t>p</a:t>
            </a:r>
          </a:p>
        </p:txBody>
      </p:sp>
      <p:sp>
        <p:nvSpPr>
          <p:cNvPr id="3" name="object 3"/>
          <p:cNvSpPr/>
          <p:nvPr/>
        </p:nvSpPr>
        <p:spPr>
          <a:xfrm>
            <a:off x="10631423" y="5995415"/>
            <a:ext cx="894080" cy="491490"/>
          </a:xfrm>
          <a:custGeom>
            <a:avLst/>
            <a:gdLst/>
            <a:ahLst/>
            <a:cxnLst/>
            <a:rect l="l" t="t" r="r" b="b"/>
            <a:pathLst>
              <a:path w="894079" h="491489">
                <a:moveTo>
                  <a:pt x="0" y="0"/>
                </a:moveTo>
                <a:lnTo>
                  <a:pt x="893825" y="0"/>
                </a:lnTo>
                <a:lnTo>
                  <a:pt x="893825" y="491109"/>
                </a:lnTo>
                <a:lnTo>
                  <a:pt x="0" y="491109"/>
                </a:lnTo>
                <a:lnTo>
                  <a:pt x="0" y="0"/>
                </a:lnTo>
                <a:close/>
              </a:path>
            </a:pathLst>
          </a:custGeom>
          <a:solidFill>
            <a:srgbClr val="333333">
              <a:alpha val="50000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0878987" y="6207124"/>
            <a:ext cx="5067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95">
                <a:latin typeface="Trebuchet MS"/>
                <a:cs typeface="Trebuchet MS"/>
              </a:rPr>
              <a:t>2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dirty="0" sz="1200" spc="-295">
                <a:latin typeface="Trebuchet MS"/>
                <a:cs typeface="Trebuchet MS"/>
              </a:rPr>
              <a:t>9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9 </a:t>
            </a:r>
            <a:r>
              <a:rPr dirty="0" sz="1200" spc="-385">
                <a:latin typeface="Trebuchet MS"/>
                <a:cs typeface="Trebuchet MS"/>
              </a:rPr>
              <a:t>/</a:t>
            </a:r>
            <a:r>
              <a:rPr dirty="0" sz="1200" spc="-385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dirty="0" sz="1200" spc="-9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200" spc="-295">
                <a:latin typeface="Trebuchet MS"/>
                <a:cs typeface="Trebuchet MS"/>
              </a:rPr>
              <a:t>3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r>
              <a:rPr dirty="0" sz="1200" spc="-295">
                <a:latin typeface="Trebuchet MS"/>
                <a:cs typeface="Trebuchet MS"/>
              </a:rPr>
              <a:t>1</a:t>
            </a:r>
            <a:r>
              <a:rPr dirty="0" sz="1200" spc="-295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30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41783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70">
                <a:solidFill>
                  <a:srgbClr val="C2132D"/>
                </a:solidFill>
              </a:rPr>
              <a:t>Summary </a:t>
            </a:r>
            <a:r>
              <a:rPr dirty="0" sz="3350" spc="-140">
                <a:solidFill>
                  <a:srgbClr val="C2132D"/>
                </a:solidFill>
              </a:rPr>
              <a:t>of </a:t>
            </a:r>
            <a:r>
              <a:rPr dirty="0" sz="3350" spc="-90">
                <a:solidFill>
                  <a:srgbClr val="C2132D"/>
                </a:solidFill>
              </a:rPr>
              <a:t>Main</a:t>
            </a:r>
            <a:r>
              <a:rPr dirty="0" sz="3350" spc="-455">
                <a:solidFill>
                  <a:srgbClr val="C2132D"/>
                </a:solidFill>
              </a:rPr>
              <a:t> </a:t>
            </a:r>
            <a:r>
              <a:rPr dirty="0" sz="3350" spc="-110">
                <a:solidFill>
                  <a:srgbClr val="C2132D"/>
                </a:solidFill>
              </a:rPr>
              <a:t>Points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901700" y="1425575"/>
            <a:ext cx="9605010" cy="2042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By </a:t>
            </a:r>
            <a:r>
              <a:rPr dirty="0" sz="1800" spc="-5">
                <a:solidFill>
                  <a:srgbClr val="585D60"/>
                </a:solidFill>
                <a:latin typeface="Calibri"/>
                <a:cs typeface="Calibri"/>
              </a:rPr>
              <a:t>now,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you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should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able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do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</a:t>
            </a:r>
            <a:r>
              <a:rPr dirty="0" sz="1800" spc="-1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following: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75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Explain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difference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between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supervised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unsupervised</a:t>
            </a:r>
            <a:r>
              <a:rPr dirty="0" sz="1800" spc="-10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learning.</a:t>
            </a:r>
            <a:endParaRPr sz="1800">
              <a:latin typeface="Calibri"/>
              <a:cs typeface="Calibri"/>
            </a:endParaRPr>
          </a:p>
          <a:p>
            <a:pPr marL="393065" marR="5080" indent="-133985">
              <a:lnSpc>
                <a:spcPct val="114599"/>
              </a:lnSpc>
              <a:spcBef>
                <a:spcPts val="975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Understand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70">
                <a:solidFill>
                  <a:srgbClr val="585D60"/>
                </a:solidFill>
                <a:latin typeface="Calibri"/>
                <a:cs typeface="Calibri"/>
              </a:rPr>
              <a:t>importance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different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preprocessing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steps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when </a:t>
            </a:r>
            <a:r>
              <a:rPr dirty="0" sz="1800" spc="25">
                <a:solidFill>
                  <a:srgbClr val="585D60"/>
                </a:solidFill>
                <a:latin typeface="Calibri"/>
                <a:cs typeface="Calibri"/>
              </a:rPr>
              <a:t>they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should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used 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ML.</a:t>
            </a:r>
            <a:endParaRPr sz="1800">
              <a:latin typeface="Calibri"/>
              <a:cs typeface="Calibri"/>
            </a:endParaRPr>
          </a:p>
          <a:p>
            <a:pPr marL="393700" indent="-133985">
              <a:lnSpc>
                <a:spcPct val="100000"/>
              </a:lnSpc>
              <a:spcBef>
                <a:spcPts val="1290"/>
              </a:spcBef>
              <a:buClr>
                <a:srgbClr val="C2132D"/>
              </a:buClr>
              <a:buFont typeface="Trebuchet MS"/>
              <a:buChar char="•"/>
              <a:tabLst>
                <a:tab pos="393700" algn="l"/>
              </a:tabLst>
            </a:pP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Explain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typical </a:t>
            </a:r>
            <a:r>
              <a:rPr dirty="0" sz="1800" spc="10">
                <a:solidFill>
                  <a:srgbClr val="585D60"/>
                </a:solidFill>
                <a:latin typeface="Calibri"/>
                <a:cs typeface="Calibri"/>
              </a:rPr>
              <a:t>error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measures used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supervised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 unsupervised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learning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10">
                <a:solidFill>
                  <a:srgbClr val="585D60"/>
                </a:solidFill>
                <a:latin typeface="Calibri"/>
                <a:cs typeface="Calibri"/>
              </a:rPr>
              <a:t>tasks.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12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"/>
              </a:spcBef>
            </a:pPr>
            <a:fld id="{81D60167-4931-47E6-BA6A-407CBD079E47}" type="slidenum">
              <a:rPr dirty="0" spc="65"/>
              <a:t>30</a:t>
            </a:fld>
            <a:r>
              <a:rPr dirty="0" spc="65"/>
              <a:t> </a:t>
            </a:r>
            <a:r>
              <a:rPr dirty="0" spc="30"/>
              <a:t>/</a:t>
            </a:r>
            <a:r>
              <a:rPr dirty="0" spc="-95"/>
              <a:t> </a:t>
            </a:r>
            <a:r>
              <a:rPr dirty="0" spc="65"/>
              <a:t>31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700" y="530225"/>
            <a:ext cx="54457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00" spc="2155">
                <a:solidFill>
                  <a:srgbClr val="C2132D"/>
                </a:solidFill>
                <a:latin typeface="Arial"/>
                <a:cs typeface="Arial"/>
              </a:rPr>
              <a:t>📝</a:t>
            </a:r>
            <a:r>
              <a:rPr dirty="0" sz="3300" spc="-260">
                <a:solidFill>
                  <a:srgbClr val="C2132D"/>
                </a:solidFill>
                <a:latin typeface="Arial"/>
                <a:cs typeface="Arial"/>
              </a:rPr>
              <a:t> </a:t>
            </a:r>
            <a:r>
              <a:rPr dirty="0" sz="3350" spc="-229">
                <a:solidFill>
                  <a:srgbClr val="C2132D"/>
                </a:solidFill>
              </a:rPr>
              <a:t>Review </a:t>
            </a:r>
            <a:r>
              <a:rPr dirty="0" sz="3350" spc="-180">
                <a:solidFill>
                  <a:srgbClr val="C2132D"/>
                </a:solidFill>
              </a:rPr>
              <a:t>and </a:t>
            </a:r>
            <a:r>
              <a:rPr dirty="0" sz="3350" spc="-195">
                <a:solidFill>
                  <a:srgbClr val="C2132D"/>
                </a:solidFill>
              </a:rPr>
              <a:t>Clarification </a:t>
            </a:r>
            <a:r>
              <a:rPr dirty="0" sz="3300" spc="2155">
                <a:solidFill>
                  <a:srgbClr val="C2132D"/>
                </a:solidFill>
                <a:latin typeface="Arial"/>
                <a:cs typeface="Arial"/>
              </a:rPr>
              <a:t>📝</a:t>
            </a:r>
            <a:endParaRPr sz="33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8754" y="1425575"/>
            <a:ext cx="9413240" cy="18141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6050" indent="-133985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Class </a:t>
            </a:r>
            <a:r>
              <a:rPr dirty="0" sz="1800" spc="-45" b="1">
                <a:solidFill>
                  <a:srgbClr val="C2132D"/>
                </a:solidFill>
                <a:latin typeface="Arial"/>
                <a:cs typeface="Arial"/>
              </a:rPr>
              <a:t>Notes</a:t>
            </a:r>
            <a:r>
              <a:rPr dirty="0" sz="1800" spc="-45">
                <a:solidFill>
                  <a:srgbClr val="585D60"/>
                </a:solidFill>
                <a:latin typeface="Calibri"/>
                <a:cs typeface="Calibri"/>
              </a:rPr>
              <a:t>: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Take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some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time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revisit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your </a:t>
            </a:r>
            <a:r>
              <a:rPr dirty="0" sz="1800" spc="150">
                <a:solidFill>
                  <a:srgbClr val="585D60"/>
                </a:solidFill>
                <a:latin typeface="Calibri"/>
                <a:cs typeface="Calibri"/>
              </a:rPr>
              <a:t>class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notes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50">
                <a:solidFill>
                  <a:srgbClr val="585D60"/>
                </a:solidFill>
                <a:latin typeface="Calibri"/>
                <a:cs typeface="Calibri"/>
              </a:rPr>
              <a:t>key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insights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and</a:t>
            </a:r>
            <a:r>
              <a:rPr dirty="0" sz="1800" spc="-24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90">
                <a:solidFill>
                  <a:srgbClr val="585D60"/>
                </a:solidFill>
                <a:latin typeface="Calibri"/>
                <a:cs typeface="Calibri"/>
              </a:rPr>
              <a:t>concepts.</a:t>
            </a:r>
            <a:endParaRPr sz="1800">
              <a:latin typeface="Calibri"/>
              <a:cs typeface="Calibri"/>
            </a:endParaRPr>
          </a:p>
          <a:p>
            <a:pPr marL="146050" marR="1016635" indent="-133985">
              <a:lnSpc>
                <a:spcPct val="118100"/>
              </a:lnSpc>
              <a:spcBef>
                <a:spcPts val="900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60" b="1">
                <a:solidFill>
                  <a:srgbClr val="C2132D"/>
                </a:solidFill>
                <a:latin typeface="Arial"/>
                <a:cs typeface="Arial"/>
              </a:rPr>
              <a:t>Zoom </a:t>
            </a:r>
            <a:r>
              <a:rPr dirty="0" sz="1800" spc="-75" b="1">
                <a:solidFill>
                  <a:srgbClr val="C2132D"/>
                </a:solidFill>
                <a:latin typeface="Arial"/>
                <a:cs typeface="Arial"/>
              </a:rPr>
              <a:t>Recording</a:t>
            </a:r>
            <a:r>
              <a:rPr dirty="0" sz="1800" spc="-75">
                <a:solidFill>
                  <a:srgbClr val="585D60"/>
                </a:solidFill>
                <a:latin typeface="Calibri"/>
                <a:cs typeface="Calibri"/>
              </a:rPr>
              <a:t>: </a:t>
            </a:r>
            <a:r>
              <a:rPr dirty="0" sz="1800" spc="10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recording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today's </a:t>
            </a:r>
            <a:r>
              <a:rPr dirty="0" sz="1800" spc="150">
                <a:solidFill>
                  <a:srgbClr val="585D60"/>
                </a:solidFill>
                <a:latin typeface="Calibri"/>
                <a:cs typeface="Calibri"/>
              </a:rPr>
              <a:t>class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will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be </a:t>
            </a:r>
            <a:r>
              <a:rPr dirty="0" sz="1800" spc="95">
                <a:solidFill>
                  <a:srgbClr val="585D60"/>
                </a:solidFill>
                <a:latin typeface="Calibri"/>
                <a:cs typeface="Calibri"/>
              </a:rPr>
              <a:t>made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available on</a:t>
            </a:r>
            <a:r>
              <a:rPr dirty="0" sz="1800" spc="-16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Canvas 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approximately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3-4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hours </a:t>
            </a:r>
            <a:r>
              <a:rPr dirty="0" sz="1800" spc="40">
                <a:solidFill>
                  <a:srgbClr val="585D60"/>
                </a:solidFill>
                <a:latin typeface="Calibri"/>
                <a:cs typeface="Calibri"/>
              </a:rPr>
              <a:t>after </a:t>
            </a:r>
            <a:r>
              <a:rPr dirty="0" sz="1800" spc="30">
                <a:solidFill>
                  <a:srgbClr val="585D60"/>
                </a:solidFill>
                <a:latin typeface="Calibri"/>
                <a:cs typeface="Calibri"/>
              </a:rPr>
              <a:t>the </a:t>
            </a:r>
            <a:r>
              <a:rPr dirty="0" sz="1800" spc="55">
                <a:solidFill>
                  <a:srgbClr val="585D60"/>
                </a:solidFill>
                <a:latin typeface="Calibri"/>
                <a:cs typeface="Calibri"/>
              </a:rPr>
              <a:t>end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of</a:t>
            </a:r>
            <a:r>
              <a:rPr dirty="0" sz="1800" spc="-55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class.</a:t>
            </a:r>
            <a:endParaRPr sz="1800">
              <a:latin typeface="Calibri"/>
              <a:cs typeface="Calibri"/>
            </a:endParaRPr>
          </a:p>
          <a:p>
            <a:pPr marL="146050" marR="5080" indent="-133985">
              <a:lnSpc>
                <a:spcPct val="118100"/>
              </a:lnSpc>
              <a:spcBef>
                <a:spcPts val="819"/>
              </a:spcBef>
              <a:buFont typeface="Trebuchet MS"/>
              <a:buChar char="•"/>
              <a:tabLst>
                <a:tab pos="146685" algn="l"/>
              </a:tabLst>
            </a:pPr>
            <a:r>
              <a:rPr dirty="0" sz="1800" spc="-70" b="1">
                <a:solidFill>
                  <a:srgbClr val="C2132D"/>
                </a:solidFill>
                <a:latin typeface="Arial"/>
                <a:cs typeface="Arial"/>
              </a:rPr>
              <a:t>Questions</a:t>
            </a:r>
            <a:r>
              <a:rPr dirty="0" sz="1800" spc="-70">
                <a:solidFill>
                  <a:srgbClr val="585D60"/>
                </a:solidFill>
                <a:latin typeface="Calibri"/>
                <a:cs typeface="Calibri"/>
              </a:rPr>
              <a:t>: </a:t>
            </a:r>
            <a:r>
              <a:rPr dirty="0" sz="1800" spc="114">
                <a:solidFill>
                  <a:srgbClr val="585D60"/>
                </a:solidFill>
                <a:latin typeface="Calibri"/>
                <a:cs typeface="Calibri"/>
              </a:rPr>
              <a:t>Please </a:t>
            </a:r>
            <a:r>
              <a:rPr dirty="0" sz="1800">
                <a:solidFill>
                  <a:srgbClr val="585D60"/>
                </a:solidFill>
                <a:latin typeface="Calibri"/>
                <a:cs typeface="Calibri"/>
              </a:rPr>
              <a:t>don't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hesitate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</a:t>
            </a:r>
            <a:r>
              <a:rPr dirty="0" sz="1800" spc="145">
                <a:solidFill>
                  <a:srgbClr val="585D60"/>
                </a:solidFill>
                <a:latin typeface="Calibri"/>
                <a:cs typeface="Calibri"/>
              </a:rPr>
              <a:t>ask </a:t>
            </a:r>
            <a:r>
              <a:rPr dirty="0" sz="1800" spc="45">
                <a:solidFill>
                  <a:srgbClr val="585D60"/>
                </a:solidFill>
                <a:latin typeface="Calibri"/>
                <a:cs typeface="Calibri"/>
              </a:rPr>
              <a:t>for </a:t>
            </a:r>
            <a:r>
              <a:rPr dirty="0" sz="1800" spc="60">
                <a:solidFill>
                  <a:srgbClr val="585D60"/>
                </a:solidFill>
                <a:latin typeface="Calibri"/>
                <a:cs typeface="Calibri"/>
              </a:rPr>
              <a:t>clarification on </a:t>
            </a:r>
            <a:r>
              <a:rPr dirty="0" sz="1800" spc="65">
                <a:solidFill>
                  <a:srgbClr val="585D60"/>
                </a:solidFill>
                <a:latin typeface="Calibri"/>
                <a:cs typeface="Calibri"/>
              </a:rPr>
              <a:t>any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topics </a:t>
            </a:r>
            <a:r>
              <a:rPr dirty="0" sz="1800" spc="125">
                <a:solidFill>
                  <a:srgbClr val="585D60"/>
                </a:solidFill>
                <a:latin typeface="Calibri"/>
                <a:cs typeface="Calibri"/>
              </a:rPr>
              <a:t>discussed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in </a:t>
            </a:r>
            <a:r>
              <a:rPr dirty="0" sz="1800" spc="130">
                <a:solidFill>
                  <a:srgbClr val="585D60"/>
                </a:solidFill>
                <a:latin typeface="Calibri"/>
                <a:cs typeface="Calibri"/>
              </a:rPr>
              <a:t>class.</a:t>
            </a:r>
            <a:r>
              <a:rPr dirty="0" sz="1800" spc="-21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It's  </a:t>
            </a:r>
            <a:r>
              <a:rPr dirty="0" sz="1800" spc="75">
                <a:solidFill>
                  <a:srgbClr val="585D60"/>
                </a:solidFill>
                <a:latin typeface="Calibri"/>
                <a:cs typeface="Calibri"/>
              </a:rPr>
              <a:t>crucial </a:t>
            </a:r>
            <a:r>
              <a:rPr dirty="0" sz="1800" spc="35">
                <a:solidFill>
                  <a:srgbClr val="585D60"/>
                </a:solidFill>
                <a:latin typeface="Calibri"/>
                <a:cs typeface="Calibri"/>
              </a:rPr>
              <a:t>not 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to let </a:t>
            </a:r>
            <a:r>
              <a:rPr dirty="0" sz="1800" spc="85">
                <a:solidFill>
                  <a:srgbClr val="585D60"/>
                </a:solidFill>
                <a:latin typeface="Calibri"/>
                <a:cs typeface="Calibri"/>
              </a:rPr>
              <a:t>questions</a:t>
            </a:r>
            <a:r>
              <a:rPr dirty="0" sz="1800" spc="20">
                <a:solidFill>
                  <a:srgbClr val="585D60"/>
                </a:solidFill>
                <a:latin typeface="Calibri"/>
                <a:cs typeface="Calibri"/>
              </a:rPr>
              <a:t> </a:t>
            </a:r>
            <a:r>
              <a:rPr dirty="0" sz="1800" spc="80">
                <a:solidFill>
                  <a:srgbClr val="585D60"/>
                </a:solidFill>
                <a:latin typeface="Calibri"/>
                <a:cs typeface="Calibri"/>
              </a:rPr>
              <a:t>accumulate.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419: Data-Driven Security</dc:title>
  <dcterms:created xsi:type="dcterms:W3CDTF">2025-03-06T16:17:07Z</dcterms:created>
  <dcterms:modified xsi:type="dcterms:W3CDTF">2025-03-06T16:17:07Z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2025-03-06T00:00:00Z</vt:filetime>
  </property>
  <property fmtid="{D5CDD505-2E9C-101B-9397-08002B2CF9AE}" pid="3" name="Creator">
    <vt:lpwstr>Mozilla/5.0 (Windows NT 10.0; Win64; x64) AppleWebKit/537.36 (KHTML, like Gecko) Chrome/133.0.0.0 Safari/537.36</vt:lpwstr>
  </property>
  <property fmtid="{D5CDD505-2E9C-101B-9397-08002B2CF9AE}" pid="4" name="LastSaved">
    <vt:filetime>2025-03-06T00:00:00Z</vt:filetime>
  </property>
</Properties>
</file>