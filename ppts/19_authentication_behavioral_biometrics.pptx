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1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1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1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912" y="320675"/>
            <a:ext cx="13976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1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s.cmu.edu/~keystroke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s.cmu.edu/~keystroke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cmu.edu/~keystroke/DSL-StrongPasswordData.csv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739076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 i="0">
                <a:solidFill>
                  <a:srgbClr val="FFFFFF"/>
                </a:solidFill>
                <a:latin typeface="Trebuchet MS"/>
                <a:cs typeface="Trebuchet MS"/>
              </a:rPr>
              <a:t>ISA </a:t>
            </a:r>
            <a:r>
              <a:rPr dirty="0" sz="3350" spc="-180" i="0">
                <a:solidFill>
                  <a:srgbClr val="FFFFFF"/>
                </a:solidFill>
                <a:latin typeface="Trebuchet MS"/>
                <a:cs typeface="Trebuchet MS"/>
              </a:rPr>
              <a:t>419: </a:t>
            </a:r>
            <a:r>
              <a:rPr dirty="0" sz="3350" spc="-220" i="0">
                <a:solidFill>
                  <a:srgbClr val="FFFFFF"/>
                </a:solidFill>
                <a:latin typeface="Trebuchet MS"/>
                <a:cs typeface="Trebuchet MS"/>
              </a:rPr>
              <a:t>Data-Driven</a:t>
            </a:r>
            <a:r>
              <a:rPr dirty="0" sz="3350" spc="-53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-180" i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 i="0">
                <a:solidFill>
                  <a:srgbClr val="FFFFFF"/>
                </a:solidFill>
                <a:latin typeface="Times New Roman"/>
                <a:cs typeface="Times New Roman"/>
              </a:rPr>
              <a:t>19: Authentication Using Behavioral</a:t>
            </a:r>
            <a:r>
              <a:rPr dirty="0" sz="3000" spc="-27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i="0">
                <a:solidFill>
                  <a:srgbClr val="FFFFFF"/>
                </a:solidFill>
                <a:latin typeface="Times New Roman"/>
                <a:cs typeface="Times New Roman"/>
              </a:rPr>
              <a:t>Biometrics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286"/>
            <a:ext cx="228599" cy="223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5" i="0">
                <a:latin typeface="Arial Narrow"/>
                <a:cs typeface="Arial Narrow"/>
              </a:rPr>
              <a:t>Learning Objectives </a:t>
            </a:r>
            <a:r>
              <a:rPr dirty="0" sz="3350" spc="190" i="0">
                <a:latin typeface="Arial Narrow"/>
                <a:cs typeface="Arial Narrow"/>
              </a:rPr>
              <a:t>for </a:t>
            </a:r>
            <a:r>
              <a:rPr dirty="0" sz="3350" spc="60" i="0">
                <a:latin typeface="Arial Narrow"/>
                <a:cs typeface="Arial Narrow"/>
              </a:rPr>
              <a:t>Today's</a:t>
            </a:r>
            <a:r>
              <a:rPr dirty="0" sz="3350" spc="-450" i="0">
                <a:latin typeface="Arial Narrow"/>
                <a:cs typeface="Arial Narrow"/>
              </a:rPr>
              <a:t> </a:t>
            </a:r>
            <a:r>
              <a:rPr dirty="0" sz="3350" spc="100" i="0">
                <a:latin typeface="Arial Narrow"/>
                <a:cs typeface="Arial Narrow"/>
              </a:rPr>
              <a:t>Class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7649209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Motivating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behavioral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</a:t>
            </a:r>
            <a:r>
              <a:rPr dirty="0" sz="1800" spc="-1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purposes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Explain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possible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sources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application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behavioral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Model behavioral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using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</a:t>
            </a:r>
            <a:r>
              <a:rPr dirty="0" sz="1800" spc="-1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techniques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2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4984" y="2496312"/>
            <a:ext cx="9509760" cy="1564005"/>
          </a:xfrm>
          <a:prstGeom prst="rect"/>
          <a:solidFill>
            <a:srgbClr val="333333"/>
          </a:solidFill>
        </p:spPr>
        <p:txBody>
          <a:bodyPr wrap="square" lIns="0" tIns="247015" rIns="0" bIns="0" rtlCol="0" vert="horz">
            <a:spAutoFit/>
          </a:bodyPr>
          <a:lstStyle/>
          <a:p>
            <a:pPr marL="1849120" marR="234950" indent="-1621155">
              <a:lnSpc>
                <a:spcPts val="4120"/>
              </a:lnSpc>
              <a:spcBef>
                <a:spcPts val="1945"/>
              </a:spcBef>
            </a:pP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v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5" i="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dirty="0" sz="4100" spc="-1055" i="0">
                <a:solidFill>
                  <a:srgbClr val="FFFFFF"/>
                </a:solidFill>
                <a:latin typeface="Trebuchet MS"/>
                <a:cs typeface="Trebuchet MS"/>
              </a:rPr>
              <a:t>g </a:t>
            </a:r>
            <a:r>
              <a:rPr dirty="0" sz="4100" spc="-1180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80" i="0">
                <a:solidFill>
                  <a:srgbClr val="FFFFFF"/>
                </a:solidFill>
                <a:latin typeface="Trebuchet MS"/>
                <a:cs typeface="Trebuchet MS"/>
              </a:rPr>
              <a:t>th</a:t>
            </a:r>
            <a:r>
              <a:rPr dirty="0" sz="4100" spc="-1180" i="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180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80" i="0">
                <a:solidFill>
                  <a:srgbClr val="000000"/>
                </a:solidFill>
                <a:latin typeface="Trebuchet MS"/>
                <a:cs typeface="Trebuchet MS"/>
              </a:rPr>
              <a:t>e </a:t>
            </a:r>
            <a:r>
              <a:rPr dirty="0" sz="4100" spc="-1165" i="0">
                <a:solidFill>
                  <a:srgbClr val="000000"/>
                </a:solidFill>
                <a:latin typeface="Trebuchet MS"/>
                <a:cs typeface="Trebuchet MS"/>
              </a:rPr>
              <a:t>U</a:t>
            </a:r>
            <a:r>
              <a:rPr dirty="0" sz="4100" spc="-1165" i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165" i="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165" i="0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dirty="0" sz="4100" spc="-1165" i="0">
                <a:solidFill>
                  <a:srgbClr val="000000"/>
                </a:solidFill>
                <a:latin typeface="Trebuchet MS"/>
                <a:cs typeface="Trebuchet MS"/>
              </a:rPr>
              <a:t>e </a:t>
            </a:r>
            <a:r>
              <a:rPr dirty="0" sz="4100" spc="-1019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19" i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z="4100" spc="-1019" i="0">
                <a:solidFill>
                  <a:srgbClr val="FFFFFF"/>
                </a:solidFill>
                <a:latin typeface="Trebuchet MS"/>
                <a:cs typeface="Trebuchet MS"/>
              </a:rPr>
              <a:t>f 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Be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av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v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l 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Bi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me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et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tr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ic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s  </a:t>
            </a:r>
            <a:r>
              <a:rPr dirty="0" sz="4100" spc="-1000" i="0">
                <a:solidFill>
                  <a:srgbClr val="000000"/>
                </a:solidFill>
                <a:latin typeface="Trebuchet MS"/>
                <a:cs typeface="Trebuchet MS"/>
              </a:rPr>
              <a:t>f</a:t>
            </a:r>
            <a:r>
              <a:rPr dirty="0" sz="4100" spc="-1000" i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4100" spc="-1000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00" i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4100" spc="-1000" i="0">
                <a:solidFill>
                  <a:srgbClr val="000000"/>
                </a:solidFill>
                <a:latin typeface="Trebuchet MS"/>
                <a:cs typeface="Trebuchet MS"/>
              </a:rPr>
              <a:t>r 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u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th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he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nt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Pu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u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se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65" i="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065" i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4968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0" i="0">
                <a:latin typeface="Arial Narrow"/>
                <a:cs typeface="Arial Narrow"/>
              </a:rPr>
              <a:t>A</a:t>
            </a:r>
            <a:r>
              <a:rPr dirty="0" sz="3350" spc="145" i="0">
                <a:latin typeface="Arial Narrow"/>
                <a:cs typeface="Arial Narrow"/>
              </a:rPr>
              <a:t>uthentication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75825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Authentication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process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verifying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identity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user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</a:t>
            </a:r>
            <a:r>
              <a:rPr dirty="0" sz="1800" spc="-2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85950" y="1981200"/>
            <a:ext cx="7753349" cy="3116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60376" y="5216525"/>
            <a:ext cx="6604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585D60"/>
                </a:solidFill>
                <a:latin typeface="Trebuchet MS"/>
                <a:cs typeface="Trebuchet MS"/>
              </a:rPr>
              <a:t>How</a:t>
            </a:r>
            <a:r>
              <a:rPr dirty="0" sz="1800" spc="-95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585D60"/>
                </a:solidFill>
                <a:latin typeface="Trebuchet MS"/>
                <a:cs typeface="Trebuchet MS"/>
              </a:rPr>
              <a:t>do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585D60"/>
                </a:solidFill>
                <a:latin typeface="Trebuchet MS"/>
                <a:cs typeface="Trebuchet MS"/>
              </a:rPr>
              <a:t>prove</a:t>
            </a:r>
            <a:r>
              <a:rPr dirty="0" sz="1800" spc="-95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 b="1">
                <a:solidFill>
                  <a:srgbClr val="585D60"/>
                </a:solidFill>
                <a:latin typeface="Trebuchet MS"/>
                <a:cs typeface="Trebuchet MS"/>
              </a:rPr>
              <a:t>someone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585D60"/>
                </a:solidFill>
                <a:latin typeface="Trebuchet MS"/>
                <a:cs typeface="Trebuchet MS"/>
              </a:rPr>
              <a:t>that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1800" spc="-95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585D60"/>
                </a:solidFill>
                <a:latin typeface="Trebuchet MS"/>
                <a:cs typeface="Trebuchet MS"/>
              </a:rPr>
              <a:t>are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585D60"/>
                </a:solidFill>
                <a:latin typeface="Trebuchet MS"/>
                <a:cs typeface="Trebuchet MS"/>
              </a:rPr>
              <a:t>who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585D60"/>
                </a:solidFill>
                <a:latin typeface="Trebuchet MS"/>
                <a:cs typeface="Trebuchet MS"/>
              </a:rPr>
              <a:t>you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585D60"/>
                </a:solidFill>
                <a:latin typeface="Trebuchet MS"/>
                <a:cs typeface="Trebuchet MS"/>
              </a:rPr>
              <a:t>claim</a:t>
            </a:r>
            <a:r>
              <a:rPr dirty="0" sz="1800" spc="-95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585D60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585D60"/>
                </a:solidFill>
                <a:latin typeface="Trebuchet MS"/>
                <a:cs typeface="Trebuchet MS"/>
              </a:rPr>
              <a:t>be?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4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4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2594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60" i="0">
                <a:latin typeface="Arial Narrow"/>
                <a:cs typeface="Arial Narrow"/>
              </a:rPr>
              <a:t>Information </a:t>
            </a:r>
            <a:r>
              <a:rPr dirty="0" sz="3350" spc="114" i="0">
                <a:latin typeface="Arial Narrow"/>
                <a:cs typeface="Arial Narrow"/>
              </a:rPr>
              <a:t>Traditionally </a:t>
            </a:r>
            <a:r>
              <a:rPr dirty="0" sz="3350" spc="65" i="0">
                <a:latin typeface="Arial Narrow"/>
                <a:cs typeface="Arial Narrow"/>
              </a:rPr>
              <a:t>Used </a:t>
            </a:r>
            <a:r>
              <a:rPr dirty="0" sz="3350" spc="190" i="0">
                <a:latin typeface="Arial Narrow"/>
                <a:cs typeface="Arial Narrow"/>
              </a:rPr>
              <a:t>for</a:t>
            </a:r>
            <a:r>
              <a:rPr dirty="0" sz="3350" spc="-380" i="0">
                <a:latin typeface="Arial Narrow"/>
                <a:cs typeface="Arial Narrow"/>
              </a:rPr>
              <a:t> </a:t>
            </a:r>
            <a:r>
              <a:rPr dirty="0" sz="3350" spc="145" i="0">
                <a:latin typeface="Arial Narrow"/>
                <a:cs typeface="Arial Narrow"/>
              </a:rPr>
              <a:t>Authentication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94207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248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585D60"/>
                </a:solidFill>
                <a:latin typeface="Trebuchet MS"/>
                <a:cs typeface="Trebuchet MS"/>
              </a:rPr>
              <a:t>User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585D60"/>
                </a:solidFill>
                <a:latin typeface="Trebuchet MS"/>
                <a:cs typeface="Trebuchet MS"/>
              </a:rPr>
              <a:t>authentication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585D60"/>
                </a:solidFill>
                <a:latin typeface="Trebuchet MS"/>
                <a:cs typeface="Trebuchet MS"/>
              </a:rPr>
              <a:t>is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585D60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10" b="1">
                <a:solidFill>
                  <a:srgbClr val="585D60"/>
                </a:solidFill>
                <a:latin typeface="Trebuchet MS"/>
                <a:cs typeface="Trebuchet MS"/>
              </a:rPr>
              <a:t>most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5" b="1">
                <a:solidFill>
                  <a:srgbClr val="585D60"/>
                </a:solidFill>
                <a:latin typeface="Trebuchet MS"/>
                <a:cs typeface="Trebuchet MS"/>
              </a:rPr>
              <a:t>common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585D60"/>
                </a:solidFill>
                <a:latin typeface="Trebuchet MS"/>
                <a:cs typeface="Trebuchet MS"/>
              </a:rPr>
              <a:t>and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585D60"/>
                </a:solidFill>
                <a:latin typeface="Trebuchet MS"/>
                <a:cs typeface="Trebuchet MS"/>
              </a:rPr>
              <a:t>best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585D60"/>
                </a:solidFill>
                <a:latin typeface="Trebuchet MS"/>
                <a:cs typeface="Trebuchet MS"/>
              </a:rPr>
              <a:t>studied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585D60"/>
                </a:solidFill>
                <a:latin typeface="Trebuchet MS"/>
                <a:cs typeface="Trebuchet MS"/>
              </a:rPr>
              <a:t>human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585D60"/>
                </a:solidFill>
                <a:latin typeface="Trebuchet MS"/>
                <a:cs typeface="Trebuchet MS"/>
              </a:rPr>
              <a:t>security</a:t>
            </a:r>
            <a:r>
              <a:rPr dirty="0" sz="1800" spc="-90" b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585D60"/>
                </a:solidFill>
                <a:latin typeface="Trebuchet MS"/>
                <a:cs typeface="Trebuchet MS"/>
              </a:rPr>
              <a:t>task.</a:t>
            </a:r>
            <a:endParaRPr sz="1800">
              <a:latin typeface="Trebuchet MS"/>
              <a:cs typeface="Trebuchet MS"/>
            </a:endParaRPr>
          </a:p>
          <a:p>
            <a:pPr algn="just" marL="12700" marR="3041015">
              <a:lnSpc>
                <a:spcPct val="158000"/>
              </a:lnSpc>
              <a:spcBef>
                <a:spcPts val="35"/>
              </a:spcBef>
            </a:pP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Something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you know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Passwords,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PINs,</a:t>
            </a:r>
            <a:r>
              <a:rPr dirty="0" sz="1800" spc="-254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security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questions 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Something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you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have: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Smart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cards,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tokens,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mobile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phones 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Something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you 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are: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Biometrics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(fingerprint,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face,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iris,</a:t>
            </a:r>
            <a:r>
              <a:rPr dirty="0" sz="1800" spc="-1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4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530225"/>
            <a:ext cx="675005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25">
                <a:solidFill>
                  <a:srgbClr val="C2132D"/>
                </a:solidFill>
                <a:latin typeface="Arial Narrow"/>
                <a:cs typeface="Arial Narrow"/>
              </a:rPr>
              <a:t>Lifecycle </a:t>
            </a:r>
            <a:r>
              <a:rPr dirty="0" sz="3350" spc="190">
                <a:solidFill>
                  <a:srgbClr val="C2132D"/>
                </a:solidFill>
                <a:latin typeface="Arial Narrow"/>
                <a:cs typeface="Arial Narrow"/>
              </a:rPr>
              <a:t>for </a:t>
            </a:r>
            <a:r>
              <a:rPr dirty="0" sz="3350" spc="145">
                <a:solidFill>
                  <a:srgbClr val="C2132D"/>
                </a:solidFill>
                <a:latin typeface="Arial Narrow"/>
                <a:cs typeface="Arial Narrow"/>
              </a:rPr>
              <a:t>Authentication</a:t>
            </a:r>
            <a:r>
              <a:rPr dirty="0" sz="3350" spc="-305">
                <a:solidFill>
                  <a:srgbClr val="C2132D"/>
                </a:solidFill>
                <a:latin typeface="Arial Narrow"/>
                <a:cs typeface="Arial Narrow"/>
              </a:rPr>
              <a:t> </a:t>
            </a:r>
            <a:r>
              <a:rPr dirty="0" sz="3350" spc="160">
                <a:solidFill>
                  <a:srgbClr val="C2132D"/>
                </a:solidFill>
                <a:latin typeface="Arial Narrow"/>
                <a:cs typeface="Arial Narrow"/>
              </a:rPr>
              <a:t>Information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072755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Issuance: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User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enrolls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system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provides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</a:t>
            </a:r>
            <a:r>
              <a:rPr dirty="0" sz="1800" spc="-2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Usage: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User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logs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provides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Maintenance/Revocation: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User's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 information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revised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</a:t>
            </a:r>
            <a:r>
              <a:rPr dirty="0" sz="1800" spc="-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retired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4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3016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 i="0">
                <a:latin typeface="Arial Narrow"/>
                <a:cs typeface="Arial Narrow"/>
              </a:rPr>
              <a:t>Lifecycle: </a:t>
            </a:r>
            <a:r>
              <a:rPr dirty="0" sz="3350" spc="125" i="0">
                <a:latin typeface="Arial Narrow"/>
                <a:cs typeface="Arial Narrow"/>
              </a:rPr>
              <a:t>Something </a:t>
            </a:r>
            <a:r>
              <a:rPr dirty="0" sz="3350" spc="30" i="0">
                <a:latin typeface="Arial Narrow"/>
                <a:cs typeface="Arial Narrow"/>
              </a:rPr>
              <a:t>You</a:t>
            </a:r>
            <a:r>
              <a:rPr dirty="0" sz="3350" spc="-250" i="0">
                <a:latin typeface="Arial Narrow"/>
                <a:cs typeface="Arial Narrow"/>
              </a:rPr>
              <a:t> </a:t>
            </a:r>
            <a:r>
              <a:rPr dirty="0" sz="3350" spc="110" i="0">
                <a:latin typeface="Arial Narrow"/>
                <a:cs typeface="Arial Narrow"/>
              </a:rPr>
              <a:t>Know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9385"/>
            <a:ext cx="7773670" cy="47015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Issuance: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rebuchet MS"/>
              <a:cs typeface="Trebuchet MS"/>
            </a:endParaRPr>
          </a:p>
          <a:p>
            <a:pPr marL="393700" indent="-120650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User </a:t>
            </a:r>
            <a:r>
              <a:rPr dirty="0" sz="1600" spc="25">
                <a:solidFill>
                  <a:srgbClr val="585D60"/>
                </a:solidFill>
                <a:latin typeface="Calibri"/>
                <a:cs typeface="Calibri"/>
              </a:rPr>
              <a:t>"has" to </a:t>
            </a:r>
            <a:r>
              <a:rPr dirty="0" sz="1600" spc="80">
                <a:solidFill>
                  <a:srgbClr val="585D60"/>
                </a:solidFill>
                <a:latin typeface="Calibri"/>
                <a:cs typeface="Calibri"/>
              </a:rPr>
              <a:t>memorize </a:t>
            </a:r>
            <a:r>
              <a:rPr dirty="0" sz="1600" spc="110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600" spc="60">
                <a:solidFill>
                  <a:srgbClr val="585D60"/>
                </a:solidFill>
                <a:latin typeface="Calibri"/>
                <a:cs typeface="Calibri"/>
              </a:rPr>
              <a:t>new </a:t>
            </a:r>
            <a:r>
              <a:rPr dirty="0" sz="1600" spc="100">
                <a:solidFill>
                  <a:srgbClr val="585D60"/>
                </a:solidFill>
                <a:latin typeface="Calibri"/>
                <a:cs typeface="Calibri"/>
              </a:rPr>
              <a:t>password </a:t>
            </a:r>
            <a:r>
              <a:rPr dirty="0" sz="1600" spc="35">
                <a:solidFill>
                  <a:srgbClr val="585D60"/>
                </a:solidFill>
                <a:latin typeface="Calibri"/>
                <a:cs typeface="Calibri"/>
              </a:rPr>
              <a:t>or </a:t>
            </a:r>
            <a:r>
              <a:rPr dirty="0" sz="1600" spc="50">
                <a:solidFill>
                  <a:srgbClr val="585D60"/>
                </a:solidFill>
                <a:latin typeface="Calibri"/>
                <a:cs typeface="Calibri"/>
              </a:rPr>
              <a:t>(unfortunately)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reuse </a:t>
            </a:r>
            <a:r>
              <a:rPr dirty="0" sz="1600" spc="80">
                <a:solidFill>
                  <a:srgbClr val="585D60"/>
                </a:solidFill>
                <a:latin typeface="Calibri"/>
                <a:cs typeface="Calibri"/>
              </a:rPr>
              <a:t>an existing</a:t>
            </a:r>
            <a:r>
              <a:rPr dirty="0" sz="1600" spc="-204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Calibri"/>
                <a:cs typeface="Calibri"/>
              </a:rPr>
              <a:t>one.</a:t>
            </a:r>
            <a:endParaRPr sz="1600">
              <a:latin typeface="Calibri"/>
              <a:cs typeface="Calibri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85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600" spc="60">
                <a:solidFill>
                  <a:srgbClr val="585D60"/>
                </a:solidFill>
                <a:latin typeface="Calibri"/>
                <a:cs typeface="Calibri"/>
              </a:rPr>
              <a:t>follow </a:t>
            </a:r>
            <a:r>
              <a:rPr dirty="0" sz="1600" spc="100">
                <a:solidFill>
                  <a:srgbClr val="585D60"/>
                </a:solidFill>
                <a:latin typeface="Calibri"/>
                <a:cs typeface="Calibri"/>
              </a:rPr>
              <a:t>password </a:t>
            </a:r>
            <a:r>
              <a:rPr dirty="0" sz="1600" spc="75">
                <a:solidFill>
                  <a:srgbClr val="585D60"/>
                </a:solidFill>
                <a:latin typeface="Calibri"/>
                <a:cs typeface="Calibri"/>
              </a:rPr>
              <a:t>guidelines </a:t>
            </a:r>
            <a:r>
              <a:rPr dirty="0" sz="1600" spc="40">
                <a:solidFill>
                  <a:srgbClr val="585D60"/>
                </a:solidFill>
                <a:latin typeface="Calibri"/>
                <a:cs typeface="Calibri"/>
              </a:rPr>
              <a:t>(length, </a:t>
            </a:r>
            <a:r>
              <a:rPr dirty="0" sz="1600" spc="50">
                <a:solidFill>
                  <a:srgbClr val="585D60"/>
                </a:solidFill>
                <a:latin typeface="Calibri"/>
                <a:cs typeface="Calibri"/>
              </a:rPr>
              <a:t>complexity,</a:t>
            </a:r>
            <a:r>
              <a:rPr dirty="0" sz="1600" spc="-1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85">
                <a:solidFill>
                  <a:srgbClr val="585D60"/>
                </a:solidFill>
                <a:latin typeface="Calibri"/>
                <a:cs typeface="Calibri"/>
              </a:rPr>
              <a:t>uniqueness)</a:t>
            </a:r>
            <a:endParaRPr sz="1600">
              <a:latin typeface="Calibri"/>
              <a:cs typeface="Calibri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105">
                <a:solidFill>
                  <a:srgbClr val="585D60"/>
                </a:solidFill>
                <a:latin typeface="Calibri"/>
                <a:cs typeface="Calibri"/>
              </a:rPr>
              <a:t>Needs </a:t>
            </a:r>
            <a:r>
              <a:rPr dirty="0" sz="1600" spc="25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600" spc="65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600" spc="55">
                <a:solidFill>
                  <a:srgbClr val="585D60"/>
                </a:solidFill>
                <a:latin typeface="Calibri"/>
                <a:cs typeface="Calibri"/>
              </a:rPr>
              <a:t>sufficiently </a:t>
            </a:r>
            <a:r>
              <a:rPr dirty="0" sz="1600" spc="85">
                <a:solidFill>
                  <a:srgbClr val="585D60"/>
                </a:solidFill>
                <a:latin typeface="Calibri"/>
                <a:cs typeface="Calibri"/>
              </a:rPr>
              <a:t>secure </a:t>
            </a:r>
            <a:r>
              <a:rPr dirty="0" sz="1600" spc="80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6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memorable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2132D"/>
              </a:buClr>
              <a:buFont typeface="Trebuchet MS"/>
              <a:buChar char="•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Usage: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rebuchet MS"/>
              <a:cs typeface="Trebuchet MS"/>
            </a:endParaRPr>
          </a:p>
          <a:p>
            <a:pPr marL="393700" indent="-120650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120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6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600" spc="60">
                <a:solidFill>
                  <a:srgbClr val="585D60"/>
                </a:solidFill>
                <a:latin typeface="Calibri"/>
                <a:cs typeface="Calibri"/>
              </a:rPr>
              <a:t>remember </a:t>
            </a:r>
            <a:r>
              <a:rPr dirty="0" sz="1600" spc="90">
                <a:solidFill>
                  <a:srgbClr val="585D60"/>
                </a:solidFill>
                <a:latin typeface="Calibri"/>
                <a:cs typeface="Calibri"/>
              </a:rPr>
              <a:t>my</a:t>
            </a:r>
            <a:r>
              <a:rPr dirty="0" sz="1600" spc="-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90">
                <a:solidFill>
                  <a:srgbClr val="585D60"/>
                </a:solidFill>
                <a:latin typeface="Calibri"/>
                <a:cs typeface="Calibri"/>
              </a:rPr>
              <a:t>password?</a:t>
            </a:r>
            <a:endParaRPr sz="1600">
              <a:latin typeface="Calibri"/>
              <a:cs typeface="Calibri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55">
                <a:solidFill>
                  <a:srgbClr val="585D60"/>
                </a:solidFill>
                <a:latin typeface="Calibri"/>
                <a:cs typeface="Calibri"/>
              </a:rPr>
              <a:t>If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so, </a:t>
            </a:r>
            <a:r>
              <a:rPr dirty="0" sz="1600" spc="75">
                <a:solidFill>
                  <a:srgbClr val="585D60"/>
                </a:solidFill>
                <a:latin typeface="Calibri"/>
                <a:cs typeface="Calibri"/>
              </a:rPr>
              <a:t>which </a:t>
            </a:r>
            <a:r>
              <a:rPr dirty="0" sz="1600" spc="65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1600" spc="114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600" spc="45">
                <a:solidFill>
                  <a:srgbClr val="585D60"/>
                </a:solidFill>
                <a:latin typeface="Calibri"/>
                <a:cs typeface="Calibri"/>
              </a:rPr>
              <a:t>(out </a:t>
            </a:r>
            <a:r>
              <a:rPr dirty="0" sz="16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600" spc="35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600" spc="85">
                <a:solidFill>
                  <a:srgbClr val="585D60"/>
                </a:solidFill>
                <a:latin typeface="Calibri"/>
                <a:cs typeface="Calibri"/>
              </a:rPr>
              <a:t>many </a:t>
            </a:r>
            <a:r>
              <a:rPr dirty="0" sz="16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600" spc="65">
                <a:solidFill>
                  <a:srgbClr val="585D60"/>
                </a:solidFill>
                <a:latin typeface="Calibri"/>
                <a:cs typeface="Calibri"/>
              </a:rPr>
              <a:t>have </a:t>
            </a:r>
            <a:r>
              <a:rPr dirty="0" sz="1600" spc="35">
                <a:solidFill>
                  <a:srgbClr val="585D60"/>
                </a:solidFill>
                <a:latin typeface="Calibri"/>
                <a:cs typeface="Calibri"/>
              </a:rPr>
              <a:t>or the </a:t>
            </a:r>
            <a:r>
              <a:rPr dirty="0" sz="1600" spc="80">
                <a:solidFill>
                  <a:srgbClr val="585D60"/>
                </a:solidFill>
                <a:latin typeface="Calibri"/>
                <a:cs typeface="Calibri"/>
              </a:rPr>
              <a:t>updates </a:t>
            </a:r>
            <a:r>
              <a:rPr dirty="0" sz="16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600" spc="65">
                <a:solidFill>
                  <a:srgbClr val="585D60"/>
                </a:solidFill>
                <a:latin typeface="Calibri"/>
                <a:cs typeface="Calibri"/>
              </a:rPr>
              <a:t>have</a:t>
            </a:r>
            <a:r>
              <a:rPr dirty="0" sz="16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80">
                <a:solidFill>
                  <a:srgbClr val="585D60"/>
                </a:solidFill>
                <a:latin typeface="Calibri"/>
                <a:cs typeface="Calibri"/>
              </a:rPr>
              <a:t>made)?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2132D"/>
              </a:buClr>
              <a:buFont typeface="Trebuchet MS"/>
              <a:buChar char="•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Maintenance: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rebuchet MS"/>
              <a:cs typeface="Trebuchet MS"/>
            </a:endParaRPr>
          </a:p>
          <a:p>
            <a:pPr marL="393700" indent="-120650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80">
                <a:solidFill>
                  <a:srgbClr val="585D60"/>
                </a:solidFill>
                <a:latin typeface="Calibri"/>
                <a:cs typeface="Calibri"/>
              </a:rPr>
              <a:t>Subject </a:t>
            </a:r>
            <a:r>
              <a:rPr dirty="0" sz="1600" spc="25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600" spc="-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loss/expiration</a:t>
            </a:r>
            <a:endParaRPr sz="1600">
              <a:latin typeface="Calibri"/>
              <a:cs typeface="Calibri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95">
                <a:solidFill>
                  <a:srgbClr val="585D60"/>
                </a:solidFill>
                <a:latin typeface="Calibri"/>
                <a:cs typeface="Calibri"/>
              </a:rPr>
              <a:t>Re-issuance </a:t>
            </a:r>
            <a:r>
              <a:rPr dirty="0" sz="1600" spc="90">
                <a:solidFill>
                  <a:srgbClr val="585D60"/>
                </a:solidFill>
                <a:latin typeface="Calibri"/>
                <a:cs typeface="Calibri"/>
              </a:rPr>
              <a:t>may </a:t>
            </a:r>
            <a:r>
              <a:rPr dirty="0" sz="1600" spc="30">
                <a:solidFill>
                  <a:srgbClr val="585D60"/>
                </a:solidFill>
                <a:latin typeface="Calibri"/>
                <a:cs typeface="Calibri"/>
              </a:rPr>
              <a:t>require </a:t>
            </a:r>
            <a:r>
              <a:rPr dirty="0" sz="1600" spc="90">
                <a:solidFill>
                  <a:srgbClr val="585D60"/>
                </a:solidFill>
                <a:latin typeface="Calibri"/>
                <a:cs typeface="Calibri"/>
              </a:rPr>
              <a:t>secondary</a:t>
            </a:r>
            <a:r>
              <a:rPr dirty="0" sz="1600" spc="-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105">
                <a:solidFill>
                  <a:srgbClr val="585D60"/>
                </a:solidFill>
                <a:latin typeface="Calibri"/>
                <a:cs typeface="Calibri"/>
              </a:rPr>
              <a:t>mechanism</a:t>
            </a:r>
            <a:endParaRPr sz="1600">
              <a:latin typeface="Calibri"/>
              <a:cs typeface="Calibri"/>
            </a:endParaRPr>
          </a:p>
          <a:p>
            <a:pPr marL="393700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600" spc="95">
                <a:solidFill>
                  <a:srgbClr val="585D60"/>
                </a:solidFill>
                <a:latin typeface="Calibri"/>
                <a:cs typeface="Calibri"/>
              </a:rPr>
              <a:t>Rules </a:t>
            </a:r>
            <a:r>
              <a:rPr dirty="0" sz="1600" spc="65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freshness/variation </a:t>
            </a:r>
            <a:r>
              <a:rPr dirty="0" sz="16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re-issued</a:t>
            </a:r>
            <a:r>
              <a:rPr dirty="0" sz="1600" spc="-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70">
                <a:solidFill>
                  <a:srgbClr val="585D60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8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2209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 i="0">
                <a:latin typeface="Arial Narrow"/>
                <a:cs typeface="Arial Narrow"/>
              </a:rPr>
              <a:t>Lifecycle: </a:t>
            </a:r>
            <a:r>
              <a:rPr dirty="0" sz="3350" spc="125" i="0">
                <a:latin typeface="Arial Narrow"/>
                <a:cs typeface="Arial Narrow"/>
              </a:rPr>
              <a:t>Something </a:t>
            </a:r>
            <a:r>
              <a:rPr dirty="0" sz="3350" spc="30" i="0">
                <a:latin typeface="Arial Narrow"/>
                <a:cs typeface="Arial Narrow"/>
              </a:rPr>
              <a:t>You</a:t>
            </a:r>
            <a:r>
              <a:rPr dirty="0" sz="3350" spc="-250" i="0">
                <a:latin typeface="Arial Narrow"/>
                <a:cs typeface="Arial Narrow"/>
              </a:rPr>
              <a:t> </a:t>
            </a:r>
            <a:r>
              <a:rPr dirty="0" sz="3350" spc="65" i="0">
                <a:latin typeface="Arial Narrow"/>
                <a:cs typeface="Arial Narrow"/>
              </a:rPr>
              <a:t>Have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317230" cy="4785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Issuance: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User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"has"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carry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new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token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smart</a:t>
            </a:r>
            <a:r>
              <a:rPr dirty="0" sz="1800" spc="-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card.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kept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secure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shared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</a:t>
            </a:r>
            <a:r>
              <a:rPr dirty="0" sz="1800" spc="-1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others.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Needs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sufficiently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secure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portable.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2132D"/>
              </a:buClr>
              <a:buFont typeface="Trebuchet MS"/>
              <a:buChar char="•"/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Usage: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Requirements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human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memory: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Where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did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leave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my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card?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Which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card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-1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it?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Requirements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physical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presence: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Do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have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</a:t>
            </a:r>
            <a:r>
              <a:rPr dirty="0" sz="1800" spc="-1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me?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C2132D"/>
              </a:buClr>
              <a:buFont typeface="Trebuchet MS"/>
              <a:buChar char="•"/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Maintenance: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Subject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-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loss/theft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Requires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periodic</a:t>
            </a:r>
            <a:r>
              <a:rPr dirty="0" sz="1800" spc="-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replacements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460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 i="0">
                <a:latin typeface="Arial Narrow"/>
                <a:cs typeface="Arial Narrow"/>
              </a:rPr>
              <a:t>Lifecycle: </a:t>
            </a:r>
            <a:r>
              <a:rPr dirty="0" sz="3350" spc="125" i="0">
                <a:latin typeface="Arial Narrow"/>
                <a:cs typeface="Arial Narrow"/>
              </a:rPr>
              <a:t>Something </a:t>
            </a:r>
            <a:r>
              <a:rPr dirty="0" sz="3350" spc="30" i="0">
                <a:latin typeface="Arial Narrow"/>
                <a:cs typeface="Arial Narrow"/>
              </a:rPr>
              <a:t>You</a:t>
            </a:r>
            <a:r>
              <a:rPr dirty="0" sz="3350" spc="-254" i="0">
                <a:latin typeface="Arial Narrow"/>
                <a:cs typeface="Arial Narrow"/>
              </a:rPr>
              <a:t> </a:t>
            </a:r>
            <a:r>
              <a:rPr dirty="0" sz="3350" spc="80" i="0">
                <a:latin typeface="Arial Narrow"/>
                <a:cs typeface="Arial Narrow"/>
              </a:rPr>
              <a:t>Are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408160" cy="4671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Issuance: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“Reverse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issuance”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required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submit</a:t>
            </a:r>
            <a:r>
              <a:rPr dirty="0" sz="1800" spc="-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Accessibility: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humans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have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readable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fingerprints,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irises,</a:t>
            </a:r>
            <a:r>
              <a:rPr dirty="0" sz="1800" spc="-1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2132D"/>
              </a:buClr>
              <a:buFont typeface="Trebuchet MS"/>
              <a:buChar char="•"/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Usage:</a:t>
            </a:r>
            <a:endParaRPr sz="1800">
              <a:latin typeface="Trebuchet MS"/>
              <a:cs typeface="Trebuchet MS"/>
            </a:endParaRPr>
          </a:p>
          <a:p>
            <a:pPr marL="393065" marR="5080" indent="-133985">
              <a:lnSpc>
                <a:spcPct val="114599"/>
              </a:lnSpc>
              <a:spcBef>
                <a:spcPts val="187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Minimal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requirements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placed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upon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human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memory,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e.g.,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“Which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finger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did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use?”,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though 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may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specified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at</a:t>
            </a:r>
            <a:r>
              <a:rPr dirty="0" sz="1800" spc="-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Human-machine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interface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issues,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e.g.,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what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cut</a:t>
            </a:r>
            <a:r>
              <a:rPr dirty="0" sz="1800" spc="-2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finger?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2132D"/>
              </a:buClr>
              <a:buFont typeface="Trebuchet MS"/>
              <a:buChar char="•"/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Maintenance: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May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possibly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change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aging, </a:t>
            </a:r>
            <a:r>
              <a:rPr dirty="0" sz="1800" spc="-10">
                <a:solidFill>
                  <a:srgbClr val="585D60"/>
                </a:solidFill>
                <a:latin typeface="Calibri"/>
                <a:cs typeface="Calibri"/>
              </a:rPr>
              <a:t>injury,</a:t>
            </a:r>
            <a:r>
              <a:rPr dirty="0" sz="1800" spc="-1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general,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there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limited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options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renewal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due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finite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set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biometrics.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888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 i="0">
                <a:latin typeface="Arial Narrow"/>
                <a:cs typeface="Arial Narrow"/>
              </a:rPr>
              <a:t>Lifecycle: </a:t>
            </a:r>
            <a:r>
              <a:rPr dirty="0" sz="3350" spc="50" i="0">
                <a:latin typeface="Arial Narrow"/>
                <a:cs typeface="Arial Narrow"/>
              </a:rPr>
              <a:t>General</a:t>
            </a:r>
            <a:r>
              <a:rPr dirty="0" sz="3350" spc="-120" i="0">
                <a:latin typeface="Arial Narrow"/>
                <a:cs typeface="Arial Narrow"/>
              </a:rPr>
              <a:t> </a:t>
            </a:r>
            <a:r>
              <a:rPr dirty="0" sz="3350" spc="95" i="0">
                <a:latin typeface="Arial Narrow"/>
                <a:cs typeface="Arial Narrow"/>
              </a:rPr>
              <a:t>Guidelines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5697855" cy="421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Issuance: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Limit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amount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physical</a:t>
            </a:r>
            <a:r>
              <a:rPr dirty="0" sz="1800" spc="-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interaction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Limit human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processing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</a:t>
            </a:r>
            <a:r>
              <a:rPr dirty="0" sz="18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Limit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seemingly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artificial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constraints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Usage: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Limit human memory</a:t>
            </a:r>
            <a:r>
              <a:rPr dirty="0" sz="1800" spc="-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Limit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requirements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perfect</a:t>
            </a:r>
            <a:r>
              <a:rPr dirty="0" sz="1800" spc="-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accuracy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Maintenance: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See Issuance</a:t>
            </a:r>
            <a:r>
              <a:rPr dirty="0" sz="1800" spc="-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guidelines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Limit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excessive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update</a:t>
            </a:r>
            <a:r>
              <a:rPr dirty="0" sz="1800" spc="-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2931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30" i="0">
                <a:latin typeface="Arial Narrow"/>
                <a:cs typeface="Arial Narrow"/>
              </a:rPr>
              <a:t>Password</a:t>
            </a:r>
            <a:r>
              <a:rPr dirty="0" sz="3350" spc="-55" i="0">
                <a:latin typeface="Arial Narrow"/>
                <a:cs typeface="Arial Narrow"/>
              </a:rPr>
              <a:t> </a:t>
            </a:r>
            <a:r>
              <a:rPr dirty="0" sz="3350" spc="125" i="0">
                <a:latin typeface="Arial Narrow"/>
                <a:cs typeface="Arial Narrow"/>
              </a:rPr>
              <a:t>Lifecycle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95624" y="1428750"/>
            <a:ext cx="5333999" cy="44481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6988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75" i="0">
                <a:latin typeface="Arial Narrow"/>
                <a:cs typeface="Arial Narrow"/>
              </a:rPr>
              <a:t>The </a:t>
            </a:r>
            <a:r>
              <a:rPr dirty="0" sz="3350" spc="114" i="0">
                <a:latin typeface="Arial Narrow"/>
                <a:cs typeface="Arial Narrow"/>
              </a:rPr>
              <a:t>"Traditional" </a:t>
            </a:r>
            <a:r>
              <a:rPr dirty="0" sz="3350" spc="125" i="0">
                <a:latin typeface="Arial Narrow"/>
                <a:cs typeface="Arial Narrow"/>
              </a:rPr>
              <a:t>Approach </a:t>
            </a:r>
            <a:r>
              <a:rPr dirty="0" sz="3350" spc="180" i="0">
                <a:latin typeface="Arial Narrow"/>
                <a:cs typeface="Arial Narrow"/>
              </a:rPr>
              <a:t>to </a:t>
            </a:r>
            <a:r>
              <a:rPr dirty="0" sz="3350" spc="90" i="0">
                <a:latin typeface="Arial Narrow"/>
                <a:cs typeface="Arial Narrow"/>
              </a:rPr>
              <a:t>Replacing</a:t>
            </a:r>
            <a:r>
              <a:rPr dirty="0" sz="3350" spc="-415" i="0">
                <a:latin typeface="Arial Narrow"/>
                <a:cs typeface="Arial Narrow"/>
              </a:rPr>
              <a:t> </a:t>
            </a:r>
            <a:r>
              <a:rPr dirty="0" sz="3350" spc="130" i="0">
                <a:latin typeface="Arial Narrow"/>
                <a:cs typeface="Arial Narrow"/>
              </a:rPr>
              <a:t>Passwords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21614" y="1428750"/>
            <a:ext cx="6293785" cy="4636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686981" y="600075"/>
            <a:ext cx="428625" cy="427990"/>
          </a:xfrm>
          <a:custGeom>
            <a:avLst/>
            <a:gdLst/>
            <a:ahLst/>
            <a:cxnLst/>
            <a:rect l="l" t="t" r="r" b="b"/>
            <a:pathLst>
              <a:path w="428625" h="427990">
                <a:moveTo>
                  <a:pt x="228276" y="427989"/>
                </a:moveTo>
                <a:lnTo>
                  <a:pt x="200234" y="427989"/>
                </a:lnTo>
                <a:lnTo>
                  <a:pt x="186263" y="426719"/>
                </a:lnTo>
                <a:lnTo>
                  <a:pt x="165560" y="422909"/>
                </a:lnTo>
                <a:lnTo>
                  <a:pt x="158760" y="420369"/>
                </a:lnTo>
                <a:lnTo>
                  <a:pt x="145326" y="416559"/>
                </a:lnTo>
                <a:lnTo>
                  <a:pt x="119419" y="406399"/>
                </a:lnTo>
                <a:lnTo>
                  <a:pt x="107038" y="398779"/>
                </a:lnTo>
                <a:lnTo>
                  <a:pt x="101025" y="396239"/>
                </a:lnTo>
                <a:lnTo>
                  <a:pt x="89353" y="387349"/>
                </a:lnTo>
                <a:lnTo>
                  <a:pt x="83722" y="383539"/>
                </a:lnTo>
                <a:lnTo>
                  <a:pt x="72870" y="374649"/>
                </a:lnTo>
                <a:lnTo>
                  <a:pt x="67676" y="369569"/>
                </a:lnTo>
                <a:lnTo>
                  <a:pt x="57750" y="360679"/>
                </a:lnTo>
                <a:lnTo>
                  <a:pt x="53042" y="355599"/>
                </a:lnTo>
                <a:lnTo>
                  <a:pt x="44136" y="344169"/>
                </a:lnTo>
                <a:lnTo>
                  <a:pt x="39960" y="339089"/>
                </a:lnTo>
                <a:lnTo>
                  <a:pt x="32161" y="326389"/>
                </a:lnTo>
                <a:lnTo>
                  <a:pt x="13570" y="289559"/>
                </a:lnTo>
                <a:lnTo>
                  <a:pt x="2691" y="248919"/>
                </a:lnTo>
                <a:lnTo>
                  <a:pt x="0" y="205739"/>
                </a:lnTo>
                <a:lnTo>
                  <a:pt x="286" y="199389"/>
                </a:lnTo>
                <a:lnTo>
                  <a:pt x="7133" y="158749"/>
                </a:lnTo>
                <a:lnTo>
                  <a:pt x="21939" y="119379"/>
                </a:lnTo>
                <a:lnTo>
                  <a:pt x="39960" y="88899"/>
                </a:lnTo>
                <a:lnTo>
                  <a:pt x="44136" y="82549"/>
                </a:lnTo>
                <a:lnTo>
                  <a:pt x="72870" y="52069"/>
                </a:lnTo>
                <a:lnTo>
                  <a:pt x="107038" y="27939"/>
                </a:lnTo>
                <a:lnTo>
                  <a:pt x="119419" y="21589"/>
                </a:lnTo>
                <a:lnTo>
                  <a:pt x="125756" y="17779"/>
                </a:lnTo>
                <a:lnTo>
                  <a:pt x="145326" y="10159"/>
                </a:lnTo>
                <a:lnTo>
                  <a:pt x="158760" y="6349"/>
                </a:lnTo>
                <a:lnTo>
                  <a:pt x="186263" y="1269"/>
                </a:lnTo>
                <a:lnTo>
                  <a:pt x="200234" y="0"/>
                </a:lnTo>
                <a:lnTo>
                  <a:pt x="228276" y="0"/>
                </a:lnTo>
                <a:lnTo>
                  <a:pt x="269750" y="6349"/>
                </a:lnTo>
                <a:lnTo>
                  <a:pt x="309091" y="21589"/>
                </a:lnTo>
                <a:lnTo>
                  <a:pt x="321471" y="27939"/>
                </a:lnTo>
                <a:lnTo>
                  <a:pt x="327484" y="31749"/>
                </a:lnTo>
                <a:lnTo>
                  <a:pt x="339156" y="39369"/>
                </a:lnTo>
                <a:lnTo>
                  <a:pt x="205700" y="39369"/>
                </a:lnTo>
                <a:lnTo>
                  <a:pt x="171934" y="44449"/>
                </a:lnTo>
                <a:lnTo>
                  <a:pt x="155602" y="49529"/>
                </a:lnTo>
                <a:lnTo>
                  <a:pt x="147618" y="53339"/>
                </a:lnTo>
                <a:lnTo>
                  <a:pt x="139795" y="55879"/>
                </a:lnTo>
                <a:lnTo>
                  <a:pt x="132170" y="59689"/>
                </a:lnTo>
                <a:lnTo>
                  <a:pt x="124743" y="64769"/>
                </a:lnTo>
                <a:lnTo>
                  <a:pt x="117514" y="68579"/>
                </a:lnTo>
                <a:lnTo>
                  <a:pt x="110517" y="73659"/>
                </a:lnTo>
                <a:lnTo>
                  <a:pt x="103787" y="78739"/>
                </a:lnTo>
                <a:lnTo>
                  <a:pt x="97324" y="85089"/>
                </a:lnTo>
                <a:lnTo>
                  <a:pt x="91127" y="90169"/>
                </a:lnTo>
                <a:lnTo>
                  <a:pt x="85226" y="96519"/>
                </a:lnTo>
                <a:lnTo>
                  <a:pt x="79650" y="102869"/>
                </a:lnTo>
                <a:lnTo>
                  <a:pt x="74398" y="110489"/>
                </a:lnTo>
                <a:lnTo>
                  <a:pt x="69472" y="116839"/>
                </a:lnTo>
                <a:lnTo>
                  <a:pt x="50300" y="154939"/>
                </a:lnTo>
                <a:lnTo>
                  <a:pt x="40962" y="196849"/>
                </a:lnTo>
                <a:lnTo>
                  <a:pt x="40126" y="213359"/>
                </a:lnTo>
                <a:lnTo>
                  <a:pt x="40335" y="222249"/>
                </a:lnTo>
                <a:lnTo>
                  <a:pt x="47622" y="264159"/>
                </a:lnTo>
                <a:lnTo>
                  <a:pt x="50300" y="271779"/>
                </a:lnTo>
                <a:lnTo>
                  <a:pt x="53381" y="280669"/>
                </a:lnTo>
                <a:lnTo>
                  <a:pt x="56847" y="288289"/>
                </a:lnTo>
                <a:lnTo>
                  <a:pt x="60685" y="295909"/>
                </a:lnTo>
                <a:lnTo>
                  <a:pt x="64893" y="303529"/>
                </a:lnTo>
                <a:lnTo>
                  <a:pt x="69472" y="309879"/>
                </a:lnTo>
                <a:lnTo>
                  <a:pt x="74398" y="317499"/>
                </a:lnTo>
                <a:lnTo>
                  <a:pt x="103787" y="347979"/>
                </a:lnTo>
                <a:lnTo>
                  <a:pt x="139795" y="370839"/>
                </a:lnTo>
                <a:lnTo>
                  <a:pt x="180284" y="384809"/>
                </a:lnTo>
                <a:lnTo>
                  <a:pt x="197187" y="387349"/>
                </a:lnTo>
                <a:lnTo>
                  <a:pt x="339156" y="387349"/>
                </a:lnTo>
                <a:lnTo>
                  <a:pt x="327484" y="396239"/>
                </a:lnTo>
                <a:lnTo>
                  <a:pt x="321471" y="398779"/>
                </a:lnTo>
                <a:lnTo>
                  <a:pt x="309091" y="406399"/>
                </a:lnTo>
                <a:lnTo>
                  <a:pt x="283183" y="416559"/>
                </a:lnTo>
                <a:lnTo>
                  <a:pt x="269750" y="420369"/>
                </a:lnTo>
                <a:lnTo>
                  <a:pt x="262949" y="422909"/>
                </a:lnTo>
                <a:lnTo>
                  <a:pt x="242246" y="426719"/>
                </a:lnTo>
                <a:lnTo>
                  <a:pt x="228276" y="427989"/>
                </a:lnTo>
                <a:close/>
              </a:path>
              <a:path w="428625" h="427990">
                <a:moveTo>
                  <a:pt x="339156" y="387349"/>
                </a:moveTo>
                <a:lnTo>
                  <a:pt x="231322" y="387349"/>
                </a:lnTo>
                <a:lnTo>
                  <a:pt x="248226" y="384809"/>
                </a:lnTo>
                <a:lnTo>
                  <a:pt x="280891" y="374649"/>
                </a:lnTo>
                <a:lnTo>
                  <a:pt x="317992" y="353059"/>
                </a:lnTo>
                <a:lnTo>
                  <a:pt x="348860" y="323849"/>
                </a:lnTo>
                <a:lnTo>
                  <a:pt x="359038" y="309879"/>
                </a:lnTo>
                <a:lnTo>
                  <a:pt x="363616" y="303529"/>
                </a:lnTo>
                <a:lnTo>
                  <a:pt x="367824" y="295909"/>
                </a:lnTo>
                <a:lnTo>
                  <a:pt x="371662" y="288289"/>
                </a:lnTo>
                <a:lnTo>
                  <a:pt x="375129" y="280669"/>
                </a:lnTo>
                <a:lnTo>
                  <a:pt x="378209" y="271779"/>
                </a:lnTo>
                <a:lnTo>
                  <a:pt x="380888" y="264159"/>
                </a:lnTo>
                <a:lnTo>
                  <a:pt x="388174" y="222249"/>
                </a:lnTo>
                <a:lnTo>
                  <a:pt x="388384" y="213359"/>
                </a:lnTo>
                <a:lnTo>
                  <a:pt x="388174" y="205739"/>
                </a:lnTo>
                <a:lnTo>
                  <a:pt x="380888" y="162559"/>
                </a:lnTo>
                <a:lnTo>
                  <a:pt x="363616" y="124459"/>
                </a:lnTo>
                <a:lnTo>
                  <a:pt x="354111" y="110489"/>
                </a:lnTo>
                <a:lnTo>
                  <a:pt x="348860" y="102869"/>
                </a:lnTo>
                <a:lnTo>
                  <a:pt x="343283" y="96519"/>
                </a:lnTo>
                <a:lnTo>
                  <a:pt x="337382" y="90169"/>
                </a:lnTo>
                <a:lnTo>
                  <a:pt x="331186" y="85089"/>
                </a:lnTo>
                <a:lnTo>
                  <a:pt x="324722" y="78739"/>
                </a:lnTo>
                <a:lnTo>
                  <a:pt x="317992" y="73659"/>
                </a:lnTo>
                <a:lnTo>
                  <a:pt x="310995" y="68579"/>
                </a:lnTo>
                <a:lnTo>
                  <a:pt x="303766" y="64769"/>
                </a:lnTo>
                <a:lnTo>
                  <a:pt x="296339" y="59689"/>
                </a:lnTo>
                <a:lnTo>
                  <a:pt x="288714" y="55879"/>
                </a:lnTo>
                <a:lnTo>
                  <a:pt x="280891" y="53339"/>
                </a:lnTo>
                <a:lnTo>
                  <a:pt x="272908" y="49529"/>
                </a:lnTo>
                <a:lnTo>
                  <a:pt x="256575" y="44449"/>
                </a:lnTo>
                <a:lnTo>
                  <a:pt x="222809" y="39369"/>
                </a:lnTo>
                <a:lnTo>
                  <a:pt x="339156" y="39369"/>
                </a:lnTo>
                <a:lnTo>
                  <a:pt x="370760" y="67309"/>
                </a:lnTo>
                <a:lnTo>
                  <a:pt x="388549" y="88899"/>
                </a:lnTo>
                <a:lnTo>
                  <a:pt x="396349" y="100329"/>
                </a:lnTo>
                <a:lnTo>
                  <a:pt x="414940" y="138429"/>
                </a:lnTo>
                <a:lnTo>
                  <a:pt x="425818" y="179069"/>
                </a:lnTo>
                <a:lnTo>
                  <a:pt x="428510" y="205739"/>
                </a:lnTo>
                <a:lnTo>
                  <a:pt x="428498" y="222249"/>
                </a:lnTo>
                <a:lnTo>
                  <a:pt x="423080" y="262889"/>
                </a:lnTo>
                <a:lnTo>
                  <a:pt x="409567" y="302259"/>
                </a:lnTo>
                <a:lnTo>
                  <a:pt x="396349" y="326389"/>
                </a:lnTo>
                <a:lnTo>
                  <a:pt x="388549" y="339089"/>
                </a:lnTo>
                <a:lnTo>
                  <a:pt x="384373" y="344169"/>
                </a:lnTo>
                <a:lnTo>
                  <a:pt x="375468" y="355599"/>
                </a:lnTo>
                <a:lnTo>
                  <a:pt x="370760" y="360679"/>
                </a:lnTo>
                <a:lnTo>
                  <a:pt x="360833" y="369569"/>
                </a:lnTo>
                <a:lnTo>
                  <a:pt x="355639" y="374649"/>
                </a:lnTo>
                <a:lnTo>
                  <a:pt x="344787" y="383539"/>
                </a:lnTo>
                <a:lnTo>
                  <a:pt x="339156" y="387349"/>
                </a:lnTo>
                <a:close/>
              </a:path>
              <a:path w="428625" h="427990">
                <a:moveTo>
                  <a:pt x="160666" y="287019"/>
                </a:moveTo>
                <a:lnTo>
                  <a:pt x="153104" y="285749"/>
                </a:lnTo>
                <a:lnTo>
                  <a:pt x="146445" y="281939"/>
                </a:lnTo>
                <a:lnTo>
                  <a:pt x="142018" y="274319"/>
                </a:lnTo>
                <a:lnTo>
                  <a:pt x="140543" y="266699"/>
                </a:lnTo>
                <a:lnTo>
                  <a:pt x="142018" y="259079"/>
                </a:lnTo>
                <a:lnTo>
                  <a:pt x="146445" y="252729"/>
                </a:lnTo>
                <a:lnTo>
                  <a:pt x="185791" y="213359"/>
                </a:lnTo>
                <a:lnTo>
                  <a:pt x="146445" y="173989"/>
                </a:lnTo>
                <a:lnTo>
                  <a:pt x="142018" y="167639"/>
                </a:lnTo>
                <a:lnTo>
                  <a:pt x="140543" y="160019"/>
                </a:lnTo>
                <a:lnTo>
                  <a:pt x="142018" y="152399"/>
                </a:lnTo>
                <a:lnTo>
                  <a:pt x="146445" y="146049"/>
                </a:lnTo>
                <a:lnTo>
                  <a:pt x="153057" y="140969"/>
                </a:lnTo>
                <a:lnTo>
                  <a:pt x="160603" y="139699"/>
                </a:lnTo>
                <a:lnTo>
                  <a:pt x="168165" y="140969"/>
                </a:lnTo>
                <a:lnTo>
                  <a:pt x="174825" y="146049"/>
                </a:lnTo>
                <a:lnTo>
                  <a:pt x="214171" y="185419"/>
                </a:lnTo>
                <a:lnTo>
                  <a:pt x="270474" y="185419"/>
                </a:lnTo>
                <a:lnTo>
                  <a:pt x="242551" y="213359"/>
                </a:lnTo>
                <a:lnTo>
                  <a:pt x="271743" y="242569"/>
                </a:lnTo>
                <a:lnTo>
                  <a:pt x="214171" y="242569"/>
                </a:lnTo>
                <a:lnTo>
                  <a:pt x="174825" y="281939"/>
                </a:lnTo>
                <a:lnTo>
                  <a:pt x="168212" y="285749"/>
                </a:lnTo>
                <a:lnTo>
                  <a:pt x="160666" y="287019"/>
                </a:lnTo>
                <a:close/>
              </a:path>
              <a:path w="428625" h="427990">
                <a:moveTo>
                  <a:pt x="270474" y="185419"/>
                </a:moveTo>
                <a:lnTo>
                  <a:pt x="214171" y="185419"/>
                </a:lnTo>
                <a:lnTo>
                  <a:pt x="253517" y="146049"/>
                </a:lnTo>
                <a:lnTo>
                  <a:pt x="260130" y="140969"/>
                </a:lnTo>
                <a:lnTo>
                  <a:pt x="267676" y="139699"/>
                </a:lnTo>
                <a:lnTo>
                  <a:pt x="275238" y="140969"/>
                </a:lnTo>
                <a:lnTo>
                  <a:pt x="281897" y="146049"/>
                </a:lnTo>
                <a:lnTo>
                  <a:pt x="286324" y="152399"/>
                </a:lnTo>
                <a:lnTo>
                  <a:pt x="287799" y="160019"/>
                </a:lnTo>
                <a:lnTo>
                  <a:pt x="286324" y="167639"/>
                </a:lnTo>
                <a:lnTo>
                  <a:pt x="281897" y="173989"/>
                </a:lnTo>
                <a:lnTo>
                  <a:pt x="270474" y="185419"/>
                </a:lnTo>
                <a:close/>
              </a:path>
              <a:path w="428625" h="427990">
                <a:moveTo>
                  <a:pt x="267739" y="287019"/>
                </a:moveTo>
                <a:lnTo>
                  <a:pt x="260177" y="285749"/>
                </a:lnTo>
                <a:lnTo>
                  <a:pt x="253517" y="281939"/>
                </a:lnTo>
                <a:lnTo>
                  <a:pt x="214171" y="242569"/>
                </a:lnTo>
                <a:lnTo>
                  <a:pt x="271743" y="242569"/>
                </a:lnTo>
                <a:lnTo>
                  <a:pt x="281897" y="252729"/>
                </a:lnTo>
                <a:lnTo>
                  <a:pt x="286312" y="259079"/>
                </a:lnTo>
                <a:lnTo>
                  <a:pt x="287768" y="266699"/>
                </a:lnTo>
                <a:lnTo>
                  <a:pt x="286288" y="274319"/>
                </a:lnTo>
                <a:lnTo>
                  <a:pt x="281897" y="281939"/>
                </a:lnTo>
                <a:lnTo>
                  <a:pt x="275285" y="285749"/>
                </a:lnTo>
                <a:lnTo>
                  <a:pt x="267739" y="287019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6988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75" i="0">
                <a:latin typeface="Arial Narrow"/>
                <a:cs typeface="Arial Narrow"/>
              </a:rPr>
              <a:t>The </a:t>
            </a:r>
            <a:r>
              <a:rPr dirty="0" sz="3350" spc="114" i="0">
                <a:latin typeface="Arial Narrow"/>
                <a:cs typeface="Arial Narrow"/>
              </a:rPr>
              <a:t>"Traditional" </a:t>
            </a:r>
            <a:r>
              <a:rPr dirty="0" sz="3350" spc="125" i="0">
                <a:latin typeface="Arial Narrow"/>
                <a:cs typeface="Arial Narrow"/>
              </a:rPr>
              <a:t>Approach </a:t>
            </a:r>
            <a:r>
              <a:rPr dirty="0" sz="3350" spc="180" i="0">
                <a:latin typeface="Arial Narrow"/>
                <a:cs typeface="Arial Narrow"/>
              </a:rPr>
              <a:t>to </a:t>
            </a:r>
            <a:r>
              <a:rPr dirty="0" sz="3350" spc="90" i="0">
                <a:latin typeface="Arial Narrow"/>
                <a:cs typeface="Arial Narrow"/>
              </a:rPr>
              <a:t>Replacing</a:t>
            </a:r>
            <a:r>
              <a:rPr dirty="0" sz="3350" spc="-415" i="0">
                <a:latin typeface="Arial Narrow"/>
                <a:cs typeface="Arial Narrow"/>
              </a:rPr>
              <a:t> </a:t>
            </a:r>
            <a:r>
              <a:rPr dirty="0" sz="3350" spc="130" i="0">
                <a:latin typeface="Arial Narrow"/>
                <a:cs typeface="Arial Narrow"/>
              </a:rPr>
              <a:t>Passwords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428749"/>
            <a:ext cx="9696449" cy="5038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686981" y="600075"/>
            <a:ext cx="428625" cy="427990"/>
          </a:xfrm>
          <a:custGeom>
            <a:avLst/>
            <a:gdLst/>
            <a:ahLst/>
            <a:cxnLst/>
            <a:rect l="l" t="t" r="r" b="b"/>
            <a:pathLst>
              <a:path w="428625" h="427990">
                <a:moveTo>
                  <a:pt x="228276" y="427989"/>
                </a:moveTo>
                <a:lnTo>
                  <a:pt x="200234" y="427989"/>
                </a:lnTo>
                <a:lnTo>
                  <a:pt x="186263" y="426719"/>
                </a:lnTo>
                <a:lnTo>
                  <a:pt x="165560" y="422909"/>
                </a:lnTo>
                <a:lnTo>
                  <a:pt x="158760" y="420369"/>
                </a:lnTo>
                <a:lnTo>
                  <a:pt x="145326" y="416559"/>
                </a:lnTo>
                <a:lnTo>
                  <a:pt x="119419" y="406399"/>
                </a:lnTo>
                <a:lnTo>
                  <a:pt x="107038" y="398779"/>
                </a:lnTo>
                <a:lnTo>
                  <a:pt x="101025" y="396239"/>
                </a:lnTo>
                <a:lnTo>
                  <a:pt x="89353" y="387349"/>
                </a:lnTo>
                <a:lnTo>
                  <a:pt x="83722" y="383539"/>
                </a:lnTo>
                <a:lnTo>
                  <a:pt x="72870" y="374649"/>
                </a:lnTo>
                <a:lnTo>
                  <a:pt x="67676" y="369569"/>
                </a:lnTo>
                <a:lnTo>
                  <a:pt x="57750" y="360679"/>
                </a:lnTo>
                <a:lnTo>
                  <a:pt x="53042" y="355599"/>
                </a:lnTo>
                <a:lnTo>
                  <a:pt x="44136" y="344169"/>
                </a:lnTo>
                <a:lnTo>
                  <a:pt x="39960" y="339089"/>
                </a:lnTo>
                <a:lnTo>
                  <a:pt x="32161" y="326389"/>
                </a:lnTo>
                <a:lnTo>
                  <a:pt x="13570" y="289559"/>
                </a:lnTo>
                <a:lnTo>
                  <a:pt x="2691" y="248919"/>
                </a:lnTo>
                <a:lnTo>
                  <a:pt x="0" y="205739"/>
                </a:lnTo>
                <a:lnTo>
                  <a:pt x="286" y="199389"/>
                </a:lnTo>
                <a:lnTo>
                  <a:pt x="7133" y="158749"/>
                </a:lnTo>
                <a:lnTo>
                  <a:pt x="21939" y="119379"/>
                </a:lnTo>
                <a:lnTo>
                  <a:pt x="39960" y="88899"/>
                </a:lnTo>
                <a:lnTo>
                  <a:pt x="44136" y="82549"/>
                </a:lnTo>
                <a:lnTo>
                  <a:pt x="72870" y="52069"/>
                </a:lnTo>
                <a:lnTo>
                  <a:pt x="107038" y="27939"/>
                </a:lnTo>
                <a:lnTo>
                  <a:pt x="119419" y="21589"/>
                </a:lnTo>
                <a:lnTo>
                  <a:pt x="125756" y="17779"/>
                </a:lnTo>
                <a:lnTo>
                  <a:pt x="145326" y="10159"/>
                </a:lnTo>
                <a:lnTo>
                  <a:pt x="158760" y="6349"/>
                </a:lnTo>
                <a:lnTo>
                  <a:pt x="186263" y="1269"/>
                </a:lnTo>
                <a:lnTo>
                  <a:pt x="200234" y="0"/>
                </a:lnTo>
                <a:lnTo>
                  <a:pt x="228276" y="0"/>
                </a:lnTo>
                <a:lnTo>
                  <a:pt x="269750" y="6349"/>
                </a:lnTo>
                <a:lnTo>
                  <a:pt x="309091" y="21589"/>
                </a:lnTo>
                <a:lnTo>
                  <a:pt x="321471" y="27939"/>
                </a:lnTo>
                <a:lnTo>
                  <a:pt x="327484" y="31749"/>
                </a:lnTo>
                <a:lnTo>
                  <a:pt x="339156" y="39369"/>
                </a:lnTo>
                <a:lnTo>
                  <a:pt x="205700" y="39369"/>
                </a:lnTo>
                <a:lnTo>
                  <a:pt x="171934" y="44449"/>
                </a:lnTo>
                <a:lnTo>
                  <a:pt x="155602" y="49529"/>
                </a:lnTo>
                <a:lnTo>
                  <a:pt x="147618" y="53339"/>
                </a:lnTo>
                <a:lnTo>
                  <a:pt x="139795" y="55879"/>
                </a:lnTo>
                <a:lnTo>
                  <a:pt x="132170" y="59689"/>
                </a:lnTo>
                <a:lnTo>
                  <a:pt x="124743" y="64769"/>
                </a:lnTo>
                <a:lnTo>
                  <a:pt x="117514" y="68579"/>
                </a:lnTo>
                <a:lnTo>
                  <a:pt x="110517" y="73659"/>
                </a:lnTo>
                <a:lnTo>
                  <a:pt x="103787" y="78739"/>
                </a:lnTo>
                <a:lnTo>
                  <a:pt x="97324" y="85089"/>
                </a:lnTo>
                <a:lnTo>
                  <a:pt x="91127" y="90169"/>
                </a:lnTo>
                <a:lnTo>
                  <a:pt x="85226" y="96519"/>
                </a:lnTo>
                <a:lnTo>
                  <a:pt x="79650" y="102869"/>
                </a:lnTo>
                <a:lnTo>
                  <a:pt x="74398" y="110489"/>
                </a:lnTo>
                <a:lnTo>
                  <a:pt x="69472" y="116839"/>
                </a:lnTo>
                <a:lnTo>
                  <a:pt x="50300" y="154939"/>
                </a:lnTo>
                <a:lnTo>
                  <a:pt x="40962" y="196849"/>
                </a:lnTo>
                <a:lnTo>
                  <a:pt x="40126" y="213359"/>
                </a:lnTo>
                <a:lnTo>
                  <a:pt x="40335" y="222249"/>
                </a:lnTo>
                <a:lnTo>
                  <a:pt x="47622" y="264159"/>
                </a:lnTo>
                <a:lnTo>
                  <a:pt x="50300" y="271779"/>
                </a:lnTo>
                <a:lnTo>
                  <a:pt x="53381" y="280669"/>
                </a:lnTo>
                <a:lnTo>
                  <a:pt x="56847" y="288289"/>
                </a:lnTo>
                <a:lnTo>
                  <a:pt x="60685" y="295909"/>
                </a:lnTo>
                <a:lnTo>
                  <a:pt x="64893" y="303529"/>
                </a:lnTo>
                <a:lnTo>
                  <a:pt x="69472" y="309879"/>
                </a:lnTo>
                <a:lnTo>
                  <a:pt x="74398" y="317499"/>
                </a:lnTo>
                <a:lnTo>
                  <a:pt x="103787" y="347979"/>
                </a:lnTo>
                <a:lnTo>
                  <a:pt x="139795" y="370839"/>
                </a:lnTo>
                <a:lnTo>
                  <a:pt x="180284" y="384809"/>
                </a:lnTo>
                <a:lnTo>
                  <a:pt x="197187" y="387349"/>
                </a:lnTo>
                <a:lnTo>
                  <a:pt x="339156" y="387349"/>
                </a:lnTo>
                <a:lnTo>
                  <a:pt x="327484" y="396239"/>
                </a:lnTo>
                <a:lnTo>
                  <a:pt x="321471" y="398779"/>
                </a:lnTo>
                <a:lnTo>
                  <a:pt x="309091" y="406399"/>
                </a:lnTo>
                <a:lnTo>
                  <a:pt x="283183" y="416559"/>
                </a:lnTo>
                <a:lnTo>
                  <a:pt x="269750" y="420369"/>
                </a:lnTo>
                <a:lnTo>
                  <a:pt x="262949" y="422909"/>
                </a:lnTo>
                <a:lnTo>
                  <a:pt x="242246" y="426719"/>
                </a:lnTo>
                <a:lnTo>
                  <a:pt x="228276" y="427989"/>
                </a:lnTo>
                <a:close/>
              </a:path>
              <a:path w="428625" h="427990">
                <a:moveTo>
                  <a:pt x="339156" y="387349"/>
                </a:moveTo>
                <a:lnTo>
                  <a:pt x="231322" y="387349"/>
                </a:lnTo>
                <a:lnTo>
                  <a:pt x="248226" y="384809"/>
                </a:lnTo>
                <a:lnTo>
                  <a:pt x="280891" y="374649"/>
                </a:lnTo>
                <a:lnTo>
                  <a:pt x="317992" y="353059"/>
                </a:lnTo>
                <a:lnTo>
                  <a:pt x="348860" y="323849"/>
                </a:lnTo>
                <a:lnTo>
                  <a:pt x="359038" y="309879"/>
                </a:lnTo>
                <a:lnTo>
                  <a:pt x="363616" y="303529"/>
                </a:lnTo>
                <a:lnTo>
                  <a:pt x="367824" y="295909"/>
                </a:lnTo>
                <a:lnTo>
                  <a:pt x="371662" y="288289"/>
                </a:lnTo>
                <a:lnTo>
                  <a:pt x="375129" y="280669"/>
                </a:lnTo>
                <a:lnTo>
                  <a:pt x="378209" y="271779"/>
                </a:lnTo>
                <a:lnTo>
                  <a:pt x="380888" y="264159"/>
                </a:lnTo>
                <a:lnTo>
                  <a:pt x="388174" y="222249"/>
                </a:lnTo>
                <a:lnTo>
                  <a:pt x="388384" y="213359"/>
                </a:lnTo>
                <a:lnTo>
                  <a:pt x="388174" y="205739"/>
                </a:lnTo>
                <a:lnTo>
                  <a:pt x="380888" y="162559"/>
                </a:lnTo>
                <a:lnTo>
                  <a:pt x="363616" y="124459"/>
                </a:lnTo>
                <a:lnTo>
                  <a:pt x="354111" y="110489"/>
                </a:lnTo>
                <a:lnTo>
                  <a:pt x="348860" y="102869"/>
                </a:lnTo>
                <a:lnTo>
                  <a:pt x="343283" y="96519"/>
                </a:lnTo>
                <a:lnTo>
                  <a:pt x="337382" y="90169"/>
                </a:lnTo>
                <a:lnTo>
                  <a:pt x="331186" y="85089"/>
                </a:lnTo>
                <a:lnTo>
                  <a:pt x="324722" y="78739"/>
                </a:lnTo>
                <a:lnTo>
                  <a:pt x="317992" y="73659"/>
                </a:lnTo>
                <a:lnTo>
                  <a:pt x="310995" y="68579"/>
                </a:lnTo>
                <a:lnTo>
                  <a:pt x="303766" y="64769"/>
                </a:lnTo>
                <a:lnTo>
                  <a:pt x="296339" y="59689"/>
                </a:lnTo>
                <a:lnTo>
                  <a:pt x="288714" y="55879"/>
                </a:lnTo>
                <a:lnTo>
                  <a:pt x="280891" y="53339"/>
                </a:lnTo>
                <a:lnTo>
                  <a:pt x="272908" y="49529"/>
                </a:lnTo>
                <a:lnTo>
                  <a:pt x="256575" y="44449"/>
                </a:lnTo>
                <a:lnTo>
                  <a:pt x="222809" y="39369"/>
                </a:lnTo>
                <a:lnTo>
                  <a:pt x="339156" y="39369"/>
                </a:lnTo>
                <a:lnTo>
                  <a:pt x="370760" y="67309"/>
                </a:lnTo>
                <a:lnTo>
                  <a:pt x="388549" y="88899"/>
                </a:lnTo>
                <a:lnTo>
                  <a:pt x="396349" y="100329"/>
                </a:lnTo>
                <a:lnTo>
                  <a:pt x="414940" y="138429"/>
                </a:lnTo>
                <a:lnTo>
                  <a:pt x="425818" y="179069"/>
                </a:lnTo>
                <a:lnTo>
                  <a:pt x="428510" y="205739"/>
                </a:lnTo>
                <a:lnTo>
                  <a:pt x="428498" y="222249"/>
                </a:lnTo>
                <a:lnTo>
                  <a:pt x="423080" y="262889"/>
                </a:lnTo>
                <a:lnTo>
                  <a:pt x="409567" y="302259"/>
                </a:lnTo>
                <a:lnTo>
                  <a:pt x="396349" y="326389"/>
                </a:lnTo>
                <a:lnTo>
                  <a:pt x="388549" y="339089"/>
                </a:lnTo>
                <a:lnTo>
                  <a:pt x="384373" y="344169"/>
                </a:lnTo>
                <a:lnTo>
                  <a:pt x="375468" y="355599"/>
                </a:lnTo>
                <a:lnTo>
                  <a:pt x="370760" y="360679"/>
                </a:lnTo>
                <a:lnTo>
                  <a:pt x="360833" y="369569"/>
                </a:lnTo>
                <a:lnTo>
                  <a:pt x="355639" y="374649"/>
                </a:lnTo>
                <a:lnTo>
                  <a:pt x="344787" y="383539"/>
                </a:lnTo>
                <a:lnTo>
                  <a:pt x="339156" y="387349"/>
                </a:lnTo>
                <a:close/>
              </a:path>
              <a:path w="428625" h="427990">
                <a:moveTo>
                  <a:pt x="160666" y="287019"/>
                </a:moveTo>
                <a:lnTo>
                  <a:pt x="153104" y="285749"/>
                </a:lnTo>
                <a:lnTo>
                  <a:pt x="146445" y="281939"/>
                </a:lnTo>
                <a:lnTo>
                  <a:pt x="142018" y="274319"/>
                </a:lnTo>
                <a:lnTo>
                  <a:pt x="140543" y="266699"/>
                </a:lnTo>
                <a:lnTo>
                  <a:pt x="142018" y="259079"/>
                </a:lnTo>
                <a:lnTo>
                  <a:pt x="146445" y="252729"/>
                </a:lnTo>
                <a:lnTo>
                  <a:pt x="185791" y="213359"/>
                </a:lnTo>
                <a:lnTo>
                  <a:pt x="146445" y="173989"/>
                </a:lnTo>
                <a:lnTo>
                  <a:pt x="142018" y="167639"/>
                </a:lnTo>
                <a:lnTo>
                  <a:pt x="140543" y="160019"/>
                </a:lnTo>
                <a:lnTo>
                  <a:pt x="142018" y="152399"/>
                </a:lnTo>
                <a:lnTo>
                  <a:pt x="146445" y="146049"/>
                </a:lnTo>
                <a:lnTo>
                  <a:pt x="153057" y="140969"/>
                </a:lnTo>
                <a:lnTo>
                  <a:pt x="160603" y="139699"/>
                </a:lnTo>
                <a:lnTo>
                  <a:pt x="168165" y="140969"/>
                </a:lnTo>
                <a:lnTo>
                  <a:pt x="174825" y="146049"/>
                </a:lnTo>
                <a:lnTo>
                  <a:pt x="214171" y="185419"/>
                </a:lnTo>
                <a:lnTo>
                  <a:pt x="270474" y="185419"/>
                </a:lnTo>
                <a:lnTo>
                  <a:pt x="242551" y="213359"/>
                </a:lnTo>
                <a:lnTo>
                  <a:pt x="271743" y="242569"/>
                </a:lnTo>
                <a:lnTo>
                  <a:pt x="214171" y="242569"/>
                </a:lnTo>
                <a:lnTo>
                  <a:pt x="174825" y="281939"/>
                </a:lnTo>
                <a:lnTo>
                  <a:pt x="168212" y="285749"/>
                </a:lnTo>
                <a:lnTo>
                  <a:pt x="160666" y="287019"/>
                </a:lnTo>
                <a:close/>
              </a:path>
              <a:path w="428625" h="427990">
                <a:moveTo>
                  <a:pt x="270474" y="185419"/>
                </a:moveTo>
                <a:lnTo>
                  <a:pt x="214171" y="185419"/>
                </a:lnTo>
                <a:lnTo>
                  <a:pt x="253517" y="146049"/>
                </a:lnTo>
                <a:lnTo>
                  <a:pt x="260130" y="140969"/>
                </a:lnTo>
                <a:lnTo>
                  <a:pt x="267676" y="139699"/>
                </a:lnTo>
                <a:lnTo>
                  <a:pt x="275238" y="140969"/>
                </a:lnTo>
                <a:lnTo>
                  <a:pt x="281897" y="146049"/>
                </a:lnTo>
                <a:lnTo>
                  <a:pt x="286324" y="152399"/>
                </a:lnTo>
                <a:lnTo>
                  <a:pt x="287799" y="160019"/>
                </a:lnTo>
                <a:lnTo>
                  <a:pt x="286324" y="167639"/>
                </a:lnTo>
                <a:lnTo>
                  <a:pt x="281897" y="173989"/>
                </a:lnTo>
                <a:lnTo>
                  <a:pt x="270474" y="185419"/>
                </a:lnTo>
                <a:close/>
              </a:path>
              <a:path w="428625" h="427990">
                <a:moveTo>
                  <a:pt x="267739" y="287019"/>
                </a:moveTo>
                <a:lnTo>
                  <a:pt x="260177" y="285749"/>
                </a:lnTo>
                <a:lnTo>
                  <a:pt x="253517" y="281939"/>
                </a:lnTo>
                <a:lnTo>
                  <a:pt x="214171" y="242569"/>
                </a:lnTo>
                <a:lnTo>
                  <a:pt x="271743" y="242569"/>
                </a:lnTo>
                <a:lnTo>
                  <a:pt x="281897" y="252729"/>
                </a:lnTo>
                <a:lnTo>
                  <a:pt x="286312" y="259079"/>
                </a:lnTo>
                <a:lnTo>
                  <a:pt x="287768" y="266699"/>
                </a:lnTo>
                <a:lnTo>
                  <a:pt x="286288" y="274319"/>
                </a:lnTo>
                <a:lnTo>
                  <a:pt x="281897" y="281939"/>
                </a:lnTo>
                <a:lnTo>
                  <a:pt x="275285" y="285749"/>
                </a:lnTo>
                <a:lnTo>
                  <a:pt x="267739" y="287019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6360" y="2752344"/>
            <a:ext cx="8818245" cy="942340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1150"/>
              </a:spcBef>
            </a:pP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B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v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85" i="0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dirty="0" sz="4100" spc="-1085" i="0">
                <a:solidFill>
                  <a:srgbClr val="FFFFFF"/>
                </a:solidFill>
                <a:latin typeface="Trebuchet MS"/>
                <a:cs typeface="Trebuchet MS"/>
              </a:rPr>
              <a:t>l 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B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070" i="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070" i="0">
                <a:solidFill>
                  <a:srgbClr val="FFFFFF"/>
                </a:solidFill>
                <a:latin typeface="Trebuchet MS"/>
                <a:cs typeface="Trebuchet MS"/>
              </a:rPr>
              <a:t>s </a:t>
            </a:r>
            <a:r>
              <a:rPr dirty="0" sz="4100" spc="-1000" i="0">
                <a:solidFill>
                  <a:srgbClr val="000000"/>
                </a:solidFill>
                <a:latin typeface="Trebuchet MS"/>
                <a:cs typeface="Trebuchet MS"/>
              </a:rPr>
              <a:t>f</a:t>
            </a:r>
            <a:r>
              <a:rPr dirty="0" sz="4100" spc="-1000" i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4100" spc="-1000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000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00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000" i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975" i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u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00" i="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100" i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4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4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8943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75" i="0">
                <a:latin typeface="Arial Narrow"/>
                <a:cs typeface="Arial Narrow"/>
              </a:rPr>
              <a:t>The </a:t>
            </a:r>
            <a:r>
              <a:rPr dirty="0" sz="3350" spc="90" i="0">
                <a:latin typeface="Arial Narrow"/>
                <a:cs typeface="Arial Narrow"/>
              </a:rPr>
              <a:t>Keystroke </a:t>
            </a:r>
            <a:r>
              <a:rPr dirty="0" sz="3350" spc="114" i="0">
                <a:latin typeface="Arial Narrow"/>
                <a:cs typeface="Arial Narrow"/>
              </a:rPr>
              <a:t>Dynamics </a:t>
            </a:r>
            <a:r>
              <a:rPr dirty="0" sz="3350" spc="-80" i="0">
                <a:latin typeface="Arial Narrow"/>
                <a:cs typeface="Arial Narrow"/>
              </a:rPr>
              <a:t>- </a:t>
            </a:r>
            <a:r>
              <a:rPr dirty="0" sz="3350" spc="114" i="0">
                <a:latin typeface="Arial Narrow"/>
                <a:cs typeface="Arial Narrow"/>
              </a:rPr>
              <a:t>Benchmark </a:t>
            </a:r>
            <a:r>
              <a:rPr dirty="0" sz="3350" spc="85" i="0">
                <a:latin typeface="Arial Narrow"/>
                <a:cs typeface="Arial Narrow"/>
              </a:rPr>
              <a:t>Data</a:t>
            </a:r>
            <a:r>
              <a:rPr dirty="0" sz="3350" spc="-245" i="0">
                <a:latin typeface="Arial Narrow"/>
                <a:cs typeface="Arial Narrow"/>
              </a:rPr>
              <a:t> </a:t>
            </a:r>
            <a:r>
              <a:rPr dirty="0" sz="3350" spc="65" i="0">
                <a:latin typeface="Arial Narrow"/>
                <a:cs typeface="Arial Narrow"/>
              </a:rPr>
              <a:t>Set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11360" cy="452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Based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Killourhy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1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and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5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Maxion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1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(2009)</a:t>
            </a: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,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authors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set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up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experiment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as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follows: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buFont typeface="Trebuchet MS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Password: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.tie5Roanl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Feature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sets:</a:t>
            </a:r>
            <a:endParaRPr sz="1800">
              <a:latin typeface="Trebuchet MS"/>
              <a:cs typeface="Trebuchet MS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Enter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key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was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considered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-2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part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password</a:t>
            </a:r>
            <a:endParaRPr sz="1800">
              <a:latin typeface="Calibri"/>
              <a:cs typeface="Calibri"/>
            </a:endParaRPr>
          </a:p>
          <a:p>
            <a:pPr lvl="1" marL="774065" marR="423545" indent="-133985">
              <a:lnSpc>
                <a:spcPct val="114599"/>
              </a:lnSpc>
              <a:spcBef>
                <a:spcPts val="975"/>
              </a:spcBef>
              <a:buFont typeface="Trebuchet MS"/>
              <a:buChar char="•"/>
              <a:tabLst>
                <a:tab pos="774700" algn="l"/>
              </a:tabLst>
            </a:pP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Keydown-Keydown: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time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key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presses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consecutive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keys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as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feature;</a:t>
            </a:r>
            <a:endParaRPr sz="1800">
              <a:latin typeface="Calibri"/>
              <a:cs typeface="Calibri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774700" algn="l"/>
              </a:tabLst>
            </a:pP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Keyup-Keydown: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time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release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key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press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next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-2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used;</a:t>
            </a:r>
            <a:endParaRPr sz="1800">
              <a:latin typeface="Calibri"/>
              <a:cs typeface="Calibri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774700" algn="l"/>
              </a:tabLst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Hold: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time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press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release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each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key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Note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linearly dependent;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</a:t>
            </a:r>
            <a:r>
              <a:rPr dirty="0" sz="18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example,</a:t>
            </a:r>
            <a:endParaRPr sz="1800">
              <a:latin typeface="Calibri"/>
              <a:cs typeface="Calibr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600" spc="130" i="1">
                <a:solidFill>
                  <a:srgbClr val="585D60"/>
                </a:solidFill>
                <a:latin typeface="Arial"/>
                <a:cs typeface="Arial"/>
              </a:rPr>
              <a:t>Keydown</a:t>
            </a:r>
            <a:r>
              <a:rPr dirty="0" sz="1200" spc="130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r>
              <a:rPr dirty="0" sz="1200" spc="-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30" i="1">
                <a:solidFill>
                  <a:srgbClr val="585D60"/>
                </a:solidFill>
                <a:latin typeface="Arial"/>
                <a:cs typeface="Arial"/>
              </a:rPr>
              <a:t>Keydown</a:t>
            </a:r>
            <a:r>
              <a:rPr dirty="0" sz="1600" spc="5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44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200" spc="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60" i="1">
                <a:solidFill>
                  <a:srgbClr val="585D60"/>
                </a:solidFill>
                <a:latin typeface="Arial"/>
                <a:cs typeface="Arial"/>
              </a:rPr>
              <a:t>Hold</a:t>
            </a:r>
            <a:r>
              <a:rPr dirty="0" sz="1600" spc="-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44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00" spc="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45" i="1">
                <a:solidFill>
                  <a:srgbClr val="585D60"/>
                </a:solidFill>
                <a:latin typeface="Arial"/>
                <a:cs typeface="Arial"/>
              </a:rPr>
              <a:t>Keyup</a:t>
            </a:r>
            <a:r>
              <a:rPr dirty="0" sz="1600" spc="-5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4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200" spc="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Arial"/>
                <a:cs typeface="Arial"/>
              </a:rPr>
              <a:t>Keydown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Additionally,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recorded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</a:t>
            </a:r>
            <a:r>
              <a:rPr dirty="0" sz="1800" spc="-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seconds.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2004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0" i="0">
                <a:latin typeface="Arial Narrow"/>
                <a:cs typeface="Arial Narrow"/>
              </a:rPr>
              <a:t>Choice </a:t>
            </a:r>
            <a:r>
              <a:rPr dirty="0" sz="3350" spc="235" i="0">
                <a:latin typeface="Arial Narrow"/>
                <a:cs typeface="Arial Narrow"/>
              </a:rPr>
              <a:t>of</a:t>
            </a:r>
            <a:r>
              <a:rPr dirty="0" sz="3350" spc="-165" i="0">
                <a:latin typeface="Arial Narrow"/>
                <a:cs typeface="Arial Narrow"/>
              </a:rPr>
              <a:t> </a:t>
            </a:r>
            <a:r>
              <a:rPr dirty="0" sz="3350" spc="85" i="0">
                <a:latin typeface="Arial Narrow"/>
                <a:cs typeface="Arial Narrow"/>
              </a:rPr>
              <a:t>Features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9182" y="1508162"/>
            <a:ext cx="9490310" cy="3208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5931" y="1474021"/>
            <a:ext cx="7016799" cy="3734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3496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0" i="0">
                <a:latin typeface="Arial Narrow"/>
                <a:cs typeface="Arial Narrow"/>
              </a:rPr>
              <a:t>Subject </a:t>
            </a:r>
            <a:r>
              <a:rPr dirty="0" sz="1800" spc="1190" i="0">
                <a:latin typeface="Lucida Sans Unicode"/>
                <a:cs typeface="Lucida Sans Unicode"/>
              </a:rPr>
              <a:t>×</a:t>
            </a:r>
            <a:r>
              <a:rPr dirty="0" sz="1800" spc="45" i="0">
                <a:latin typeface="Lucida Sans Unicode"/>
                <a:cs typeface="Lucida Sans Unicode"/>
              </a:rPr>
              <a:t> </a:t>
            </a:r>
            <a:r>
              <a:rPr dirty="0" sz="3350" spc="110" i="0">
                <a:latin typeface="Arial Narrow"/>
                <a:cs typeface="Arial Narrow"/>
              </a:rPr>
              <a:t>Sessions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9582785" cy="35674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60">
                <a:solidFill>
                  <a:srgbClr val="C2132D"/>
                </a:solidFill>
                <a:latin typeface="Arial Narrow"/>
                <a:cs typeface="Arial Narrow"/>
              </a:rPr>
              <a:t>Non-Graded </a:t>
            </a:r>
            <a:r>
              <a:rPr dirty="0" sz="3350" spc="100">
                <a:solidFill>
                  <a:srgbClr val="C2132D"/>
                </a:solidFill>
                <a:latin typeface="Arial Narrow"/>
                <a:cs typeface="Arial Narrow"/>
              </a:rPr>
              <a:t>Class</a:t>
            </a:r>
            <a:r>
              <a:rPr dirty="0" sz="3350" spc="-45">
                <a:solidFill>
                  <a:srgbClr val="C2132D"/>
                </a:solidFill>
                <a:latin typeface="Arial Narrow"/>
                <a:cs typeface="Arial Narrow"/>
              </a:rPr>
              <a:t> </a:t>
            </a:r>
            <a:r>
              <a:rPr dirty="0" sz="3350" spc="145">
                <a:solidFill>
                  <a:srgbClr val="C2132D"/>
                </a:solidFill>
                <a:latin typeface="Arial Narrow"/>
                <a:cs typeface="Arial Narrow"/>
              </a:rPr>
              <a:t>Activity</a:t>
            </a:r>
            <a:endParaRPr sz="3350">
              <a:latin typeface="Arial Narrow"/>
              <a:cs typeface="Arial Narrow"/>
            </a:endParaRPr>
          </a:p>
          <a:p>
            <a:pPr marL="393700" indent="-133985">
              <a:lnSpc>
                <a:spcPct val="100000"/>
              </a:lnSpc>
              <a:spcBef>
                <a:spcPts val="300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following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link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160">
                <a:solidFill>
                  <a:srgbClr val="585D60"/>
                </a:solidFill>
                <a:latin typeface="Calibri"/>
                <a:cs typeface="Calibri"/>
              </a:rPr>
              <a:t>access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</a:t>
            </a:r>
            <a:r>
              <a:rPr dirty="0" sz="1800" spc="-2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set.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Download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set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explore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1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features.</a:t>
            </a:r>
            <a:endParaRPr sz="1800">
              <a:latin typeface="Calibri"/>
              <a:cs typeface="Calibri"/>
            </a:endParaRPr>
          </a:p>
          <a:p>
            <a:pPr marL="393065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plain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English,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define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three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approaches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modeling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this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dataset and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write</a:t>
            </a:r>
            <a:r>
              <a:rPr dirty="0" sz="1800" spc="-1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them 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below.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•"/>
            </a:pPr>
            <a:endParaRPr sz="1700">
              <a:latin typeface="Calibri"/>
              <a:cs typeface="Calibri"/>
            </a:endParaRPr>
          </a:p>
          <a:p>
            <a:pPr marL="393700" indent="-107314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450" spc="35">
                <a:solidFill>
                  <a:srgbClr val="585D60"/>
                </a:solidFill>
                <a:latin typeface="Calibri"/>
                <a:cs typeface="Calibri"/>
              </a:rPr>
              <a:t>Edit </a:t>
            </a:r>
            <a:r>
              <a:rPr dirty="0" sz="1450" spc="70">
                <a:solidFill>
                  <a:srgbClr val="585D60"/>
                </a:solidFill>
                <a:latin typeface="Calibri"/>
                <a:cs typeface="Calibri"/>
              </a:rPr>
              <a:t>me </a:t>
            </a:r>
            <a:r>
              <a:rPr dirty="0" sz="1450" spc="1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450" spc="60">
                <a:solidFill>
                  <a:srgbClr val="585D60"/>
                </a:solidFill>
                <a:latin typeface="Calibri"/>
                <a:cs typeface="Calibri"/>
              </a:rPr>
              <a:t>answer </a:t>
            </a:r>
            <a:r>
              <a:rPr dirty="0" sz="1450" spc="15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450" spc="50">
                <a:solidFill>
                  <a:srgbClr val="585D60"/>
                </a:solidFill>
                <a:latin typeface="Calibri"/>
                <a:cs typeface="Calibri"/>
              </a:rPr>
              <a:t>question</a:t>
            </a:r>
            <a:r>
              <a:rPr dirty="0" sz="1450" spc="-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450" spc="40">
                <a:solidFill>
                  <a:srgbClr val="585D60"/>
                </a:solidFill>
                <a:latin typeface="Calibri"/>
                <a:cs typeface="Calibri"/>
              </a:rPr>
              <a:t>above.</a:t>
            </a:r>
            <a:endParaRPr sz="1450">
              <a:latin typeface="Calibri"/>
              <a:cs typeface="Calibri"/>
            </a:endParaRPr>
          </a:p>
          <a:p>
            <a:pPr marL="393700" indent="-107314">
              <a:lnSpc>
                <a:spcPct val="100000"/>
              </a:lnSpc>
              <a:spcBef>
                <a:spcPts val="96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450" spc="35">
                <a:solidFill>
                  <a:srgbClr val="585D60"/>
                </a:solidFill>
                <a:latin typeface="Calibri"/>
                <a:cs typeface="Calibri"/>
              </a:rPr>
              <a:t>Edit </a:t>
            </a:r>
            <a:r>
              <a:rPr dirty="0" sz="1450" spc="70">
                <a:solidFill>
                  <a:srgbClr val="585D60"/>
                </a:solidFill>
                <a:latin typeface="Calibri"/>
                <a:cs typeface="Calibri"/>
              </a:rPr>
              <a:t>me </a:t>
            </a:r>
            <a:r>
              <a:rPr dirty="0" sz="1450" spc="1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450" spc="60">
                <a:solidFill>
                  <a:srgbClr val="585D60"/>
                </a:solidFill>
                <a:latin typeface="Calibri"/>
                <a:cs typeface="Calibri"/>
              </a:rPr>
              <a:t>answer </a:t>
            </a:r>
            <a:r>
              <a:rPr dirty="0" sz="1450" spc="15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450" spc="50">
                <a:solidFill>
                  <a:srgbClr val="585D60"/>
                </a:solidFill>
                <a:latin typeface="Calibri"/>
                <a:cs typeface="Calibri"/>
              </a:rPr>
              <a:t>question</a:t>
            </a:r>
            <a:r>
              <a:rPr dirty="0" sz="1450" spc="-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450" spc="40">
                <a:solidFill>
                  <a:srgbClr val="585D60"/>
                </a:solidFill>
                <a:latin typeface="Calibri"/>
                <a:cs typeface="Calibri"/>
              </a:rPr>
              <a:t>above.</a:t>
            </a:r>
            <a:endParaRPr sz="1450">
              <a:latin typeface="Calibri"/>
              <a:cs typeface="Calibri"/>
            </a:endParaRPr>
          </a:p>
          <a:p>
            <a:pPr marL="393700" indent="-107314">
              <a:lnSpc>
                <a:spcPct val="100000"/>
              </a:lnSpc>
              <a:spcBef>
                <a:spcPts val="103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450" spc="35">
                <a:solidFill>
                  <a:srgbClr val="585D60"/>
                </a:solidFill>
                <a:latin typeface="Calibri"/>
                <a:cs typeface="Calibri"/>
              </a:rPr>
              <a:t>Edit </a:t>
            </a:r>
            <a:r>
              <a:rPr dirty="0" sz="1450" spc="70">
                <a:solidFill>
                  <a:srgbClr val="585D60"/>
                </a:solidFill>
                <a:latin typeface="Calibri"/>
                <a:cs typeface="Calibri"/>
              </a:rPr>
              <a:t>me </a:t>
            </a:r>
            <a:r>
              <a:rPr dirty="0" sz="1450" spc="1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450" spc="60">
                <a:solidFill>
                  <a:srgbClr val="585D60"/>
                </a:solidFill>
                <a:latin typeface="Calibri"/>
                <a:cs typeface="Calibri"/>
              </a:rPr>
              <a:t>answer </a:t>
            </a:r>
            <a:r>
              <a:rPr dirty="0" sz="1450" spc="15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450" spc="50">
                <a:solidFill>
                  <a:srgbClr val="585D60"/>
                </a:solidFill>
                <a:latin typeface="Calibri"/>
                <a:cs typeface="Calibri"/>
              </a:rPr>
              <a:t>question</a:t>
            </a:r>
            <a:r>
              <a:rPr dirty="0" sz="1450" spc="-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450" spc="40">
                <a:solidFill>
                  <a:srgbClr val="585D60"/>
                </a:solidFill>
                <a:latin typeface="Calibri"/>
                <a:cs typeface="Calibri"/>
              </a:rPr>
              <a:t>above.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10:00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15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4663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75" i="0">
                <a:latin typeface="Arial Narrow"/>
                <a:cs typeface="Arial Narrow"/>
              </a:rPr>
              <a:t>In-Class</a:t>
            </a:r>
            <a:r>
              <a:rPr dirty="0" sz="3350" spc="-45" i="0">
                <a:latin typeface="Arial Narrow"/>
                <a:cs typeface="Arial Narrow"/>
              </a:rPr>
              <a:t> </a:t>
            </a:r>
            <a:r>
              <a:rPr dirty="0" sz="3350" spc="100" i="0">
                <a:latin typeface="Arial Narrow"/>
                <a:cs typeface="Arial Narrow"/>
              </a:rPr>
              <a:t>Demo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557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Starting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following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code,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let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us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create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model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predict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whether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user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700" spc="5" i="1">
                <a:solidFill>
                  <a:srgbClr val="C2132D"/>
                </a:solidFill>
                <a:latin typeface="Courier New"/>
                <a:cs typeface="Courier New"/>
              </a:rPr>
              <a:t>s002</a:t>
            </a:r>
            <a:r>
              <a:rPr dirty="0" sz="1700" spc="-565" i="1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not.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981200"/>
            <a:ext cx="9696450" cy="176212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316865" indent="-209550">
              <a:lnSpc>
                <a:spcPts val="1600"/>
              </a:lnSpc>
              <a:spcBef>
                <a:spcPts val="750"/>
              </a:spcBef>
              <a:buChar char="❖"/>
              <a:tabLst>
                <a:tab pos="3175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!pip install</a:t>
            </a:r>
            <a:r>
              <a:rPr dirty="0" sz="1350" spc="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pycaret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75"/>
              </a:lnSpc>
            </a:pP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from </a:t>
            </a:r>
            <a:r>
              <a:rPr dirty="0" sz="1350" spc="10">
                <a:latin typeface="Courier New"/>
                <a:cs typeface="Courier New"/>
              </a:rPr>
              <a:t>pycaret.classification </a:t>
            </a: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import</a:t>
            </a:r>
            <a:r>
              <a:rPr dirty="0" sz="1350" spc="5" b="1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*</a:t>
            </a:r>
            <a:endParaRPr sz="1350">
              <a:latin typeface="Courier New"/>
              <a:cs typeface="Courier New"/>
            </a:endParaRPr>
          </a:p>
          <a:p>
            <a:pPr marL="107950" marR="1240790">
              <a:lnSpc>
                <a:spcPct val="180600"/>
              </a:lnSpc>
            </a:pPr>
            <a:r>
              <a:rPr dirty="0" sz="1350" spc="10">
                <a:latin typeface="Courier New"/>
                <a:cs typeface="Courier New"/>
              </a:rPr>
              <a:t>df =</a:t>
            </a:r>
            <a:r>
              <a:rPr dirty="0" sz="1350" spc="-4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pd.read_csv(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  <a:hlinkClick r:id="rId2"/>
              </a:rPr>
              <a:t>"https://www.cs.cmu.edu/~keystroke/DSL-StrongPasswordData.csv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</a:t>
            </a:r>
            <a:r>
              <a:rPr dirty="0" sz="1350" spc="10">
                <a:latin typeface="Courier New"/>
                <a:cs typeface="Courier New"/>
              </a:rPr>
              <a:t>)  sub2 = df[df[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'subject'</a:t>
            </a:r>
            <a:r>
              <a:rPr dirty="0" sz="1350" spc="10">
                <a:latin typeface="Courier New"/>
                <a:cs typeface="Courier New"/>
              </a:rPr>
              <a:t>] ==</a:t>
            </a:r>
            <a:r>
              <a:rPr dirty="0" sz="135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's002'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sub2 = sub2.drop(columns = [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'sessionIndex'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'rep'</a:t>
            </a:r>
            <a:r>
              <a:rPr dirty="0" sz="1350" spc="10">
                <a:latin typeface="Courier New"/>
                <a:cs typeface="Courier New"/>
              </a:rPr>
              <a:t>])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 i="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220" i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220" i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220" i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20" i="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220" i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220" i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220" i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220" i="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220" i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0" i="0">
                <a:latin typeface="Arial Narrow"/>
                <a:cs typeface="Arial Narrow"/>
              </a:rPr>
              <a:t>Summary </a:t>
            </a:r>
            <a:r>
              <a:rPr dirty="0" sz="3350" spc="235" i="0">
                <a:latin typeface="Arial Narrow"/>
                <a:cs typeface="Arial Narrow"/>
              </a:rPr>
              <a:t>of </a:t>
            </a:r>
            <a:r>
              <a:rPr dirty="0" sz="3350" spc="155" i="0">
                <a:latin typeface="Arial Narrow"/>
                <a:cs typeface="Arial Narrow"/>
              </a:rPr>
              <a:t>Main</a:t>
            </a:r>
            <a:r>
              <a:rPr dirty="0" sz="3350" spc="-385" i="0">
                <a:latin typeface="Arial Narrow"/>
                <a:cs typeface="Arial Narrow"/>
              </a:rPr>
              <a:t> </a:t>
            </a:r>
            <a:r>
              <a:rPr dirty="0" sz="3350" spc="140" i="0">
                <a:latin typeface="Arial Narrow"/>
                <a:cs typeface="Arial Narrow"/>
              </a:rPr>
              <a:t>Points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896225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-5">
                <a:solidFill>
                  <a:srgbClr val="585D60"/>
                </a:solidFill>
                <a:latin typeface="Calibri"/>
                <a:cs typeface="Calibri"/>
              </a:rPr>
              <a:t>now,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you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able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following: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Motivating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behavioral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authentication</a:t>
            </a:r>
            <a:r>
              <a:rPr dirty="0" sz="1800" spc="-1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purposes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Explain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possible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sources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application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behavioral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Model behavioral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biometrics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using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</a:t>
            </a:r>
            <a:r>
              <a:rPr dirty="0" sz="1800" spc="-1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techniques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21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22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 i="0">
                <a:latin typeface="Arial"/>
                <a:cs typeface="Arial"/>
              </a:rPr>
              <a:t>📝</a:t>
            </a:r>
            <a:r>
              <a:rPr dirty="0" sz="3300" spc="-415" i="0">
                <a:latin typeface="Arial"/>
                <a:cs typeface="Arial"/>
              </a:rPr>
              <a:t> </a:t>
            </a:r>
            <a:r>
              <a:rPr dirty="0" sz="3350" spc="55" i="0">
                <a:latin typeface="Arial Narrow"/>
                <a:cs typeface="Arial Narrow"/>
              </a:rPr>
              <a:t>Review </a:t>
            </a:r>
            <a:r>
              <a:rPr dirty="0" sz="3350" spc="110" i="0">
                <a:latin typeface="Arial Narrow"/>
                <a:cs typeface="Arial Narrow"/>
              </a:rPr>
              <a:t>and </a:t>
            </a:r>
            <a:r>
              <a:rPr dirty="0" sz="3350" spc="125" i="0">
                <a:latin typeface="Arial Narrow"/>
                <a:cs typeface="Arial Narrow"/>
              </a:rPr>
              <a:t>Clarification </a:t>
            </a:r>
            <a:r>
              <a:rPr dirty="0" sz="3300" spc="2155" i="0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65" b="1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/>
              <a:t>: </a:t>
            </a:r>
            <a:r>
              <a:rPr dirty="0" spc="85"/>
              <a:t>Take</a:t>
            </a:r>
            <a:r>
              <a:rPr dirty="0" spc="40"/>
              <a:t> </a:t>
            </a:r>
            <a:r>
              <a:rPr dirty="0" spc="125"/>
              <a:t>some</a:t>
            </a:r>
            <a:r>
              <a:rPr dirty="0" spc="35"/>
              <a:t> </a:t>
            </a:r>
            <a:r>
              <a:rPr dirty="0" spc="50"/>
              <a:t>time</a:t>
            </a:r>
            <a:r>
              <a:rPr dirty="0" spc="40"/>
              <a:t> </a:t>
            </a:r>
            <a:r>
              <a:rPr dirty="0" spc="20"/>
              <a:t>to</a:t>
            </a:r>
            <a:r>
              <a:rPr dirty="0" spc="35"/>
              <a:t> </a:t>
            </a:r>
            <a:r>
              <a:rPr dirty="0" spc="45"/>
              <a:t>revisit</a:t>
            </a:r>
            <a:r>
              <a:rPr dirty="0" spc="40"/>
              <a:t> </a:t>
            </a:r>
            <a:r>
              <a:rPr dirty="0" spc="30"/>
              <a:t>your</a:t>
            </a:r>
            <a:r>
              <a:rPr dirty="0" spc="35"/>
              <a:t> </a:t>
            </a:r>
            <a:r>
              <a:rPr dirty="0" spc="150"/>
              <a:t>class</a:t>
            </a:r>
            <a:r>
              <a:rPr dirty="0" spc="40"/>
              <a:t> </a:t>
            </a:r>
            <a:r>
              <a:rPr dirty="0" spc="75"/>
              <a:t>notes</a:t>
            </a:r>
            <a:r>
              <a:rPr dirty="0" spc="35"/>
              <a:t> </a:t>
            </a:r>
            <a:r>
              <a:rPr dirty="0" spc="45"/>
              <a:t>for</a:t>
            </a:r>
            <a:r>
              <a:rPr dirty="0" spc="40"/>
              <a:t> </a:t>
            </a:r>
            <a:r>
              <a:rPr dirty="0" spc="50"/>
              <a:t>key</a:t>
            </a:r>
            <a:r>
              <a:rPr dirty="0" spc="35"/>
              <a:t> </a:t>
            </a:r>
            <a:r>
              <a:rPr dirty="0" spc="90"/>
              <a:t>insights</a:t>
            </a:r>
            <a:r>
              <a:rPr dirty="0" spc="40"/>
              <a:t> </a:t>
            </a:r>
            <a:r>
              <a:rPr dirty="0" spc="75"/>
              <a:t>and</a:t>
            </a:r>
            <a:r>
              <a:rPr dirty="0" spc="35"/>
              <a:t> </a:t>
            </a:r>
            <a:r>
              <a:rPr dirty="0" spc="90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15" b="1">
                <a:solidFill>
                  <a:srgbClr val="C2132D"/>
                </a:solidFill>
                <a:latin typeface="Trebuchet MS"/>
                <a:cs typeface="Trebuchet MS"/>
              </a:rPr>
              <a:t>Zoom </a:t>
            </a:r>
            <a:r>
              <a:rPr dirty="0" spc="-20" b="1">
                <a:solidFill>
                  <a:srgbClr val="C2132D"/>
                </a:solidFill>
                <a:latin typeface="Trebuchet MS"/>
                <a:cs typeface="Trebuchet MS"/>
              </a:rPr>
              <a:t>Recording</a:t>
            </a:r>
            <a:r>
              <a:rPr dirty="0" spc="-20"/>
              <a:t>: </a:t>
            </a:r>
            <a:r>
              <a:rPr dirty="0" spc="100"/>
              <a:t>The </a:t>
            </a:r>
            <a:r>
              <a:rPr dirty="0" spc="60"/>
              <a:t>recording </a:t>
            </a:r>
            <a:r>
              <a:rPr dirty="0" spc="75"/>
              <a:t>of </a:t>
            </a:r>
            <a:r>
              <a:rPr dirty="0" spc="45"/>
              <a:t>today's </a:t>
            </a:r>
            <a:r>
              <a:rPr dirty="0" spc="150"/>
              <a:t>class</a:t>
            </a:r>
            <a:r>
              <a:rPr dirty="0" spc="-275"/>
              <a:t> </a:t>
            </a:r>
            <a:r>
              <a:rPr dirty="0" spc="30"/>
              <a:t>will </a:t>
            </a:r>
            <a:r>
              <a:rPr dirty="0" spc="60"/>
              <a:t>be </a:t>
            </a:r>
            <a:r>
              <a:rPr dirty="0" spc="95"/>
              <a:t>made </a:t>
            </a:r>
            <a:r>
              <a:rPr dirty="0" spc="60"/>
              <a:t>available on </a:t>
            </a:r>
            <a:r>
              <a:rPr dirty="0" spc="125"/>
              <a:t>Canvas  </a:t>
            </a:r>
            <a:r>
              <a:rPr dirty="0" spc="55"/>
              <a:t>approximately </a:t>
            </a:r>
            <a:r>
              <a:rPr dirty="0" spc="45"/>
              <a:t>3-4 </a:t>
            </a:r>
            <a:r>
              <a:rPr dirty="0" spc="75"/>
              <a:t>hours </a:t>
            </a:r>
            <a:r>
              <a:rPr dirty="0" spc="40"/>
              <a:t>after </a:t>
            </a:r>
            <a:r>
              <a:rPr dirty="0" spc="30"/>
              <a:t>the </a:t>
            </a:r>
            <a:r>
              <a:rPr dirty="0" spc="55"/>
              <a:t>end </a:t>
            </a:r>
            <a:r>
              <a:rPr dirty="0" spc="75"/>
              <a:t>of</a:t>
            </a:r>
            <a:r>
              <a:rPr dirty="0" spc="-55"/>
              <a:t> </a:t>
            </a:r>
            <a:r>
              <a:rPr dirty="0" spc="130"/>
              <a:t>class.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15" b="1">
                <a:solidFill>
                  <a:srgbClr val="C2132D"/>
                </a:solidFill>
                <a:latin typeface="Trebuchet MS"/>
                <a:cs typeface="Trebuchet MS"/>
              </a:rPr>
              <a:t>Questions</a:t>
            </a:r>
            <a:r>
              <a:rPr dirty="0" spc="-15"/>
              <a:t>: </a:t>
            </a:r>
            <a:r>
              <a:rPr dirty="0" spc="114"/>
              <a:t>Please </a:t>
            </a:r>
            <a:r>
              <a:rPr dirty="0"/>
              <a:t>don't </a:t>
            </a:r>
            <a:r>
              <a:rPr dirty="0" spc="60"/>
              <a:t>hesitate </a:t>
            </a:r>
            <a:r>
              <a:rPr dirty="0" spc="20"/>
              <a:t>to </a:t>
            </a:r>
            <a:r>
              <a:rPr dirty="0" spc="145"/>
              <a:t>ask </a:t>
            </a:r>
            <a:r>
              <a:rPr dirty="0" spc="45"/>
              <a:t>for </a:t>
            </a:r>
            <a:r>
              <a:rPr dirty="0" spc="60"/>
              <a:t>clarification on </a:t>
            </a:r>
            <a:r>
              <a:rPr dirty="0" spc="65"/>
              <a:t>any </a:t>
            </a:r>
            <a:r>
              <a:rPr dirty="0" spc="85"/>
              <a:t>topics </a:t>
            </a:r>
            <a:r>
              <a:rPr dirty="0" spc="125"/>
              <a:t>discussed </a:t>
            </a:r>
            <a:r>
              <a:rPr dirty="0" spc="35"/>
              <a:t>in </a:t>
            </a:r>
            <a:r>
              <a:rPr dirty="0" spc="130"/>
              <a:t>class.</a:t>
            </a:r>
            <a:r>
              <a:rPr dirty="0" spc="-270"/>
              <a:t> </a:t>
            </a:r>
            <a:r>
              <a:rPr dirty="0" spc="20"/>
              <a:t>It's  </a:t>
            </a:r>
            <a:r>
              <a:rPr dirty="0" spc="75"/>
              <a:t>crucial </a:t>
            </a:r>
            <a:r>
              <a:rPr dirty="0" spc="35"/>
              <a:t>not </a:t>
            </a:r>
            <a:r>
              <a:rPr dirty="0" spc="20"/>
              <a:t>to let </a:t>
            </a:r>
            <a:r>
              <a:rPr dirty="0" spc="85"/>
              <a:t>questions</a:t>
            </a:r>
            <a:r>
              <a:rPr dirty="0" spc="20"/>
              <a:t> </a:t>
            </a:r>
            <a:r>
              <a:rPr dirty="0" spc="8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419: Data-Driven Security</dc:title>
  <dcterms:created xsi:type="dcterms:W3CDTF">2025-04-08T15:17:11Z</dcterms:created>
  <dcterms:modified xsi:type="dcterms:W3CDTF">2025-04-08T15:17:11Z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Mozilla/5.0 (Windows NT 10.0; Win64; x64) AppleWebKit/537.36 (KHTML, like Gecko) Chrome/135.0.0.0 Safari/537.36</vt:lpwstr>
  </property>
  <property fmtid="{D5CDD505-2E9C-101B-9397-08002B2CF9AE}" pid="4" name="LastSaved">
    <vt:filetime>2025-04-08T00:00:00Z</vt:filetime>
  </property>
</Properties>
</file>